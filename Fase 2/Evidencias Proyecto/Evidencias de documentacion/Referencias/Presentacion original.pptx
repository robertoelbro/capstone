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roxima Nova"/>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11" Type="http://schemas.openxmlformats.org/officeDocument/2006/relationships/slide" Target="slides/slide6.xml"/><Relationship Id="rId22" Type="http://schemas.openxmlformats.org/officeDocument/2006/relationships/font" Target="fonts/ProximaNova-italic.fntdata"/><Relationship Id="rId10" Type="http://schemas.openxmlformats.org/officeDocument/2006/relationships/slide" Target="slides/slide5.xml"/><Relationship Id="rId21" Type="http://schemas.openxmlformats.org/officeDocument/2006/relationships/font" Target="fonts/ProximaNova-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ProximaNova-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89cf9873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89cf9873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89cf9873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89cf9873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89cf9873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89cf9873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f89cf9873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f89cf9873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89cf9873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89cf9873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89cf9873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89cf9873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f89cf9873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f89cf9873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89ec9241a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89ec9241a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89cf9873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f89cf9873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89ec9241a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89ec9241a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89ec9241a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89ec9241a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89ec9241a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89ec9241a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89ec9241a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f89ec9241a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11700" y="591813"/>
            <a:ext cx="8520600" cy="79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BranchIt</a:t>
            </a:r>
            <a:endParaRPr/>
          </a:p>
        </p:txBody>
      </p:sp>
      <p:sp>
        <p:nvSpPr>
          <p:cNvPr id="60" name="Google Shape;60;p13"/>
          <p:cNvSpPr txBox="1"/>
          <p:nvPr>
            <p:ph idx="1" type="subTitle"/>
          </p:nvPr>
        </p:nvSpPr>
        <p:spPr>
          <a:xfrm>
            <a:off x="313200" y="3769175"/>
            <a:ext cx="1725000" cy="1198200"/>
          </a:xfrm>
          <a:prstGeom prst="rect">
            <a:avLst/>
          </a:prstGeom>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67833"/>
              <a:buNone/>
            </a:pPr>
            <a:r>
              <a:rPr lang="es" sz="1500"/>
              <a:t>Integrantes:</a:t>
            </a:r>
            <a:endParaRPr sz="1500"/>
          </a:p>
          <a:p>
            <a:pPr indent="-318507" lvl="0" marL="316800" rtl="0" algn="l">
              <a:lnSpc>
                <a:spcPct val="115000"/>
              </a:lnSpc>
              <a:spcBef>
                <a:spcPts val="0"/>
              </a:spcBef>
              <a:spcAft>
                <a:spcPts val="0"/>
              </a:spcAft>
              <a:buSzPct val="100000"/>
              <a:buChar char="●"/>
            </a:pPr>
            <a:r>
              <a:rPr lang="es" sz="1500"/>
              <a:t>Cristobal Lara</a:t>
            </a:r>
            <a:endParaRPr sz="1500"/>
          </a:p>
          <a:p>
            <a:pPr indent="-318507" lvl="0" marL="316800" rtl="0" algn="l">
              <a:lnSpc>
                <a:spcPct val="115000"/>
              </a:lnSpc>
              <a:spcBef>
                <a:spcPts val="0"/>
              </a:spcBef>
              <a:spcAft>
                <a:spcPts val="0"/>
              </a:spcAft>
              <a:buSzPct val="100000"/>
              <a:buChar char="●"/>
            </a:pPr>
            <a:r>
              <a:rPr lang="es" sz="1500"/>
              <a:t>Roberto Orrego</a:t>
            </a:r>
            <a:endParaRPr sz="1500"/>
          </a:p>
          <a:p>
            <a:pPr indent="-318507" lvl="0" marL="316800" rtl="0" algn="l">
              <a:lnSpc>
                <a:spcPct val="115000"/>
              </a:lnSpc>
              <a:spcBef>
                <a:spcPts val="0"/>
              </a:spcBef>
              <a:spcAft>
                <a:spcPts val="0"/>
              </a:spcAft>
              <a:buSzPct val="100000"/>
              <a:buChar char="●"/>
            </a:pPr>
            <a:r>
              <a:rPr lang="es" sz="1500"/>
              <a:t>Matías</a:t>
            </a:r>
            <a:r>
              <a:rPr lang="es" sz="1500"/>
              <a:t> Werner</a:t>
            </a:r>
            <a:endParaRPr sz="1500"/>
          </a:p>
        </p:txBody>
      </p:sp>
      <p:pic>
        <p:nvPicPr>
          <p:cNvPr id="61" name="Google Shape;61;p13" title="BranchIt Logo fondo negro.png"/>
          <p:cNvPicPr preferRelativeResize="0"/>
          <p:nvPr/>
        </p:nvPicPr>
        <p:blipFill>
          <a:blip r:embed="rId3">
            <a:alphaModFix/>
          </a:blip>
          <a:stretch>
            <a:fillRect/>
          </a:stretch>
        </p:blipFill>
        <p:spPr>
          <a:xfrm>
            <a:off x="3421450" y="1999275"/>
            <a:ext cx="1881300" cy="1881300"/>
          </a:xfrm>
          <a:prstGeom prst="ellipse">
            <a:avLst/>
          </a:prstGeom>
          <a:noFill/>
          <a:ln>
            <a:noFill/>
          </a:ln>
        </p:spPr>
      </p:pic>
      <p:sp>
        <p:nvSpPr>
          <p:cNvPr id="62" name="Google Shape;62;p13"/>
          <p:cNvSpPr txBox="1"/>
          <p:nvPr>
            <p:ph idx="1" type="subTitle"/>
          </p:nvPr>
        </p:nvSpPr>
        <p:spPr>
          <a:xfrm>
            <a:off x="6686000" y="3769175"/>
            <a:ext cx="1725000" cy="13155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350"/>
              <a:t>Docente:</a:t>
            </a:r>
            <a:endParaRPr sz="1350"/>
          </a:p>
          <a:p>
            <a:pPr indent="-316126" lvl="0" marL="316800" rtl="0" algn="l">
              <a:lnSpc>
                <a:spcPct val="115000"/>
              </a:lnSpc>
              <a:spcBef>
                <a:spcPts val="0"/>
              </a:spcBef>
              <a:spcAft>
                <a:spcPts val="0"/>
              </a:spcAft>
              <a:buSzPts val="1350"/>
              <a:buChar char="●"/>
            </a:pPr>
            <a:r>
              <a:rPr lang="es" sz="1350"/>
              <a:t>Aldo Martínez</a:t>
            </a:r>
            <a:endParaRPr sz="1350"/>
          </a:p>
          <a:p>
            <a:pPr indent="0" lvl="0" marL="0" rtl="0" algn="l">
              <a:lnSpc>
                <a:spcPct val="115000"/>
              </a:lnSpc>
              <a:spcBef>
                <a:spcPts val="0"/>
              </a:spcBef>
              <a:spcAft>
                <a:spcPts val="0"/>
              </a:spcAft>
              <a:buNone/>
            </a:pPr>
            <a:r>
              <a:rPr lang="es" sz="1350"/>
              <a:t>Asignatura:</a:t>
            </a:r>
            <a:endParaRPr sz="1350"/>
          </a:p>
          <a:p>
            <a:pPr indent="-316126" lvl="0" marL="316800" rtl="0" algn="l">
              <a:lnSpc>
                <a:spcPct val="115000"/>
              </a:lnSpc>
              <a:spcBef>
                <a:spcPts val="0"/>
              </a:spcBef>
              <a:spcAft>
                <a:spcPts val="0"/>
              </a:spcAft>
              <a:buSzPts val="1350"/>
              <a:buChar char="●"/>
            </a:pPr>
            <a:r>
              <a:rPr lang="es" sz="1350"/>
              <a:t>Capstone 800D</a:t>
            </a:r>
            <a:endParaRPr sz="135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Índice</a:t>
            </a:r>
            <a:endParaRPr/>
          </a:p>
        </p:txBody>
      </p:sp>
      <p:sp>
        <p:nvSpPr>
          <p:cNvPr id="68" name="Google Shape;68;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rgbClr val="434343"/>
              </a:buClr>
              <a:buSzPts val="1800"/>
              <a:buChar char="●"/>
            </a:pPr>
            <a:r>
              <a:rPr lang="es">
                <a:solidFill>
                  <a:srgbClr val="434343"/>
                </a:solidFill>
              </a:rPr>
              <a:t>Problemática</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Links</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Solución propuesta</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Público objetivo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chemeClr val="dk1"/>
                </a:solidFill>
              </a:rPr>
              <a:t>Competencias e intereses dentro del proyecto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Metodología de desarrollo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Sprints</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Mapa Tecnológico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Riesgos</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Modelo de negocio</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Mockup</a:t>
            </a:r>
            <a:endParaRPr>
              <a:solidFill>
                <a:srgbClr val="434343"/>
              </a:solidFill>
            </a:endParaRPr>
          </a:p>
          <a:p>
            <a:pPr indent="-342900" lvl="0" marL="457200" rtl="0" algn="l">
              <a:lnSpc>
                <a:spcPct val="100000"/>
              </a:lnSpc>
              <a:spcBef>
                <a:spcPts val="0"/>
              </a:spcBef>
              <a:spcAft>
                <a:spcPts val="0"/>
              </a:spcAft>
              <a:buClr>
                <a:srgbClr val="434343"/>
              </a:buClr>
              <a:buSzPts val="1800"/>
              <a:buChar char="●"/>
            </a:pPr>
            <a:r>
              <a:rPr lang="es">
                <a:solidFill>
                  <a:srgbClr val="434343"/>
                </a:solidFill>
              </a:rPr>
              <a:t>Conclusión</a:t>
            </a:r>
            <a:endParaRPr sz="2800">
              <a:solidFill>
                <a:schemeClr val="dk1"/>
              </a:solidFill>
            </a:endParaRPr>
          </a:p>
        </p:txBody>
      </p:sp>
      <p:pic>
        <p:nvPicPr>
          <p:cNvPr id="69" name="Google Shape;69;p14"/>
          <p:cNvPicPr preferRelativeResize="0"/>
          <p:nvPr/>
        </p:nvPicPr>
        <p:blipFill>
          <a:blip r:embed="rId3">
            <a:alphaModFix/>
          </a:blip>
          <a:stretch>
            <a:fillRect/>
          </a:stretch>
        </p:blipFill>
        <p:spPr>
          <a:xfrm>
            <a:off x="0" y="-3"/>
            <a:ext cx="1789064" cy="445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Problemática</a:t>
            </a:r>
            <a:endParaRPr/>
          </a:p>
        </p:txBody>
      </p:sp>
      <p:sp>
        <p:nvSpPr>
          <p:cNvPr id="75" name="Google Shape;75;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Durante muchos años los </a:t>
            </a:r>
            <a:r>
              <a:rPr lang="es"/>
              <a:t>recién</a:t>
            </a:r>
            <a:r>
              <a:rPr lang="es"/>
              <a:t> egresados de carreras </a:t>
            </a:r>
            <a:r>
              <a:rPr lang="es"/>
              <a:t>universitarias, técnico</a:t>
            </a:r>
            <a:r>
              <a:rPr lang="es"/>
              <a:t> profesionales, doctorados, etc. Han tenido que enfrentarse a un mismo problema, encontrar trabajo en su rubro, y plataformas como LinkedIn ya </a:t>
            </a:r>
            <a:r>
              <a:rPr lang="es"/>
              <a:t>están</a:t>
            </a:r>
            <a:r>
              <a:rPr lang="es"/>
              <a:t> muy pobladas con profesionales con mucha experiencia.</a:t>
            </a:r>
            <a:endParaRPr/>
          </a:p>
        </p:txBody>
      </p:sp>
      <p:pic>
        <p:nvPicPr>
          <p:cNvPr id="76" name="Google Shape;76;p15"/>
          <p:cNvPicPr preferRelativeResize="0"/>
          <p:nvPr/>
        </p:nvPicPr>
        <p:blipFill>
          <a:blip r:embed="rId3">
            <a:alphaModFix/>
          </a:blip>
          <a:stretch>
            <a:fillRect/>
          </a:stretch>
        </p:blipFill>
        <p:spPr>
          <a:xfrm>
            <a:off x="0" y="-3"/>
            <a:ext cx="1789064" cy="445025"/>
          </a:xfrm>
          <a:prstGeom prst="rect">
            <a:avLst/>
          </a:prstGeom>
          <a:noFill/>
          <a:ln>
            <a:noFill/>
          </a:ln>
        </p:spPr>
      </p:pic>
      <p:pic>
        <p:nvPicPr>
          <p:cNvPr id="77" name="Google Shape;77;p15"/>
          <p:cNvPicPr preferRelativeResize="0"/>
          <p:nvPr/>
        </p:nvPicPr>
        <p:blipFill>
          <a:blip r:embed="rId4">
            <a:alphaModFix/>
          </a:blip>
          <a:stretch>
            <a:fillRect/>
          </a:stretch>
        </p:blipFill>
        <p:spPr>
          <a:xfrm>
            <a:off x="157175" y="2571750"/>
            <a:ext cx="3105724" cy="1322541"/>
          </a:xfrm>
          <a:prstGeom prst="rect">
            <a:avLst/>
          </a:prstGeom>
          <a:noFill/>
          <a:ln>
            <a:noFill/>
          </a:ln>
        </p:spPr>
      </p:pic>
      <p:pic>
        <p:nvPicPr>
          <p:cNvPr id="78" name="Google Shape;78;p15"/>
          <p:cNvPicPr preferRelativeResize="0"/>
          <p:nvPr/>
        </p:nvPicPr>
        <p:blipFill>
          <a:blip r:embed="rId5">
            <a:alphaModFix/>
          </a:blip>
          <a:stretch>
            <a:fillRect/>
          </a:stretch>
        </p:blipFill>
        <p:spPr>
          <a:xfrm>
            <a:off x="6140065" y="2799863"/>
            <a:ext cx="2309176" cy="1667474"/>
          </a:xfrm>
          <a:prstGeom prst="rect">
            <a:avLst/>
          </a:prstGeom>
          <a:noFill/>
          <a:ln>
            <a:noFill/>
          </a:ln>
        </p:spPr>
      </p:pic>
      <p:pic>
        <p:nvPicPr>
          <p:cNvPr id="79" name="Google Shape;79;p15"/>
          <p:cNvPicPr preferRelativeResize="0"/>
          <p:nvPr/>
        </p:nvPicPr>
        <p:blipFill>
          <a:blip r:embed="rId6">
            <a:alphaModFix/>
          </a:blip>
          <a:stretch>
            <a:fillRect/>
          </a:stretch>
        </p:blipFill>
        <p:spPr>
          <a:xfrm>
            <a:off x="1820800" y="3929375"/>
            <a:ext cx="4279074" cy="105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Links</a:t>
            </a:r>
            <a:endParaRPr/>
          </a:p>
        </p:txBody>
      </p:sp>
      <p:sp>
        <p:nvSpPr>
          <p:cNvPr id="85" name="Google Shape;85;p16"/>
          <p:cNvSpPr txBox="1"/>
          <p:nvPr>
            <p:ph idx="1" type="body"/>
          </p:nvPr>
        </p:nvSpPr>
        <p:spPr>
          <a:xfrm>
            <a:off x="311700" y="1152475"/>
            <a:ext cx="25803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100"/>
              <a:t>DiarioUSACH</a:t>
            </a:r>
            <a:endParaRPr sz="1100"/>
          </a:p>
        </p:txBody>
      </p:sp>
      <p:pic>
        <p:nvPicPr>
          <p:cNvPr id="86" name="Google Shape;86;p16"/>
          <p:cNvPicPr preferRelativeResize="0"/>
          <p:nvPr/>
        </p:nvPicPr>
        <p:blipFill>
          <a:blip r:embed="rId3">
            <a:alphaModFix/>
          </a:blip>
          <a:stretch>
            <a:fillRect/>
          </a:stretch>
        </p:blipFill>
        <p:spPr>
          <a:xfrm>
            <a:off x="0" y="-3"/>
            <a:ext cx="1789064" cy="445025"/>
          </a:xfrm>
          <a:prstGeom prst="rect">
            <a:avLst/>
          </a:prstGeom>
          <a:noFill/>
          <a:ln>
            <a:noFill/>
          </a:ln>
        </p:spPr>
      </p:pic>
      <p:pic>
        <p:nvPicPr>
          <p:cNvPr id="87" name="Google Shape;87;p16"/>
          <p:cNvPicPr preferRelativeResize="0"/>
          <p:nvPr/>
        </p:nvPicPr>
        <p:blipFill>
          <a:blip r:embed="rId4">
            <a:alphaModFix/>
          </a:blip>
          <a:stretch>
            <a:fillRect/>
          </a:stretch>
        </p:blipFill>
        <p:spPr>
          <a:xfrm>
            <a:off x="635275" y="1863575"/>
            <a:ext cx="1988925" cy="1994200"/>
          </a:xfrm>
          <a:prstGeom prst="rect">
            <a:avLst/>
          </a:prstGeom>
          <a:noFill/>
          <a:ln>
            <a:noFill/>
          </a:ln>
        </p:spPr>
      </p:pic>
      <p:pic>
        <p:nvPicPr>
          <p:cNvPr id="88" name="Google Shape;88;p16"/>
          <p:cNvPicPr preferRelativeResize="0"/>
          <p:nvPr/>
        </p:nvPicPr>
        <p:blipFill>
          <a:blip r:embed="rId5">
            <a:alphaModFix/>
          </a:blip>
          <a:stretch>
            <a:fillRect/>
          </a:stretch>
        </p:blipFill>
        <p:spPr>
          <a:xfrm>
            <a:off x="3208050" y="1785813"/>
            <a:ext cx="2149700" cy="2149700"/>
          </a:xfrm>
          <a:prstGeom prst="rect">
            <a:avLst/>
          </a:prstGeom>
          <a:noFill/>
          <a:ln>
            <a:noFill/>
          </a:ln>
        </p:spPr>
      </p:pic>
      <p:sp>
        <p:nvSpPr>
          <p:cNvPr id="89" name="Google Shape;89;p16"/>
          <p:cNvSpPr txBox="1"/>
          <p:nvPr/>
        </p:nvSpPr>
        <p:spPr>
          <a:xfrm>
            <a:off x="3137425" y="1109025"/>
            <a:ext cx="2409900" cy="6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1"/>
                </a:solidFill>
              </a:rPr>
              <a:t>ElObservaTodo</a:t>
            </a:r>
            <a:endParaRPr sz="1100">
              <a:solidFill>
                <a:schemeClr val="dk1"/>
              </a:solidFill>
            </a:endParaRPr>
          </a:p>
        </p:txBody>
      </p:sp>
      <p:pic>
        <p:nvPicPr>
          <p:cNvPr id="90" name="Google Shape;90;p16"/>
          <p:cNvPicPr preferRelativeResize="0"/>
          <p:nvPr/>
        </p:nvPicPr>
        <p:blipFill>
          <a:blip r:embed="rId6">
            <a:alphaModFix/>
          </a:blip>
          <a:stretch>
            <a:fillRect/>
          </a:stretch>
        </p:blipFill>
        <p:spPr>
          <a:xfrm>
            <a:off x="5941600" y="1777300"/>
            <a:ext cx="2149700" cy="2166750"/>
          </a:xfrm>
          <a:prstGeom prst="rect">
            <a:avLst/>
          </a:prstGeom>
          <a:noFill/>
          <a:ln>
            <a:noFill/>
          </a:ln>
        </p:spPr>
      </p:pic>
      <p:sp>
        <p:nvSpPr>
          <p:cNvPr id="91" name="Google Shape;91;p16"/>
          <p:cNvSpPr txBox="1"/>
          <p:nvPr/>
        </p:nvSpPr>
        <p:spPr>
          <a:xfrm>
            <a:off x="5692425" y="897050"/>
            <a:ext cx="2409900" cy="72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100">
                <a:solidFill>
                  <a:schemeClr val="dk1"/>
                </a:solidFill>
              </a:rPr>
              <a:t>Enfoque Laboral N°57</a:t>
            </a:r>
            <a:endParaRPr sz="1100">
              <a:solidFill>
                <a:schemeClr val="dk1"/>
              </a:solidFill>
            </a:endParaRPr>
          </a:p>
          <a:p>
            <a:pPr indent="0" lvl="0" marL="0" rtl="0" algn="l">
              <a:spcBef>
                <a:spcPts val="0"/>
              </a:spcBef>
              <a:spcAft>
                <a:spcPts val="0"/>
              </a:spcAft>
              <a:buNone/>
            </a:pPr>
            <a:r>
              <a:rPr lang="es" sz="1100">
                <a:solidFill>
                  <a:schemeClr val="dk1"/>
                </a:solidFill>
              </a:rPr>
              <a:t>OCECUDP</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Solución</a:t>
            </a:r>
            <a:r>
              <a:rPr lang="es"/>
              <a:t> propuesta</a:t>
            </a:r>
            <a:endParaRPr/>
          </a:p>
        </p:txBody>
      </p:sp>
      <p:sp>
        <p:nvSpPr>
          <p:cNvPr id="97" name="Google Shape;97;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Debido a aquel problema nosotros como el equipo desarrollador de </a:t>
            </a:r>
            <a:r>
              <a:rPr b="1" lang="es"/>
              <a:t>BranchIt</a:t>
            </a:r>
            <a:r>
              <a:rPr lang="es"/>
              <a:t> pensamos en una plataforma similar a LinkedIn, pero con el </a:t>
            </a:r>
            <a:r>
              <a:rPr lang="es"/>
              <a:t>objetivo</a:t>
            </a:r>
            <a:r>
              <a:rPr lang="es"/>
              <a:t> de enfocarnos únicamente en las personas sin experiencia o </a:t>
            </a:r>
            <a:r>
              <a:rPr lang="es"/>
              <a:t>recién</a:t>
            </a:r>
            <a:r>
              <a:rPr lang="es"/>
              <a:t> egresadas para que puedan conseguir trabajo, y apoyarlos utilizando IA para entregarles consejos y recomendaciones que los ayuden a conseguir dicho trabajo.</a:t>
            </a:r>
            <a:endParaRPr/>
          </a:p>
        </p:txBody>
      </p:sp>
      <p:pic>
        <p:nvPicPr>
          <p:cNvPr id="98" name="Google Shape;98;p17"/>
          <p:cNvPicPr preferRelativeResize="0"/>
          <p:nvPr/>
        </p:nvPicPr>
        <p:blipFill>
          <a:blip r:embed="rId3">
            <a:alphaModFix/>
          </a:blip>
          <a:stretch>
            <a:fillRect/>
          </a:stretch>
        </p:blipFill>
        <p:spPr>
          <a:xfrm>
            <a:off x="0" y="-3"/>
            <a:ext cx="1789064" cy="445025"/>
          </a:xfrm>
          <a:prstGeom prst="rect">
            <a:avLst/>
          </a:prstGeom>
          <a:noFill/>
          <a:ln>
            <a:noFill/>
          </a:ln>
        </p:spPr>
      </p:pic>
      <p:pic>
        <p:nvPicPr>
          <p:cNvPr id="99" name="Google Shape;99;p17"/>
          <p:cNvPicPr preferRelativeResize="0"/>
          <p:nvPr/>
        </p:nvPicPr>
        <p:blipFill>
          <a:blip r:embed="rId4">
            <a:alphaModFix/>
          </a:blip>
          <a:stretch>
            <a:fillRect/>
          </a:stretch>
        </p:blipFill>
        <p:spPr>
          <a:xfrm>
            <a:off x="3683475" y="2821275"/>
            <a:ext cx="2133600" cy="2133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Público</a:t>
            </a:r>
            <a:r>
              <a:rPr lang="es"/>
              <a:t> Objetivo</a:t>
            </a:r>
            <a:endParaRPr/>
          </a:p>
        </p:txBody>
      </p:sp>
      <p:sp>
        <p:nvSpPr>
          <p:cNvPr id="105" name="Google Shape;105;p18"/>
          <p:cNvSpPr txBox="1"/>
          <p:nvPr>
            <p:ph idx="1" type="body"/>
          </p:nvPr>
        </p:nvSpPr>
        <p:spPr>
          <a:xfrm>
            <a:off x="311700" y="1159833"/>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a:t>
            </a:r>
            <a:r>
              <a:rPr lang="es"/>
              <a:t>público</a:t>
            </a:r>
            <a:r>
              <a:rPr lang="es"/>
              <a:t> objetivo que tiene la iniciativa </a:t>
            </a:r>
            <a:r>
              <a:rPr b="1" lang="es"/>
              <a:t>BranchIt</a:t>
            </a:r>
            <a:r>
              <a:rPr lang="es"/>
              <a:t> son </a:t>
            </a:r>
            <a:r>
              <a:rPr lang="es"/>
              <a:t>recién</a:t>
            </a:r>
            <a:r>
              <a:rPr lang="es"/>
              <a:t> </a:t>
            </a:r>
            <a:r>
              <a:rPr b="1" lang="es"/>
              <a:t>egresados de todo tipos de carreras en Chile, ya sean t</a:t>
            </a:r>
            <a:r>
              <a:rPr b="1" lang="es"/>
              <a:t>écnicos</a:t>
            </a:r>
            <a:r>
              <a:rPr b="1" lang="es"/>
              <a:t>, profesionales o personas sin experiencia</a:t>
            </a:r>
            <a:r>
              <a:rPr lang="es"/>
              <a:t>, junto a las </a:t>
            </a:r>
            <a:r>
              <a:rPr b="1" lang="es"/>
              <a:t>empresas que busquen este tipo de personal</a:t>
            </a:r>
            <a:r>
              <a:rPr lang="es"/>
              <a:t>. T</a:t>
            </a:r>
            <a:r>
              <a:rPr lang="es"/>
              <a:t>ambién</a:t>
            </a:r>
            <a:r>
              <a:rPr lang="es"/>
              <a:t> </a:t>
            </a:r>
            <a:r>
              <a:rPr lang="es"/>
              <a:t>está</a:t>
            </a:r>
            <a:r>
              <a:rPr lang="es"/>
              <a:t> provisto que </a:t>
            </a:r>
            <a:r>
              <a:rPr b="1" lang="es"/>
              <a:t>instituciones educativas</a:t>
            </a:r>
            <a:r>
              <a:rPr lang="es"/>
              <a:t> formen parte del </a:t>
            </a:r>
            <a:r>
              <a:rPr lang="es"/>
              <a:t>público,</a:t>
            </a:r>
            <a:r>
              <a:rPr lang="es"/>
              <a:t> ya que la IA </a:t>
            </a:r>
            <a:r>
              <a:rPr lang="es"/>
              <a:t>derivaría</a:t>
            </a:r>
            <a:r>
              <a:rPr lang="es"/>
              <a:t> a los egresados a conseguir estudiantes para certificaciones, cursos, incluso continuidades de carrera.</a:t>
            </a:r>
            <a:endParaRPr/>
          </a:p>
        </p:txBody>
      </p:sp>
      <p:pic>
        <p:nvPicPr>
          <p:cNvPr id="106" name="Google Shape;106;p18"/>
          <p:cNvPicPr preferRelativeResize="0"/>
          <p:nvPr/>
        </p:nvPicPr>
        <p:blipFill>
          <a:blip r:embed="rId3">
            <a:alphaModFix/>
          </a:blip>
          <a:stretch>
            <a:fillRect/>
          </a:stretch>
        </p:blipFill>
        <p:spPr>
          <a:xfrm>
            <a:off x="0" y="-3"/>
            <a:ext cx="1789064" cy="445025"/>
          </a:xfrm>
          <a:prstGeom prst="rect">
            <a:avLst/>
          </a:prstGeom>
          <a:noFill/>
          <a:ln>
            <a:noFill/>
          </a:ln>
        </p:spPr>
      </p:pic>
      <p:pic>
        <p:nvPicPr>
          <p:cNvPr id="107" name="Google Shape;107;p18"/>
          <p:cNvPicPr preferRelativeResize="0"/>
          <p:nvPr/>
        </p:nvPicPr>
        <p:blipFill>
          <a:blip r:embed="rId4">
            <a:alphaModFix/>
          </a:blip>
          <a:stretch>
            <a:fillRect/>
          </a:stretch>
        </p:blipFill>
        <p:spPr>
          <a:xfrm>
            <a:off x="3423263" y="3257975"/>
            <a:ext cx="2297475" cy="1577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Competencias e intereses dentro del proyecto</a:t>
            </a:r>
            <a:endParaRPr/>
          </a:p>
        </p:txBody>
      </p:sp>
      <p:sp>
        <p:nvSpPr>
          <p:cNvPr id="113" name="Google Shape;113;p19"/>
          <p:cNvSpPr txBox="1"/>
          <p:nvPr>
            <p:ph idx="1" type="body"/>
          </p:nvPr>
        </p:nvSpPr>
        <p:spPr>
          <a:xfrm>
            <a:off x="201325" y="1159825"/>
            <a:ext cx="3264600" cy="38586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1200"/>
              </a:spcAft>
              <a:buNone/>
            </a:pPr>
            <a:r>
              <a:rPr lang="es">
                <a:solidFill>
                  <a:schemeClr val="accent2"/>
                </a:solidFill>
              </a:rPr>
              <a:t>Las principales competencias desarrolladas con </a:t>
            </a:r>
            <a:r>
              <a:rPr b="1" lang="es">
                <a:solidFill>
                  <a:schemeClr val="accent2"/>
                </a:solidFill>
              </a:rPr>
              <a:t>BranchIT</a:t>
            </a:r>
            <a:r>
              <a:rPr lang="es">
                <a:solidFill>
                  <a:schemeClr val="accent2"/>
                </a:solidFill>
              </a:rPr>
              <a:t> son el </a:t>
            </a:r>
            <a:r>
              <a:rPr b="1" lang="es">
                <a:solidFill>
                  <a:schemeClr val="accent2"/>
                </a:solidFill>
              </a:rPr>
              <a:t>desarrollo de software</a:t>
            </a:r>
            <a:r>
              <a:rPr lang="es">
                <a:solidFill>
                  <a:schemeClr val="accent2"/>
                </a:solidFill>
              </a:rPr>
              <a:t>, la </a:t>
            </a:r>
            <a:r>
              <a:rPr b="1" lang="es">
                <a:solidFill>
                  <a:schemeClr val="accent2"/>
                </a:solidFill>
              </a:rPr>
              <a:t>programación</a:t>
            </a:r>
            <a:r>
              <a:rPr lang="es">
                <a:solidFill>
                  <a:schemeClr val="accent2"/>
                </a:solidFill>
              </a:rPr>
              <a:t>, el </a:t>
            </a:r>
            <a:r>
              <a:rPr b="1" lang="es">
                <a:solidFill>
                  <a:schemeClr val="accent2"/>
                </a:solidFill>
              </a:rPr>
              <a:t>diseño y gestión de bases de datos</a:t>
            </a:r>
            <a:r>
              <a:rPr lang="es">
                <a:solidFill>
                  <a:schemeClr val="accent2"/>
                </a:solidFill>
              </a:rPr>
              <a:t>, la </a:t>
            </a:r>
            <a:r>
              <a:rPr b="1" lang="es">
                <a:solidFill>
                  <a:schemeClr val="accent2"/>
                </a:solidFill>
              </a:rPr>
              <a:t>arquitectura de soluciones</a:t>
            </a:r>
            <a:r>
              <a:rPr lang="es">
                <a:solidFill>
                  <a:schemeClr val="accent2"/>
                </a:solidFill>
              </a:rPr>
              <a:t>, la </a:t>
            </a:r>
            <a:r>
              <a:rPr b="1" lang="es">
                <a:solidFill>
                  <a:schemeClr val="accent2"/>
                </a:solidFill>
              </a:rPr>
              <a:t>gestión de proyectos informáticos</a:t>
            </a:r>
            <a:r>
              <a:rPr lang="es">
                <a:solidFill>
                  <a:schemeClr val="accent2"/>
                </a:solidFill>
              </a:rPr>
              <a:t> y la </a:t>
            </a:r>
            <a:r>
              <a:rPr b="1" lang="es">
                <a:solidFill>
                  <a:schemeClr val="accent2"/>
                </a:solidFill>
              </a:rPr>
              <a:t>integración de inteligencia artificial</a:t>
            </a:r>
            <a:r>
              <a:rPr lang="es">
                <a:solidFill>
                  <a:schemeClr val="accent2"/>
                </a:solidFill>
              </a:rPr>
              <a:t>. Estas competencias permiten construir una plataforma web funcional, organizada y orientada a facilitar la inserción laboral de personas recién egresadas. </a:t>
            </a:r>
            <a:endParaRPr sz="2500">
              <a:solidFill>
                <a:schemeClr val="accent2"/>
              </a:solidFill>
            </a:endParaRPr>
          </a:p>
        </p:txBody>
      </p:sp>
      <p:pic>
        <p:nvPicPr>
          <p:cNvPr id="114" name="Google Shape;114;p19"/>
          <p:cNvPicPr preferRelativeResize="0"/>
          <p:nvPr/>
        </p:nvPicPr>
        <p:blipFill>
          <a:blip r:embed="rId3">
            <a:alphaModFix/>
          </a:blip>
          <a:stretch>
            <a:fillRect/>
          </a:stretch>
        </p:blipFill>
        <p:spPr>
          <a:xfrm>
            <a:off x="0" y="-3"/>
            <a:ext cx="1789064" cy="445025"/>
          </a:xfrm>
          <a:prstGeom prst="rect">
            <a:avLst/>
          </a:prstGeom>
          <a:noFill/>
          <a:ln>
            <a:noFill/>
          </a:ln>
        </p:spPr>
      </p:pic>
      <p:pic>
        <p:nvPicPr>
          <p:cNvPr id="115" name="Google Shape;115;p19"/>
          <p:cNvPicPr preferRelativeResize="0"/>
          <p:nvPr/>
        </p:nvPicPr>
        <p:blipFill>
          <a:blip r:embed="rId4">
            <a:alphaModFix/>
          </a:blip>
          <a:stretch>
            <a:fillRect/>
          </a:stretch>
        </p:blipFill>
        <p:spPr>
          <a:xfrm>
            <a:off x="3616891" y="1630063"/>
            <a:ext cx="1910227" cy="1883374"/>
          </a:xfrm>
          <a:prstGeom prst="rect">
            <a:avLst/>
          </a:prstGeom>
          <a:noFill/>
          <a:ln>
            <a:noFill/>
          </a:ln>
        </p:spPr>
      </p:pic>
      <p:sp>
        <p:nvSpPr>
          <p:cNvPr id="116" name="Google Shape;116;p19"/>
          <p:cNvSpPr txBox="1"/>
          <p:nvPr>
            <p:ph idx="1" type="body"/>
          </p:nvPr>
        </p:nvSpPr>
        <p:spPr>
          <a:xfrm>
            <a:off x="5678100" y="1159825"/>
            <a:ext cx="3327600" cy="38586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1200"/>
              </a:spcAft>
              <a:buNone/>
            </a:pPr>
            <a:r>
              <a:rPr lang="es">
                <a:solidFill>
                  <a:schemeClr val="accent2"/>
                </a:solidFill>
              </a:rPr>
              <a:t>Nuestro principal interés por desarrollar este proyecto nace de ser parte del público objetivo del mismo, viendo tanto como nosotros como otros estudiantes sufrimos de las dificultades del mercado laboral actual junto con evidenciar que las plataformas de software online tampoco son de mucha ayuda cuando estas brindan espacio también a públicos experimentados que pueden presentar un mayor éxito en su búsqueda por la naturaleza del tiempo dentro del mercado</a:t>
            </a:r>
            <a:r>
              <a:rPr lang="es">
                <a:solidFill>
                  <a:schemeClr val="accent2"/>
                </a:solidFill>
              </a:rPr>
              <a:t>.</a:t>
            </a:r>
            <a:endParaRPr sz="2500">
              <a:solidFill>
                <a:schemeClr val="accent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Metodología</a:t>
            </a:r>
            <a:r>
              <a:rPr lang="es"/>
              <a:t> de desarrollo</a:t>
            </a:r>
            <a:endParaRPr/>
          </a:p>
        </p:txBody>
      </p:sp>
      <p:sp>
        <p:nvSpPr>
          <p:cNvPr id="122" name="Google Shape;122;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 </a:t>
            </a:r>
            <a:r>
              <a:rPr b="1" lang="es"/>
              <a:t>metodología</a:t>
            </a:r>
            <a:r>
              <a:rPr b="1" lang="es"/>
              <a:t> </a:t>
            </a:r>
            <a:r>
              <a:rPr lang="es"/>
              <a:t>que elegimos como equipo es </a:t>
            </a:r>
            <a:r>
              <a:rPr b="1" lang="es"/>
              <a:t>ágil</a:t>
            </a:r>
            <a:r>
              <a:rPr b="1" lang="es"/>
              <a:t> </a:t>
            </a:r>
            <a:r>
              <a:rPr lang="es"/>
              <a:t>específicamente</a:t>
            </a:r>
            <a:r>
              <a:rPr lang="es"/>
              <a:t> una enfocada en </a:t>
            </a:r>
            <a:r>
              <a:rPr b="1" lang="es"/>
              <a:t>S</a:t>
            </a:r>
            <a:r>
              <a:rPr b="1" lang="es"/>
              <a:t>crum</a:t>
            </a:r>
            <a:r>
              <a:rPr lang="es"/>
              <a:t>, para dividir el trabajo en roles y </a:t>
            </a:r>
            <a:r>
              <a:rPr b="1" lang="es"/>
              <a:t>Sprints</a:t>
            </a:r>
            <a:br>
              <a:rPr b="1" lang="es"/>
            </a:br>
            <a:endParaRPr b="1"/>
          </a:p>
          <a:p>
            <a:pPr indent="0" lvl="0" marL="0" rtl="0" algn="l">
              <a:spcBef>
                <a:spcPts val="1200"/>
              </a:spcBef>
              <a:spcAft>
                <a:spcPts val="0"/>
              </a:spcAft>
              <a:buNone/>
            </a:pPr>
            <a:r>
              <a:rPr lang="es"/>
              <a:t>Roles:</a:t>
            </a:r>
            <a:endParaRPr/>
          </a:p>
          <a:p>
            <a:pPr indent="0" lvl="0" marL="0" rtl="0" algn="l">
              <a:spcBef>
                <a:spcPts val="1200"/>
              </a:spcBef>
              <a:spcAft>
                <a:spcPts val="0"/>
              </a:spcAft>
              <a:buNone/>
            </a:pPr>
            <a:r>
              <a:rPr lang="es"/>
              <a:t>Roberto Orrego: Desarrollo/ Scrum Master</a:t>
            </a:r>
            <a:endParaRPr/>
          </a:p>
          <a:p>
            <a:pPr indent="0" lvl="0" marL="0" rtl="0" algn="l">
              <a:spcBef>
                <a:spcPts val="1200"/>
              </a:spcBef>
              <a:spcAft>
                <a:spcPts val="0"/>
              </a:spcAft>
              <a:buNone/>
            </a:pPr>
            <a:r>
              <a:rPr lang="es"/>
              <a:t>Cristobal Lara: Desarrollador/ Ciberseguridad</a:t>
            </a:r>
            <a:endParaRPr/>
          </a:p>
          <a:p>
            <a:pPr indent="0" lvl="0" marL="0" rtl="0" algn="l">
              <a:spcBef>
                <a:spcPts val="1200"/>
              </a:spcBef>
              <a:spcAft>
                <a:spcPts val="1200"/>
              </a:spcAft>
              <a:buNone/>
            </a:pPr>
            <a:r>
              <a:rPr lang="es"/>
              <a:t>Matias Werner: Desarrollador/ </a:t>
            </a:r>
            <a:r>
              <a:rPr lang="es"/>
              <a:t>Módulo</a:t>
            </a:r>
            <a:r>
              <a:rPr lang="es"/>
              <a:t> IA</a:t>
            </a:r>
            <a:endParaRPr/>
          </a:p>
        </p:txBody>
      </p:sp>
      <p:pic>
        <p:nvPicPr>
          <p:cNvPr id="123" name="Google Shape;123;p20"/>
          <p:cNvPicPr preferRelativeResize="0"/>
          <p:nvPr/>
        </p:nvPicPr>
        <p:blipFill>
          <a:blip r:embed="rId3">
            <a:alphaModFix/>
          </a:blip>
          <a:stretch>
            <a:fillRect/>
          </a:stretch>
        </p:blipFill>
        <p:spPr>
          <a:xfrm>
            <a:off x="0" y="-3"/>
            <a:ext cx="1789064" cy="445025"/>
          </a:xfrm>
          <a:prstGeom prst="rect">
            <a:avLst/>
          </a:prstGeom>
          <a:noFill/>
          <a:ln>
            <a:noFill/>
          </a:ln>
        </p:spPr>
      </p:pic>
      <p:pic>
        <p:nvPicPr>
          <p:cNvPr id="124" name="Google Shape;124;p20"/>
          <p:cNvPicPr preferRelativeResize="0"/>
          <p:nvPr/>
        </p:nvPicPr>
        <p:blipFill>
          <a:blip r:embed="rId4">
            <a:alphaModFix/>
          </a:blip>
          <a:stretch>
            <a:fillRect/>
          </a:stretch>
        </p:blipFill>
        <p:spPr>
          <a:xfrm>
            <a:off x="5228525" y="2166375"/>
            <a:ext cx="3603776" cy="2402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Sprints</a:t>
            </a:r>
            <a:endParaRPr/>
          </a:p>
        </p:txBody>
      </p:sp>
      <p:sp>
        <p:nvSpPr>
          <p:cNvPr id="130" name="Google Shape;130;p21"/>
          <p:cNvSpPr txBox="1"/>
          <p:nvPr>
            <p:ph idx="1" type="body"/>
          </p:nvPr>
        </p:nvSpPr>
        <p:spPr>
          <a:xfrm>
            <a:off x="311700" y="953800"/>
            <a:ext cx="8520600" cy="4020600"/>
          </a:xfrm>
          <a:prstGeom prst="rect">
            <a:avLst/>
          </a:prstGeom>
        </p:spPr>
        <p:txBody>
          <a:bodyPr anchorCtr="0" anchor="t" bIns="91425" lIns="91425" spcFirstLastPara="1" rIns="91425" wrap="square" tIns="91425">
            <a:noAutofit/>
          </a:bodyPr>
          <a:lstStyle/>
          <a:p>
            <a:pPr indent="0" lvl="0" marL="0" rtl="0" algn="l">
              <a:lnSpc>
                <a:spcPct val="87916"/>
              </a:lnSpc>
              <a:spcBef>
                <a:spcPts val="0"/>
              </a:spcBef>
              <a:spcAft>
                <a:spcPts val="0"/>
              </a:spcAft>
              <a:buNone/>
            </a:pPr>
            <a:r>
              <a:rPr lang="es" sz="1200">
                <a:solidFill>
                  <a:srgbClr val="000000"/>
                </a:solidFill>
                <a:latin typeface="Calibri"/>
                <a:ea typeface="Calibri"/>
                <a:cs typeface="Calibri"/>
                <a:sym typeface="Calibri"/>
              </a:rPr>
              <a:t>Sprint 1: Elaboración presentación de proyecto (presentación, documentación, mockups, entre otros documentos.</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2: Elaboración de Presentacion, Informe, principios de codificación de código (Creación de módulos, Clases, dependencias, entre otros)</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3: Codificación de base de datos, Registro de usuario (egresado y empresa) y template para la página.</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4: Codificación de las vistas de: inicio de sesión, Hub principal usuario egresado, Hub principal usuario empresa.</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5: Codificación vistas de: Crud (empresa, creando ofertas de empleo, leer, modificación, eliminación de ofertas) Vista de ofertas de empresas en hub de usuario egresado, vista crud usuario egresado (creación, leer, modificar, eliminar, para la sección de presentación del egresado)</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6: Codificación de cifrado de datos sensibles, vista opción de postular a oferta laboral (pudiendo rellenar los campos que la empresa solicitó para la oferta), codificación de seguridad para el código y el software en general.</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7: Implementacion modulo de IA, entrenamiento de IA, limitación de preguntas a la IA</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8: Creación de función para hacer seguimiento de un egresado trabajando, función de desactivación de funciones para usuarios con la experiencia suficiente, función para dar de baja la cuenta.</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9: Limpieza de código, mejoras de cifrado, mejoras de seguridad</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0"/>
              </a:spcAft>
              <a:buNone/>
            </a:pPr>
            <a:r>
              <a:rPr lang="es" sz="1200">
                <a:solidFill>
                  <a:srgbClr val="000000"/>
                </a:solidFill>
                <a:latin typeface="Calibri"/>
                <a:ea typeface="Calibri"/>
                <a:cs typeface="Calibri"/>
                <a:sym typeface="Calibri"/>
              </a:rPr>
              <a:t>Sprint 10: pruebas de calidad de software, carga de usuarios y auditoría de software</a:t>
            </a:r>
            <a:endParaRPr sz="1200">
              <a:solidFill>
                <a:srgbClr val="000000"/>
              </a:solidFill>
              <a:latin typeface="Calibri"/>
              <a:ea typeface="Calibri"/>
              <a:cs typeface="Calibri"/>
              <a:sym typeface="Calibri"/>
            </a:endParaRPr>
          </a:p>
          <a:p>
            <a:pPr indent="0" lvl="0" marL="0" rtl="0" algn="l">
              <a:lnSpc>
                <a:spcPct val="87916"/>
              </a:lnSpc>
              <a:spcBef>
                <a:spcPts val="800"/>
              </a:spcBef>
              <a:spcAft>
                <a:spcPts val="800"/>
              </a:spcAft>
              <a:buNone/>
            </a:pPr>
            <a:r>
              <a:rPr lang="es" sz="1200">
                <a:solidFill>
                  <a:srgbClr val="000000"/>
                </a:solidFill>
                <a:latin typeface="Calibri"/>
                <a:ea typeface="Calibri"/>
                <a:cs typeface="Calibri"/>
                <a:sym typeface="Calibri"/>
              </a:rPr>
              <a:t>Sprint 11: Implementación de host, elaboración de presentación y últimas pruebas de calidad.</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Mapa </a:t>
            </a:r>
            <a:r>
              <a:rPr lang="es"/>
              <a:t>Tecnológico</a:t>
            </a:r>
            <a:endParaRPr/>
          </a:p>
        </p:txBody>
      </p:sp>
      <p:sp>
        <p:nvSpPr>
          <p:cNvPr id="136" name="Google Shape;136;p22"/>
          <p:cNvSpPr txBox="1"/>
          <p:nvPr>
            <p:ph idx="1" type="body"/>
          </p:nvPr>
        </p:nvSpPr>
        <p:spPr>
          <a:xfrm>
            <a:off x="154525" y="1152475"/>
            <a:ext cx="2788800" cy="3416400"/>
          </a:xfrm>
          <a:prstGeom prst="rect">
            <a:avLst/>
          </a:prstGeom>
        </p:spPr>
        <p:txBody>
          <a:bodyPr anchorCtr="0" anchor="t" bIns="91425" lIns="91425" spcFirstLastPara="1" rIns="91425" wrap="square" tIns="91425">
            <a:normAutofit fontScale="85000" lnSpcReduction="10000"/>
          </a:bodyPr>
          <a:lstStyle/>
          <a:p>
            <a:pPr indent="0" lvl="0" marL="0" rtl="0" algn="just">
              <a:spcBef>
                <a:spcPts val="0"/>
              </a:spcBef>
              <a:spcAft>
                <a:spcPts val="1200"/>
              </a:spcAft>
              <a:buNone/>
            </a:pPr>
            <a:r>
              <a:rPr lang="es"/>
              <a:t>El mapa tecnológico presenta aspectos particulares del software junto a algunos de los servicios y softwares específicos que decidimos utilizar, basados en la experiencia que tenemos con ellos, la cantidad de documentación existente que presentan y </a:t>
            </a:r>
            <a:r>
              <a:rPr lang="es"/>
              <a:t>cuán</a:t>
            </a:r>
            <a:r>
              <a:rPr lang="es"/>
              <a:t> activa y grande son las comunidades que las utilizan, puesto que todo esto facilita el desarrollo.</a:t>
            </a:r>
            <a:endParaRPr/>
          </a:p>
        </p:txBody>
      </p:sp>
      <p:pic>
        <p:nvPicPr>
          <p:cNvPr id="137" name="Google Shape;137;p22"/>
          <p:cNvPicPr preferRelativeResize="0"/>
          <p:nvPr/>
        </p:nvPicPr>
        <p:blipFill>
          <a:blip r:embed="rId3">
            <a:alphaModFix/>
          </a:blip>
          <a:stretch>
            <a:fillRect/>
          </a:stretch>
        </p:blipFill>
        <p:spPr>
          <a:xfrm>
            <a:off x="0" y="-3"/>
            <a:ext cx="1789064" cy="445025"/>
          </a:xfrm>
          <a:prstGeom prst="rect">
            <a:avLst/>
          </a:prstGeom>
          <a:noFill/>
          <a:ln>
            <a:noFill/>
          </a:ln>
        </p:spPr>
      </p:pic>
      <p:pic>
        <p:nvPicPr>
          <p:cNvPr id="138" name="Google Shape;138;p22" title="Arquitectura de Tecnologías de BranchIt.png"/>
          <p:cNvPicPr preferRelativeResize="0"/>
          <p:nvPr/>
        </p:nvPicPr>
        <p:blipFill>
          <a:blip r:embed="rId4">
            <a:alphaModFix/>
          </a:blip>
          <a:stretch>
            <a:fillRect/>
          </a:stretch>
        </p:blipFill>
        <p:spPr>
          <a:xfrm>
            <a:off x="2869817" y="606909"/>
            <a:ext cx="6266824" cy="4498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Riesgos</a:t>
            </a:r>
            <a:endParaRPr/>
          </a:p>
        </p:txBody>
      </p:sp>
      <p:sp>
        <p:nvSpPr>
          <p:cNvPr id="144" name="Google Shape;144;p23"/>
          <p:cNvSpPr txBox="1"/>
          <p:nvPr>
            <p:ph idx="1" type="body"/>
          </p:nvPr>
        </p:nvSpPr>
        <p:spPr>
          <a:xfrm>
            <a:off x="311700" y="1152475"/>
            <a:ext cx="4986300" cy="368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sz="1400">
                <a:solidFill>
                  <a:srgbClr val="434343"/>
                </a:solidFill>
              </a:rPr>
              <a:t>Baja diferenciación:</a:t>
            </a:r>
            <a:r>
              <a:rPr lang="es" sz="1400">
                <a:solidFill>
                  <a:srgbClr val="434343"/>
                </a:solidFill>
              </a:rPr>
              <a:t> Que BranchIT no entregue suficiente valor frente a plataformas de empleo ya existentes.</a:t>
            </a:r>
            <a:endParaRPr sz="1400">
              <a:solidFill>
                <a:srgbClr val="434343"/>
              </a:solidFill>
            </a:endParaRPr>
          </a:p>
          <a:p>
            <a:pPr indent="0" lvl="0" marL="0" rtl="0" algn="l">
              <a:spcBef>
                <a:spcPts val="1200"/>
              </a:spcBef>
              <a:spcAft>
                <a:spcPts val="0"/>
              </a:spcAft>
              <a:buNone/>
            </a:pPr>
            <a:r>
              <a:rPr b="1" lang="es" sz="1400">
                <a:solidFill>
                  <a:srgbClr val="434343"/>
                </a:solidFill>
              </a:rPr>
              <a:t>Altos costos de IA:</a:t>
            </a:r>
            <a:r>
              <a:rPr lang="es" sz="1400">
                <a:solidFill>
                  <a:srgbClr val="434343"/>
                </a:solidFill>
              </a:rPr>
              <a:t> El uso de inteligencia artificial podría aumentar considerablemente los costos de operación.</a:t>
            </a:r>
            <a:endParaRPr sz="1400">
              <a:solidFill>
                <a:srgbClr val="434343"/>
              </a:solidFill>
            </a:endParaRPr>
          </a:p>
          <a:p>
            <a:pPr indent="0" lvl="0" marL="0" rtl="0" algn="l">
              <a:spcBef>
                <a:spcPts val="1200"/>
              </a:spcBef>
              <a:spcAft>
                <a:spcPts val="0"/>
              </a:spcAft>
              <a:buNone/>
            </a:pPr>
            <a:r>
              <a:rPr b="1" lang="es" sz="1400">
                <a:solidFill>
                  <a:srgbClr val="434343"/>
                </a:solidFill>
              </a:rPr>
              <a:t>Equipo reducido:</a:t>
            </a:r>
            <a:r>
              <a:rPr lang="es" sz="1400">
                <a:solidFill>
                  <a:srgbClr val="434343"/>
                </a:solidFill>
              </a:rPr>
              <a:t> Contar con pocas personas puede dificultar el desarrollo y cumplimiento de los plazos.</a:t>
            </a:r>
            <a:endParaRPr sz="1400">
              <a:solidFill>
                <a:srgbClr val="434343"/>
              </a:solidFill>
            </a:endParaRPr>
          </a:p>
          <a:p>
            <a:pPr indent="0" lvl="0" marL="0" rtl="0" algn="l">
              <a:spcBef>
                <a:spcPts val="1200"/>
              </a:spcBef>
              <a:spcAft>
                <a:spcPts val="0"/>
              </a:spcAft>
              <a:buNone/>
            </a:pPr>
            <a:r>
              <a:rPr b="1" lang="es" sz="1400">
                <a:solidFill>
                  <a:srgbClr val="434343"/>
                </a:solidFill>
              </a:rPr>
              <a:t>Poca participación de empresas:</a:t>
            </a:r>
            <a:r>
              <a:rPr lang="es" sz="1400">
                <a:solidFill>
                  <a:srgbClr val="434343"/>
                </a:solidFill>
              </a:rPr>
              <a:t> Si no existen suficientes ofertas laborales, la plataforma pierde atractivo para los egresados.</a:t>
            </a:r>
            <a:endParaRPr sz="1400">
              <a:solidFill>
                <a:srgbClr val="434343"/>
              </a:solidFill>
            </a:endParaRPr>
          </a:p>
          <a:p>
            <a:pPr indent="0" lvl="0" marL="0" rtl="0" algn="l">
              <a:spcBef>
                <a:spcPts val="1200"/>
              </a:spcBef>
              <a:spcAft>
                <a:spcPts val="1200"/>
              </a:spcAft>
              <a:buNone/>
            </a:pPr>
            <a:r>
              <a:rPr b="1" lang="es" sz="1400">
                <a:solidFill>
                  <a:srgbClr val="434343"/>
                </a:solidFill>
              </a:rPr>
              <a:t>Complejidad técnica y alcance:</a:t>
            </a:r>
            <a:r>
              <a:rPr lang="es" sz="1400">
                <a:solidFill>
                  <a:srgbClr val="434343"/>
                </a:solidFill>
              </a:rPr>
              <a:t> Implementar todas las funcionalidades propuestas dentro del tiempo disponible puede ser difícil.</a:t>
            </a:r>
            <a:endParaRPr sz="1400"/>
          </a:p>
        </p:txBody>
      </p:sp>
      <p:pic>
        <p:nvPicPr>
          <p:cNvPr id="145" name="Google Shape;145;p23"/>
          <p:cNvPicPr preferRelativeResize="0"/>
          <p:nvPr/>
        </p:nvPicPr>
        <p:blipFill>
          <a:blip r:embed="rId3">
            <a:alphaModFix/>
          </a:blip>
          <a:stretch>
            <a:fillRect/>
          </a:stretch>
        </p:blipFill>
        <p:spPr>
          <a:xfrm>
            <a:off x="5265250" y="1152475"/>
            <a:ext cx="3682200" cy="3682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 negocio</a:t>
            </a:r>
            <a:endParaRPr/>
          </a:p>
        </p:txBody>
      </p:sp>
      <p:sp>
        <p:nvSpPr>
          <p:cNvPr id="151" name="Google Shape;151;p24"/>
          <p:cNvSpPr txBox="1"/>
          <p:nvPr>
            <p:ph idx="1" type="body"/>
          </p:nvPr>
        </p:nvSpPr>
        <p:spPr>
          <a:xfrm>
            <a:off x="311700" y="1152475"/>
            <a:ext cx="8520600" cy="156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s">
                <a:solidFill>
                  <a:srgbClr val="434343"/>
                </a:solidFill>
              </a:rPr>
              <a:t>Plan Premium accesible:</a:t>
            </a:r>
            <a:r>
              <a:rPr lang="es">
                <a:solidFill>
                  <a:srgbClr val="434343"/>
                </a:solidFill>
              </a:rPr>
              <a:t> mantiene gratuitas las funciones esenciales de búsqueda y postulación, y ofrece herramientas adicionales como IA avanzada, mejora de perfil, simulación de entrevistas, recomendaciones personalizadas, estadísticas profesionales y </a:t>
            </a:r>
            <a:r>
              <a:rPr lang="es">
                <a:solidFill>
                  <a:srgbClr val="434343"/>
                </a:solidFill>
              </a:rPr>
              <a:t>postulación</a:t>
            </a:r>
            <a:r>
              <a:rPr lang="es">
                <a:solidFill>
                  <a:srgbClr val="434343"/>
                </a:solidFill>
              </a:rPr>
              <a:t> diaria </a:t>
            </a:r>
            <a:r>
              <a:rPr lang="es">
                <a:solidFill>
                  <a:srgbClr val="434343"/>
                </a:solidFill>
              </a:rPr>
              <a:t>automática</a:t>
            </a:r>
            <a:r>
              <a:rPr lang="es">
                <a:solidFill>
                  <a:srgbClr val="434343"/>
                </a:solidFill>
              </a:rPr>
              <a:t> (10 diarias). </a:t>
            </a:r>
            <a:endParaRPr>
              <a:solidFill>
                <a:srgbClr val="434343"/>
              </a:solidFill>
            </a:endParaRPr>
          </a:p>
        </p:txBody>
      </p:sp>
      <p:pic>
        <p:nvPicPr>
          <p:cNvPr id="152" name="Google Shape;152;p24"/>
          <p:cNvPicPr preferRelativeResize="0"/>
          <p:nvPr/>
        </p:nvPicPr>
        <p:blipFill>
          <a:blip r:embed="rId3">
            <a:alphaModFix/>
          </a:blip>
          <a:stretch>
            <a:fillRect/>
          </a:stretch>
        </p:blipFill>
        <p:spPr>
          <a:xfrm>
            <a:off x="3391552" y="2571752"/>
            <a:ext cx="2345525" cy="2345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311700" y="422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Mockup</a:t>
            </a:r>
            <a:endParaRPr/>
          </a:p>
        </p:txBody>
      </p:sp>
      <p:pic>
        <p:nvPicPr>
          <p:cNvPr id="158" name="Google Shape;158;p25"/>
          <p:cNvPicPr preferRelativeResize="0"/>
          <p:nvPr/>
        </p:nvPicPr>
        <p:blipFill>
          <a:blip r:embed="rId3">
            <a:alphaModFix/>
          </a:blip>
          <a:stretch>
            <a:fillRect/>
          </a:stretch>
        </p:blipFill>
        <p:spPr>
          <a:xfrm>
            <a:off x="9425888" y="-201208"/>
            <a:ext cx="4293774" cy="2674875"/>
          </a:xfrm>
          <a:prstGeom prst="rect">
            <a:avLst/>
          </a:prstGeom>
          <a:noFill/>
          <a:ln>
            <a:noFill/>
          </a:ln>
        </p:spPr>
      </p:pic>
      <p:pic>
        <p:nvPicPr>
          <p:cNvPr id="159" name="Google Shape;159;p25"/>
          <p:cNvPicPr preferRelativeResize="0"/>
          <p:nvPr/>
        </p:nvPicPr>
        <p:blipFill>
          <a:blip r:embed="rId4">
            <a:alphaModFix/>
          </a:blip>
          <a:stretch>
            <a:fillRect/>
          </a:stretch>
        </p:blipFill>
        <p:spPr>
          <a:xfrm>
            <a:off x="5" y="-1"/>
            <a:ext cx="8207679"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45025"/>
            <a:ext cx="1866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Conclusión	</a:t>
            </a:r>
            <a:endParaRPr/>
          </a:p>
        </p:txBody>
      </p:sp>
      <p:sp>
        <p:nvSpPr>
          <p:cNvPr id="165" name="Google Shape;165;p26"/>
          <p:cNvSpPr txBox="1"/>
          <p:nvPr>
            <p:ph idx="1" type="body"/>
          </p:nvPr>
        </p:nvSpPr>
        <p:spPr>
          <a:xfrm>
            <a:off x="311700" y="1152475"/>
            <a:ext cx="4956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400"/>
              <a:t>BranchIT busca facilitar la inserción laboral de personas recién egresadas mediante una plataforma enfocada en oportunidades para usuarios con poca o ninguna experiencia. El proyecto combina desarrollo web, gestión de información e inteligencia artificial para entregar orientación profesional, conectar talento con empresas y apoyar el crecimiento laboral de los usuarios. Su desarrollo permite aplicar competencias propias de Ingeniería en Informática y, al mismo tiempo, proponer una solución tecnológica con potencial de impacto social y laboral. </a:t>
            </a:r>
            <a:endParaRPr sz="1400"/>
          </a:p>
        </p:txBody>
      </p:sp>
      <p:pic>
        <p:nvPicPr>
          <p:cNvPr id="166" name="Google Shape;166;p26"/>
          <p:cNvPicPr preferRelativeResize="0"/>
          <p:nvPr/>
        </p:nvPicPr>
        <p:blipFill>
          <a:blip r:embed="rId3">
            <a:alphaModFix/>
          </a:blip>
          <a:stretch>
            <a:fillRect/>
          </a:stretch>
        </p:blipFill>
        <p:spPr>
          <a:xfrm>
            <a:off x="5421000" y="1170125"/>
            <a:ext cx="3514725" cy="35718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