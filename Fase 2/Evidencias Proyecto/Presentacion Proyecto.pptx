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8dec25c5b74b08" /><Relationship Type="http://schemas.openxmlformats.org/officeDocument/2006/relationships/extended-properties" Target="/docProps/app.xml" Id="Rbca38724d70244a0" /><Relationship Type="http://schemas.openxmlformats.org/officeDocument/2006/relationships/officeDocument" Target="/ppt/presentation.xml" Id="Rf70250a59b8447e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51f7500cf754e89"/>
  </p:sldMasterIdLst>
  <p:notesMasterIdLst>
    <p:notesMasterId xmlns:r="http://schemas.openxmlformats.org/officeDocument/2006/relationships" r:id="R7d7a7d44c3a44203"/>
  </p:notesMasterIdLst>
  <p:sldIdLst>
    <p:sldId xmlns:r="http://schemas.openxmlformats.org/officeDocument/2006/relationships" id="256" r:id="R2cfdebe13c774c71"/>
    <p:sldId xmlns:r="http://schemas.openxmlformats.org/officeDocument/2006/relationships" id="257" r:id="R73d772100a494073"/>
    <p:sldId xmlns:r="http://schemas.openxmlformats.org/officeDocument/2006/relationships" id="258" r:id="Rbb06a6950edb49fd"/>
    <p:sldId xmlns:r="http://schemas.openxmlformats.org/officeDocument/2006/relationships" id="259" r:id="R68b0bd3c40c14624"/>
    <p:sldId xmlns:r="http://schemas.openxmlformats.org/officeDocument/2006/relationships" id="260" r:id="Rc56bcf559df9464a"/>
    <p:sldId xmlns:r="http://schemas.openxmlformats.org/officeDocument/2006/relationships" id="261" r:id="R944e6bc77c224644"/>
    <p:sldId xmlns:r="http://schemas.openxmlformats.org/officeDocument/2006/relationships" id="262" r:id="R2c90d345d6c94ee6"/>
    <p:sldId xmlns:r="http://schemas.openxmlformats.org/officeDocument/2006/relationships" id="263" r:id="R2a096addf758483c"/>
    <p:sldId xmlns:r="http://schemas.openxmlformats.org/officeDocument/2006/relationships" id="264" r:id="Rdf362ff1624c4af4"/>
    <p:sldId xmlns:r="http://schemas.openxmlformats.org/officeDocument/2006/relationships" id="265" r:id="R3a465a829a764119"/>
    <p:sldId xmlns:r="http://schemas.openxmlformats.org/officeDocument/2006/relationships" id="266" r:id="Rdb6376a4fdb54579"/>
    <p:sldId xmlns:r="http://schemas.openxmlformats.org/officeDocument/2006/relationships" id="267" r:id="R78e9ca5548ee4a34"/>
    <p:sldId xmlns:r="http://schemas.openxmlformats.org/officeDocument/2006/relationships" id="268" r:id="Ra33bf496b4a34cb7"/>
    <p:sldId xmlns:r="http://schemas.openxmlformats.org/officeDocument/2006/relationships" id="269" r:id="Rd0a5069df28c42b4"/>
    <p:sldId xmlns:r="http://schemas.openxmlformats.org/officeDocument/2006/relationships" id="270" r:id="R96843ce51b8e4ccf"/>
    <p:sldId xmlns:r="http://schemas.openxmlformats.org/officeDocument/2006/relationships" id="271" r:id="Rde10327f98ad4dc7"/>
    <p:sldId xmlns:r="http://schemas.openxmlformats.org/officeDocument/2006/relationships" id="272" r:id="R01df5c8d160240bf"/>
  </p:sldIdLst>
  <p:sldSz cx="9144000" cy="5143500"/>
  <p:notesSz cx="6858000" cy="9144000"/>
  <p:embeddedFontLst>
    <p:embeddedFont>
      <p:font typeface="Proxima Nova"/>
      <p:regular xmlns:r="http://schemas.openxmlformats.org/officeDocument/2006/relationships" r:id="R7c26b201341c49f6"/>
      <p:bold xmlns:r="http://schemas.openxmlformats.org/officeDocument/2006/relationships" r:id="Rcd16221cf5a9400c"/>
      <p:italic xmlns:r="http://schemas.openxmlformats.org/officeDocument/2006/relationships" r:id="R63519be95170440a"/>
      <p:boldItalic xmlns:r="http://schemas.openxmlformats.org/officeDocument/2006/relationships" r:id="R80e0ccbbbef34456"/>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392bf81f53b34483" /><Relationship Type="http://schemas.openxmlformats.org/officeDocument/2006/relationships/slideMaster" Target="/ppt/slideMasters/slideMaster1.xml" Id="R151f7500cf754e89" /><Relationship Type="http://schemas.openxmlformats.org/officeDocument/2006/relationships/notesMaster" Target="/ppt/notesMasters/notesMaster1.xml" Id="R7d7a7d44c3a44203" /><Relationship Type="http://schemas.openxmlformats.org/officeDocument/2006/relationships/presProps" Target="/ppt/presProps.xml" Id="R34c26be249f44aa1" /><Relationship Type="http://schemas.openxmlformats.org/officeDocument/2006/relationships/viewProps" Target="/ppt/viewProps.xml" Id="R16717bd2a8844449" /><Relationship Type="http://schemas.openxmlformats.org/officeDocument/2006/relationships/tableStyles" Target="/ppt/tableStyles.xml" Id="Rf7f42f108b0f42a5" /><Relationship Type="http://schemas.openxmlformats.org/officeDocument/2006/relationships/font" Target="/ppt/fonts/font.dat" Id="R7c26b201341c49f6" /><Relationship Type="http://schemas.openxmlformats.org/officeDocument/2006/relationships/font" Target="/ppt/fonts/font2.dat" Id="Rcd16221cf5a9400c" /><Relationship Type="http://schemas.openxmlformats.org/officeDocument/2006/relationships/font" Target="/ppt/fonts/font3.dat" Id="R63519be95170440a" /><Relationship Type="http://schemas.openxmlformats.org/officeDocument/2006/relationships/font" Target="/ppt/fonts/font4.dat" Id="R80e0ccbbbef34456" /><Relationship Type="http://schemas.openxmlformats.org/officeDocument/2006/relationships/slide" Target="/ppt/slides/slide1.xml" Id="R2cfdebe13c774c71" /><Relationship Type="http://schemas.openxmlformats.org/officeDocument/2006/relationships/slide" Target="/ppt/slides/slide2.xml" Id="R73d772100a494073" /><Relationship Type="http://schemas.openxmlformats.org/officeDocument/2006/relationships/slide" Target="/ppt/slides/slide3.xml" Id="Rbb06a6950edb49fd" /><Relationship Type="http://schemas.openxmlformats.org/officeDocument/2006/relationships/slide" Target="/ppt/slides/slide4.xml" Id="R68b0bd3c40c14624" /><Relationship Type="http://schemas.openxmlformats.org/officeDocument/2006/relationships/slide" Target="/ppt/slides/slide5.xml" Id="Rc56bcf559df9464a" /><Relationship Type="http://schemas.openxmlformats.org/officeDocument/2006/relationships/slide" Target="/ppt/slides/slide6.xml" Id="R944e6bc77c224644" /><Relationship Type="http://schemas.openxmlformats.org/officeDocument/2006/relationships/slide" Target="/ppt/slides/slide7.xml" Id="R2c90d345d6c94ee6" /><Relationship Type="http://schemas.openxmlformats.org/officeDocument/2006/relationships/slide" Target="/ppt/slides/slide8.xml" Id="R2a096addf758483c" /><Relationship Type="http://schemas.openxmlformats.org/officeDocument/2006/relationships/slide" Target="/ppt/slides/slide9.xml" Id="Rdf362ff1624c4af4" /><Relationship Type="http://schemas.openxmlformats.org/officeDocument/2006/relationships/slide" Target="/ppt/slides/slide10.xml" Id="R3a465a829a764119" /><Relationship Type="http://schemas.openxmlformats.org/officeDocument/2006/relationships/slide" Target="/ppt/slides/slide11.xml" Id="Rdb6376a4fdb54579" /><Relationship Type="http://schemas.openxmlformats.org/officeDocument/2006/relationships/slide" Target="/ppt/slides/slide12.xml" Id="R78e9ca5548ee4a34" /><Relationship Type="http://schemas.openxmlformats.org/officeDocument/2006/relationships/slide" Target="/ppt/slides/slide13.xml" Id="Ra33bf496b4a34cb7" /><Relationship Type="http://schemas.openxmlformats.org/officeDocument/2006/relationships/slide" Target="/ppt/slides/slide14.xml" Id="Rd0a5069df28c42b4" /><Relationship Type="http://schemas.openxmlformats.org/officeDocument/2006/relationships/slide" Target="/ppt/slides/slide15.xml" Id="R96843ce51b8e4ccf" /><Relationship Type="http://schemas.openxmlformats.org/officeDocument/2006/relationships/slide" Target="/ppt/slides/slide16.xml" Id="Rde10327f98ad4dc7" /><Relationship Type="http://schemas.openxmlformats.org/officeDocument/2006/relationships/slide" Target="/ppt/slides/slide17.xml" Id="R01df5c8d160240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4d29ed93734e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earm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a01dc96b5547ff" /><Relationship Type="http://schemas.openxmlformats.org/officeDocument/2006/relationships/notesMaster" Target="/ppt/notesMasters/notesMaster1.xml" Id="R7c77f9a3a37f40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dacb01ef4842fd" /><Relationship Type="http://schemas.openxmlformats.org/officeDocument/2006/relationships/notesMaster" Target="/ppt/notesMasters/notesMaster1.xml" Id="R41e839b22be74d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58abc396584041" /><Relationship Type="http://schemas.openxmlformats.org/officeDocument/2006/relationships/notesMaster" Target="/ppt/notesMasters/notesMaster1.xml" Id="R58283110e56547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9a86693ce84a51" /><Relationship Type="http://schemas.openxmlformats.org/officeDocument/2006/relationships/notesMaster" Target="/ppt/notesMasters/notesMaster1.xml" Id="Ra1e3f9a1626e4a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810218caa04363" /><Relationship Type="http://schemas.openxmlformats.org/officeDocument/2006/relationships/notesMaster" Target="/ppt/notesMasters/notesMaster1.xml" Id="R599174c9bb8b42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21d6a1f21a4a35" /><Relationship Type="http://schemas.openxmlformats.org/officeDocument/2006/relationships/notesMaster" Target="/ppt/notesMasters/notesMaster1.xml" Id="R6fb6fca095f340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149d4dd2fc4bf1" /><Relationship Type="http://schemas.openxmlformats.org/officeDocument/2006/relationships/notesMaster" Target="/ppt/notesMasters/notesMaster1.xml" Id="R5f0d538a26064f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b8ec0101fb4929" /><Relationship Type="http://schemas.openxmlformats.org/officeDocument/2006/relationships/notesMaster" Target="/ppt/notesMasters/notesMaster1.xml" Id="Rc1b3aed6891c44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a523f0cecf4efb" /><Relationship Type="http://schemas.openxmlformats.org/officeDocument/2006/relationships/notesMaster" Target="/ppt/notesMasters/notesMaster1.xml" Id="R1449eaf174844d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c6a98bbde54d91" /><Relationship Type="http://schemas.openxmlformats.org/officeDocument/2006/relationships/notesMaster" Target="/ppt/notesMasters/notesMaster1.xml" Id="R4d84fcdf0b9b42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e8726b412145ca" /><Relationship Type="http://schemas.openxmlformats.org/officeDocument/2006/relationships/notesMaster" Target="/ppt/notesMasters/notesMaster1.xml" Id="R8d025875ae074f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7a9cf88cef460f" /><Relationship Type="http://schemas.openxmlformats.org/officeDocument/2006/relationships/notesMaster" Target="/ppt/notesMasters/notesMaster1.xml" Id="Rb9109da4120d48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bda33447704ff3" /><Relationship Type="http://schemas.openxmlformats.org/officeDocument/2006/relationships/notesMaster" Target="/ppt/notesMasters/notesMaster1.xml" Id="Ra37c0f1a5b0347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1f02bd70184348" /><Relationship Type="http://schemas.openxmlformats.org/officeDocument/2006/relationships/notesMaster" Target="/ppt/notesMasters/notesMaster1.xml" Id="Rf4ce321315c844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533238f3654289" /><Relationship Type="http://schemas.openxmlformats.org/officeDocument/2006/relationships/notesMaster" Target="/ppt/notesMasters/notesMaster1.xml" Id="R0941495adb0d4e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526d12685f4cc3" /><Relationship Type="http://schemas.openxmlformats.org/officeDocument/2006/relationships/notesMaster" Target="/ppt/notesMasters/notesMaster1.xml" Id="Redea83b0a31f47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c8e10292b14444" /><Relationship Type="http://schemas.openxmlformats.org/officeDocument/2006/relationships/notesMaster" Target="/ppt/notesMasters/notesMaster1.xml" Id="R664b3d7fdc654c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Apertura: BranchIT conecta a recién egresados con empresas mediante evidencia de sus capacidades. Presentamos un MVP funcional y la evolución desde el diseño inicial. Avance de octubre de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1.</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BranchIt</a:t>
            </a:r>
            <a:endParaRPr/>
          </a:p>
          <a:p xmlns:a="http://schemas.openxmlformats.org/drawingml/2006/main">
            <a:pPr marL="0" lvl="0" indent="0" algn="l">
              <a:spcBef>
                <a:spcPts val="0"/>
              </a:spcBef>
              <a:spcAft>
                <a:spcPts val="0"/>
              </a:spcAft>
              <a:buNone/>
            </a:pPr>
            <a:r>
              <a:t>Integrantes:</a:t>
            </a:r>
            <a:endParaRPr/>
          </a:p>
          <a:p xmlns:a="http://schemas.openxmlformats.org/drawingml/2006/main">
            <a:pPr marL="0" lvl="0" indent="0" algn="l">
              <a:spcBef>
                <a:spcPts val="0"/>
              </a:spcBef>
              <a:spcAft>
                <a:spcPts val="0"/>
              </a:spcAft>
              <a:buNone/>
            </a:pPr>
            <a:r>
              <a:t>Cristobal Lara</a:t>
            </a:r>
            <a:endParaRPr/>
          </a:p>
          <a:p xmlns:a="http://schemas.openxmlformats.org/drawingml/2006/main">
            <a:pPr marL="0" lvl="0" indent="0" algn="l">
              <a:spcBef>
                <a:spcPts val="0"/>
              </a:spcBef>
              <a:spcAft>
                <a:spcPts val="0"/>
              </a:spcAft>
              <a:buNone/>
            </a:pPr>
            <a:r>
              <a:t>Roberto Orrego</a:t>
            </a:r>
            <a:endParaRPr/>
          </a:p>
          <a:p xmlns:a="http://schemas.openxmlformats.org/drawingml/2006/main">
            <a:pPr marL="0" lvl="0" indent="0" algn="l">
              <a:spcBef>
                <a:spcPts val="0"/>
              </a:spcBef>
              <a:spcAft>
                <a:spcPts val="0"/>
              </a:spcAft>
              <a:buNone/>
            </a:pPr>
            <a:r>
              <a:t>Matías Werner</a:t>
            </a:r>
            <a:endParaRPr/>
          </a:p>
          <a:p xmlns:a="http://schemas.openxmlformats.org/drawingml/2006/main">
            <a:pPr marL="0" lvl="0" indent="0" algn="l">
              <a:spcBef>
                <a:spcPts val="0"/>
              </a:spcBef>
              <a:spcAft>
                <a:spcPts val="0"/>
              </a:spcAft>
              <a:buNone/>
            </a:pPr>
            <a:r>
              <a:t>Docente:</a:t>
            </a:r>
            <a:endParaRPr/>
          </a:p>
          <a:p xmlns:a="http://schemas.openxmlformats.org/drawingml/2006/main">
            <a:pPr marL="0" lvl="0" indent="0" algn="l">
              <a:spcBef>
                <a:spcPts val="0"/>
              </a:spcBef>
              <a:spcAft>
                <a:spcPts val="0"/>
              </a:spcAft>
              <a:buNone/>
            </a:pPr>
            <a:r>
              <a:t>Aldo Martínez</a:t>
            </a:r>
            <a:endParaRPr/>
          </a:p>
          <a:p xmlns:a="http://schemas.openxmlformats.org/drawingml/2006/main">
            <a:pPr marL="0" lvl="0" indent="0" algn="l">
              <a:spcBef>
                <a:spcPts val="0"/>
              </a:spcBef>
              <a:spcAft>
                <a:spcPts val="0"/>
              </a:spcAft>
              <a:buNone/>
            </a:pPr>
            <a:r>
              <a:t>Asignatura:</a:t>
            </a:r>
            <a:endParaRPr/>
          </a:p>
          <a:p xmlns:a="http://schemas.openxmlformats.org/drawingml/2006/main">
            <a:pPr marL="0" lvl="0" indent="0" algn="l">
              <a:spcBef>
                <a:spcPts val="0"/>
              </a:spcBef>
              <a:spcAft>
                <a:spcPts val="0"/>
              </a:spcAft>
              <a:buNone/>
            </a:pPr>
            <a:r>
              <a:t>Capstone 800D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Recorrido breve: comenzar con el problema, mostrar la propuesta de valor, explicar el trabajo realizado y terminar con una invitación a probar el producto.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2.</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Índice</a:t>
            </a:r>
            <a:endParaRPr/>
          </a:p>
          <a:p xmlns:a="http://schemas.openxmlformats.org/drawingml/2006/main">
            <a:pPr marL="0" lvl="0" indent="0" algn="l">
              <a:spcBef>
                <a:spcPts val="0"/>
              </a:spcBef>
              <a:spcAft>
                <a:spcPts val="0"/>
              </a:spcAft>
              <a:buNone/>
            </a:pPr>
            <a:r>
              <a:t>Problemática</a:t>
            </a:r>
            <a:endParaRPr/>
          </a:p>
          <a:p xmlns:a="http://schemas.openxmlformats.org/drawingml/2006/main">
            <a:pPr marL="0" lvl="0" indent="0" algn="l">
              <a:spcBef>
                <a:spcPts val="0"/>
              </a:spcBef>
              <a:spcAft>
                <a:spcPts val="0"/>
              </a:spcAft>
              <a:buNone/>
            </a:pPr>
            <a:r>
              <a:t>Links</a:t>
            </a:r>
            <a:endParaRPr/>
          </a:p>
          <a:p xmlns:a="http://schemas.openxmlformats.org/drawingml/2006/main">
            <a:pPr marL="0" lvl="0" indent="0" algn="l">
              <a:spcBef>
                <a:spcPts val="0"/>
              </a:spcBef>
              <a:spcAft>
                <a:spcPts val="0"/>
              </a:spcAft>
              <a:buNone/>
            </a:pPr>
            <a:r>
              <a:t>Solución propuesta</a:t>
            </a:r>
            <a:endParaRPr/>
          </a:p>
          <a:p xmlns:a="http://schemas.openxmlformats.org/drawingml/2006/main">
            <a:pPr marL="0" lvl="0" indent="0" algn="l">
              <a:spcBef>
                <a:spcPts val="0"/>
              </a:spcBef>
              <a:spcAft>
                <a:spcPts val="0"/>
              </a:spcAft>
              <a:buNone/>
            </a:pPr>
            <a:r>
              <a:t>Público objetivo</a:t>
            </a:r>
            <a:endParaRPr/>
          </a:p>
          <a:p xmlns:a="http://schemas.openxmlformats.org/drawingml/2006/main">
            <a:pPr marL="0" lvl="0" indent="0" algn="l">
              <a:spcBef>
                <a:spcPts val="0"/>
              </a:spcBef>
              <a:spcAft>
                <a:spcPts val="0"/>
              </a:spcAft>
              <a:buNone/>
            </a:pPr>
            <a:r>
              <a:t>Competencias e intereses dentro del proyecto</a:t>
            </a:r>
            <a:endParaRPr/>
          </a:p>
          <a:p xmlns:a="http://schemas.openxmlformats.org/drawingml/2006/main">
            <a:pPr marL="0" lvl="0" indent="0" algn="l">
              <a:spcBef>
                <a:spcPts val="0"/>
              </a:spcBef>
              <a:spcAft>
                <a:spcPts val="0"/>
              </a:spcAft>
              <a:buNone/>
            </a:pPr>
            <a:r>
              <a:t>Metodología de desarrollo</a:t>
            </a:r>
            <a:endParaRPr/>
          </a:p>
          <a:p xmlns:a="http://schemas.openxmlformats.org/drawingml/2006/main">
            <a:pPr marL="0" lvl="0" indent="0" algn="l">
              <a:spcBef>
                <a:spcPts val="0"/>
              </a:spcBef>
              <a:spcAft>
                <a:spcPts val="0"/>
              </a:spcAft>
              <a:buNone/>
            </a:pPr>
            <a:r>
              <a:t>Sprints</a:t>
            </a:r>
            <a:endParaRPr/>
          </a:p>
          <a:p xmlns:a="http://schemas.openxmlformats.org/drawingml/2006/main">
            <a:pPr marL="0" lvl="0" indent="0" algn="l">
              <a:spcBef>
                <a:spcPts val="0"/>
              </a:spcBef>
              <a:spcAft>
                <a:spcPts val="0"/>
              </a:spcAft>
              <a:buNone/>
            </a:pPr>
            <a:r>
              <a:t>Mapa Tecnológico</a:t>
            </a:r>
            <a:endParaRPr/>
          </a:p>
          <a:p xmlns:a="http://schemas.openxmlformats.org/drawingml/2006/main">
            <a:pPr marL="0" lvl="0" indent="0" algn="l">
              <a:spcBef>
                <a:spcPts val="0"/>
              </a:spcBef>
              <a:spcAft>
                <a:spcPts val="0"/>
              </a:spcAft>
              <a:buNone/>
            </a:pPr>
            <a:r>
              <a:t>Riesgos</a:t>
            </a:r>
            <a:endParaRPr/>
          </a:p>
          <a:p xmlns:a="http://schemas.openxmlformats.org/drawingml/2006/main">
            <a:pPr marL="0" lvl="0" indent="0" algn="l">
              <a:spcBef>
                <a:spcPts val="0"/>
              </a:spcBef>
              <a:spcAft>
                <a:spcPts val="0"/>
              </a:spcAft>
              <a:buNone/>
            </a:pPr>
            <a:r>
              <a:t>Modelo de negocio</a:t>
            </a:r>
            <a:endParaRPr/>
          </a:p>
          <a:p xmlns:a="http://schemas.openxmlformats.org/drawingml/2006/main">
            <a:pPr marL="0" lvl="0" indent="0" algn="l">
              <a:spcBef>
                <a:spcPts val="0"/>
              </a:spcBef>
              <a:spcAft>
                <a:spcPts val="0"/>
              </a:spcAft>
              <a:buNone/>
            </a:pPr>
            <a:r>
              <a:t>Mockup</a:t>
            </a:r>
            <a:endParaRPr/>
          </a:p>
          <a:p xmlns:a="http://schemas.openxmlformats.org/drawingml/2006/main">
            <a:pPr marL="0" lvl="0" indent="0" algn="l">
              <a:spcBef>
                <a:spcPts val="0"/>
              </a:spcBef>
              <a:spcAft>
                <a:spcPts val="0"/>
              </a:spcAft>
              <a:buNone/>
            </a:pPr>
            <a:r>
              <a:t>Conclusión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La evidencia periodística de la presentación original contextualiza las dificultades de inserción laboral. Evitar atribuir a BranchIT cifras de impacto o resultados laborales que aún no han sido medidos. Las imágenes y sus QR se mantienen como antecedentes.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3.</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Problemática</a:t>
            </a:r>
            <a:endParaRPr/>
          </a:p>
          <a:p xmlns:a="http://schemas.openxmlformats.org/drawingml/2006/main">
            <a:pPr marL="0" lvl="0" indent="0" algn="l">
              <a:spcBef>
                <a:spcPts val="0"/>
              </a:spcBef>
              <a:spcAft>
                <a:spcPts val="0"/>
              </a:spcAft>
              <a:buNone/>
            </a:pPr>
            <a:r>
              <a:t>Durante muchos años los recién egresados de carreras universitarias, técnico profesionales, doctorados, etc. Han tenido que enfrentarse a un mismo problema, encontrar trabajo en su rubro, y plataformas como LinkedIn ya están muy pobladas con profesionales con mucha experiencia.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Fuentes y códigos QR de la presentación original. Estos antecedentes describen el problema; no son resultados de una evaluación del producto.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4.</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Links</a:t>
            </a:r>
            <a:endParaRPr/>
          </a:p>
          <a:p xmlns:a="http://schemas.openxmlformats.org/drawingml/2006/main">
            <a:pPr marL="0" lvl="0" indent="0" algn="l">
              <a:spcBef>
                <a:spcPts val="0"/>
              </a:spcBef>
              <a:spcAft>
                <a:spcPts val="0"/>
              </a:spcAft>
              <a:buNone/>
            </a:pPr>
            <a:r>
              <a:t>DiarioUSACH</a:t>
            </a:r>
            <a:endParaRPr/>
          </a:p>
          <a:p xmlns:a="http://schemas.openxmlformats.org/drawingml/2006/main">
            <a:pPr marL="0" lvl="0" indent="0" algn="l">
              <a:spcBef>
                <a:spcPts val="0"/>
              </a:spcBef>
              <a:spcAft>
                <a:spcPts val="0"/>
              </a:spcAft>
              <a:buNone/>
            </a:pPr>
            <a:r>
              <a:t>ElObservaTodo</a:t>
            </a:r>
            <a:endParaRPr/>
          </a:p>
          <a:p xmlns:a="http://schemas.openxmlformats.org/drawingml/2006/main">
            <a:pPr marL="0" lvl="0" indent="0" algn="l">
              <a:spcBef>
                <a:spcPts val="0"/>
              </a:spcBef>
              <a:spcAft>
                <a:spcPts val="0"/>
              </a:spcAft>
              <a:buNone/>
            </a:pPr>
            <a:r>
              <a:t>Enfoque Laboral N°57</a:t>
            </a:r>
            <a:endParaRPr/>
          </a:p>
          <a:p xmlns:a="http://schemas.openxmlformats.org/drawingml/2006/main">
            <a:pPr marL="0" lvl="0" indent="0" algn="l">
              <a:spcBef>
                <a:spcPts val="0"/>
              </a:spcBef>
              <a:spcAft>
                <a:spcPts val="0"/>
              </a:spcAft>
              <a:buNone/>
            </a:pPr>
            <a:r>
              <a:t>OCECUDP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Valor central: pasar de un CV estático a evidencia visible. El egresado publica voluntariamente un portafolio y controla sus datos de contacto. La afinidad es una regla explicable basada en carrera y habilidades; no es una probabilidad de contratación. Gemini orienta al egresado y no toma decisiones de selección.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5.</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Solución propuesta</a:t>
            </a:r>
            <a:endParaRPr/>
          </a:p>
          <a:p xmlns:a="http://schemas.openxmlformats.org/drawingml/2006/main">
            <a:pPr marL="0" lvl="0" indent="0" algn="l">
              <a:spcBef>
                <a:spcPts val="0"/>
              </a:spcBef>
              <a:spcAft>
                <a:spcPts val="0"/>
              </a:spcAft>
              <a:buNone/>
            </a:pPr>
            <a:r>
              <a:t>Debido a aquel problema nosotros como el equipo desarrollador de BranchIt pensamos en una plataforma similar a LinkedIn, pero con el objetivo de enfocarnos únicamente en las personas sin experiencia o recién egresadas para que puedan conseguir trabajo, y apoyarlos utilizando IA para entregarles consejos y recomendaciones que los ayuden a conseguir dicho trabajo.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Foco inicial en recién egresados de carreras técnicas y profesionales en Chile y empresas que buscan talento inicial. Las alianzas institucionales son una posibilidad futura, todavía sin validar.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6.</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Público Objetivo</a:t>
            </a:r>
            <a:endParaRPr/>
          </a:p>
          <a:p xmlns:a="http://schemas.openxmlformats.org/drawingml/2006/main">
            <a:pPr marL="0" lvl="0" indent="0" algn="l">
              <a:spcBef>
                <a:spcPts val="0"/>
              </a:spcBef>
              <a:spcAft>
                <a:spcPts val="0"/>
              </a:spcAft>
              <a:buNone/>
            </a:pPr>
            <a:r>
              <a:t>El público objetivo que tiene la iniciativa BranchIt son recién egresados de todo tipos de carreras en Chile, ya sean técnicos, profesionales o personas sin experiencia, junto a las empresas que busquen este tipo de personal. También está provisto que instituciones educativas formen parte del público, ya que la IA derivaría a los egresados a conseguir estudiantes para certificaciones, cursos, incluso continuidades de carrera.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 proyecto permite aplicar desarrollo de software, modelado de datos, arquitectura, gestión de proyectos e integración de servicios de IA. La motivación del equipo proviene de pertenecer al público objetivo; no sustituye una validación con usuarios externos.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7.</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Competencias e intereses dentro del proyecto</a:t>
            </a:r>
            <a:endParaRPr/>
          </a:p>
          <a:p xmlns:a="http://schemas.openxmlformats.org/drawingml/2006/main">
            <a:pPr marL="0" lvl="0" indent="0" algn="l">
              <a:spcBef>
                <a:spcPts val="0"/>
              </a:spcBef>
              <a:spcAft>
                <a:spcPts val="0"/>
              </a:spcAft>
              <a:buNone/>
            </a:pPr>
            <a:r>
              <a:t>Las principales competencias desarrolladas con BranchIT son el desarrollo de software, la programación, el diseño y gestión de bases de datos, la arquitectura de soluciones, la gestión de proyectos informáticos y la integración de inteligencia artificial. Estas competencias permiten construir una plataforma web funcional, organizada y orientada a facilitar la inserción laboral de personas recién egresadas. </a:t>
            </a:r>
            <a:endParaRPr/>
          </a:p>
          <a:p xmlns:a="http://schemas.openxmlformats.org/drawingml/2006/main">
            <a:pPr marL="0" lvl="0" indent="0" algn="l">
              <a:spcBef>
                <a:spcPts val="0"/>
              </a:spcBef>
              <a:spcAft>
                <a:spcPts val="0"/>
              </a:spcAft>
              <a:buNone/>
            </a:pPr>
            <a:r>
              <a:t>Nuestro principal interés por desarrollar este proyecto nace de ser parte del público objetivo del mismo, viendo tanto como nosotros como otros estudiantes sufrimos de las dificultades del mercado laboral actual junto con evidenciar que las plataformas de software online tampoco son de mucha ayuda cuando estas brindan espacio también a públicos experimentados que pueden presentar un mayor éxito en su búsqueda por la naturaleza del tiempo dentro del mercado.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Roles declarados en la presentación original. Cada sprint entrega avances revisables; los hallazgos de uso y las pruebas orientan la siguiente iteración. La responsabilidad de cada entrega es compartida por el equipo.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8.</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Metodología de desarrollo</a:t>
            </a:r>
            <a:endParaRPr/>
          </a:p>
          <a:p xmlns:a="http://schemas.openxmlformats.org/drawingml/2006/main">
            <a:pPr marL="0" lvl="0" indent="0" algn="l">
              <a:spcBef>
                <a:spcPts val="0"/>
              </a:spcBef>
              <a:spcAft>
                <a:spcPts val="0"/>
              </a:spcAft>
              <a:buNone/>
            </a:pPr>
            <a:r>
              <a:t>La metodología que elegimos como equipo es ágil específicamente una enfocada en Scrum, para dividir el trabajo en roles y Sprints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Roles:</a:t>
            </a:r>
            <a:endParaRPr/>
          </a:p>
          <a:p xmlns:a="http://schemas.openxmlformats.org/drawingml/2006/main">
            <a:pPr marL="0" lvl="0" indent="0" algn="l">
              <a:spcBef>
                <a:spcPts val="0"/>
              </a:spcBef>
              <a:spcAft>
                <a:spcPts val="0"/>
              </a:spcAft>
              <a:buNone/>
            </a:pPr>
            <a:r>
              <a:t>Roberto Orrego: Desarrollo/ Scrum Master</a:t>
            </a:r>
            <a:endParaRPr/>
          </a:p>
          <a:p xmlns:a="http://schemas.openxmlformats.org/drawingml/2006/main">
            <a:pPr marL="0" lvl="0" indent="0" algn="l">
              <a:spcBef>
                <a:spcPts val="0"/>
              </a:spcBef>
              <a:spcAft>
                <a:spcPts val="0"/>
              </a:spcAft>
              <a:buNone/>
            </a:pPr>
            <a:r>
              <a:t>Cristobal Lara: Desarrollador/ Ciberseguridad</a:t>
            </a:r>
            <a:endParaRPr/>
          </a:p>
          <a:p xmlns:a="http://schemas.openxmlformats.org/drawingml/2006/main">
            <a:pPr marL="0" lvl="0" indent="0" algn="l">
              <a:spcBef>
                <a:spcPts val="0"/>
              </a:spcBef>
              <a:spcAft>
                <a:spcPts val="0"/>
              </a:spcAft>
              <a:buNone/>
            </a:pPr>
            <a:r>
              <a:t>Matias Werner: Desarrollador/ Módulo IA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Se condensan los 11 sprints originales en cuatro etapas. El núcleo funcional y la integración de IA están implementados. Hosting se adelantó respecto del plan original. Seguridad y pruebas son continuas; no declarar concluida una auditoría formal o una prueba de carga. El seguimiento posterior a la contratación y las restricciones por experiencia del sprint 8 requieren revisar alcance y validación. No se entrenó un modelo propio: se integra Gemini mediante instrucciones y contexto. El detalle del plan original queda a continuación.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9.</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Sprints</a:t>
            </a:r>
            <a:endParaRPr/>
          </a:p>
          <a:p xmlns:a="http://schemas.openxmlformats.org/drawingml/2006/main">
            <a:pPr marL="0" lvl="0" indent="0" algn="l">
              <a:spcBef>
                <a:spcPts val="0"/>
              </a:spcBef>
              <a:spcAft>
                <a:spcPts val="0"/>
              </a:spcAft>
              <a:buNone/>
            </a:pPr>
            <a:r>
              <a:t>Sprint 1: Elaboración presentación de proyecto (presentación, documentación, mockups, entre otros documentos.</a:t>
            </a:r>
            <a:endParaRPr/>
          </a:p>
          <a:p xmlns:a="http://schemas.openxmlformats.org/drawingml/2006/main">
            <a:pPr marL="0" lvl="0" indent="0" algn="l">
              <a:spcBef>
                <a:spcPts val="0"/>
              </a:spcBef>
              <a:spcAft>
                <a:spcPts val="0"/>
              </a:spcAft>
              <a:buNone/>
            </a:pPr>
            <a:r>
              <a:t>Sprint 2: Elaboración de Presentacion, Informe, principios de codificación de código (Creación de módulos, Clases, dependencias, entre otros)</a:t>
            </a:r>
            <a:endParaRPr/>
          </a:p>
          <a:p xmlns:a="http://schemas.openxmlformats.org/drawingml/2006/main">
            <a:pPr marL="0" lvl="0" indent="0" algn="l">
              <a:spcBef>
                <a:spcPts val="0"/>
              </a:spcBef>
              <a:spcAft>
                <a:spcPts val="0"/>
              </a:spcAft>
              <a:buNone/>
            </a:pPr>
            <a:r>
              <a:t>Sprint 3: Codificación de base de datos, Registro de usuario (egresado y empresa) y template para la página.</a:t>
            </a:r>
            <a:endParaRPr/>
          </a:p>
          <a:p xmlns:a="http://schemas.openxmlformats.org/drawingml/2006/main">
            <a:pPr marL="0" lvl="0" indent="0" algn="l">
              <a:spcBef>
                <a:spcPts val="0"/>
              </a:spcBef>
              <a:spcAft>
                <a:spcPts val="0"/>
              </a:spcAft>
              <a:buNone/>
            </a:pPr>
            <a:r>
              <a:t>Sprint 4: Codificación de las vistas de: inicio de sesión, Hub principal usuario egresado, Hub principal usuario empresa.</a:t>
            </a:r>
            <a:endParaRPr/>
          </a:p>
          <a:p xmlns:a="http://schemas.openxmlformats.org/drawingml/2006/main">
            <a:pPr marL="0" lvl="0" indent="0" algn="l">
              <a:spcBef>
                <a:spcPts val="0"/>
              </a:spcBef>
              <a:spcAft>
                <a:spcPts val="0"/>
              </a:spcAft>
              <a:buNone/>
            </a:pPr>
            <a:r>
              <a:t>Sprint 5: Codificación vistas de: Crud (empresa, creando ofertas de empleo, leer, modificación, eliminación de ofertas) Vista de ofertas de empresas en hub de usuario egresado, vista crud usuario egresado (creación, leer, modificar, eliminar, para la sección de presentación del egresado)</a:t>
            </a:r>
            <a:endParaRPr/>
          </a:p>
          <a:p xmlns:a="http://schemas.openxmlformats.org/drawingml/2006/main">
            <a:pPr marL="0" lvl="0" indent="0" algn="l">
              <a:spcBef>
                <a:spcPts val="0"/>
              </a:spcBef>
              <a:spcAft>
                <a:spcPts val="0"/>
              </a:spcAft>
              <a:buNone/>
            </a:pPr>
            <a:r>
              <a:t>Sprint 6: Codificación de cifrado de datos sensibles, vista opción de postular a oferta laboral (pudiendo rellenar los campos que la empresa solicitó para la oferta), codificación de seguridad para el código y el software en general.</a:t>
            </a:r>
            <a:endParaRPr/>
          </a:p>
          <a:p xmlns:a="http://schemas.openxmlformats.org/drawingml/2006/main">
            <a:pPr marL="0" lvl="0" indent="0" algn="l">
              <a:spcBef>
                <a:spcPts val="0"/>
              </a:spcBef>
              <a:spcAft>
                <a:spcPts val="0"/>
              </a:spcAft>
              <a:buNone/>
            </a:pPr>
            <a:r>
              <a:t>Sprint 7: Implementacion modulo de IA, entrenamiento de IA, limitación de preguntas a la IA</a:t>
            </a:r>
            <a:endParaRPr/>
          </a:p>
          <a:p xmlns:a="http://schemas.openxmlformats.org/drawingml/2006/main">
            <a:pPr marL="0" lvl="0" indent="0" algn="l">
              <a:spcBef>
                <a:spcPts val="0"/>
              </a:spcBef>
              <a:spcAft>
                <a:spcPts val="0"/>
              </a:spcAft>
              <a:buNone/>
            </a:pPr>
            <a:r>
              <a:t>Sprint 8: Creación de función para hacer seguimiento de un egresado trabajando, función de desactivación de funciones para usuarios con la experiencia suficiente, función para dar de baja la cuenta.</a:t>
            </a:r>
            <a:endParaRPr/>
          </a:p>
          <a:p xmlns:a="http://schemas.openxmlformats.org/drawingml/2006/main">
            <a:pPr marL="0" lvl="0" indent="0" algn="l">
              <a:spcBef>
                <a:spcPts val="0"/>
              </a:spcBef>
              <a:spcAft>
                <a:spcPts val="0"/>
              </a:spcAft>
              <a:buNone/>
            </a:pPr>
            <a:r>
              <a:t>Sprint 9: Limpieza de código, mejoras de cifrado, mejoras de seguridad</a:t>
            </a:r>
            <a:endParaRPr/>
          </a:p>
          <a:p xmlns:a="http://schemas.openxmlformats.org/drawingml/2006/main">
            <a:pPr marL="0" lvl="0" indent="0" algn="l">
              <a:spcBef>
                <a:spcPts val="0"/>
              </a:spcBef>
              <a:spcAft>
                <a:spcPts val="0"/>
              </a:spcAft>
              <a:buNone/>
            </a:pPr>
            <a:r>
              <a:t>Sprint 10: pruebas de calidad de software, carga de usuarios y auditoría de software</a:t>
            </a:r>
            <a:endParaRPr/>
          </a:p>
          <a:p xmlns:a="http://schemas.openxmlformats.org/drawingml/2006/main">
            <a:pPr marL="0" lvl="0" indent="0" algn="l">
              <a:spcBef>
                <a:spcPts val="0"/>
              </a:spcBef>
              <a:spcAft>
                <a:spcPts val="0"/>
              </a:spcAft>
              <a:buNone/>
            </a:pPr>
            <a:r>
              <a:t>Sprint 11: Implementación de host, elaboración de presentación y últimas pruebas de calidad.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Mapa actualizado a la implementación: React 18 y Vite para la web; FastAPI con Python, Pydantic y SQLAlchemy para la API; PostgreSQL en Neon y Alembic para versionar el esquema. Vercel aloja web, API y funciones de archivos. Vercel Blob conserva archivos, Gemini brinda orientación y GitHub mantiene el código. Se reemplaza el mapa anterior que mencionaba MySQL y Express. No se presenta JMeter como una prueba ya ejecutada.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10.</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Mapa Tecnológico</a:t>
            </a:r>
            <a:endParaRPr/>
          </a:p>
          <a:p xmlns:a="http://schemas.openxmlformats.org/drawingml/2006/main">
            <a:pPr marL="0" lvl="0" indent="0" algn="l">
              <a:spcBef>
                <a:spcPts val="0"/>
              </a:spcBef>
              <a:spcAft>
                <a:spcPts val="0"/>
              </a:spcAft>
              <a:buNone/>
            </a:pPr>
            <a:r>
              <a:t>El mapa tecnológico presenta aspectos particulares del software junto a algunos de los servicios y softwares específicos que decidimos utilizar, basados en la experiencia que tenemos con ellos, la cantidad de documentación existente que presentan y cuán activa y grande son las comunidades que las utilizan, puesto que todo esto facilita el desarrollo.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simplificada y editable. El navegador consume la API FastAPI mediante HTTPS. La API valida JWT, roles y propiedad de recursos, accede a PostgreSQL a través de SQLAlchemy y solicita orientación a Gemini con una clave privada. Las subidas y descargas se gestionan con funciones JavaScript y Vercel Blob; la autorización también consulta la API. Neon almacena datos; los archivos no se guardan como binarios en las tablas. El diagrama omite conexiones secundarias para facilitar la exposición.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Se conservan los riesgos de diferenciación, costos, equipo pequeño, escasez de empresas y alcance. Las mitigaciones son trabajo continuo, no garantías. Pendientes: piloto con usuarios reales, pruebas de carga y revisión formal de seguridad. Las mejoras de accesibilidad no constituyen certificación WCAG.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11.</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Riesgos</a:t>
            </a:r>
            <a:endParaRPr/>
          </a:p>
          <a:p xmlns:a="http://schemas.openxmlformats.org/drawingml/2006/main">
            <a:pPr marL="0" lvl="0" indent="0" algn="l">
              <a:spcBef>
                <a:spcPts val="0"/>
              </a:spcBef>
              <a:spcAft>
                <a:spcPts val="0"/>
              </a:spcAft>
              <a:buNone/>
            </a:pPr>
            <a:r>
              <a:t>Baja diferenciación: Que BranchIT no entregue suficiente valor frente a plataformas de empleo ya existentes.</a:t>
            </a:r>
            <a:endParaRPr/>
          </a:p>
          <a:p xmlns:a="http://schemas.openxmlformats.org/drawingml/2006/main">
            <a:pPr marL="0" lvl="0" indent="0" algn="l">
              <a:spcBef>
                <a:spcPts val="0"/>
              </a:spcBef>
              <a:spcAft>
                <a:spcPts val="0"/>
              </a:spcAft>
              <a:buNone/>
            </a:pPr>
            <a:r>
              <a:t>Altos costos de IA: El uso de inteligencia artificial podría aumentar considerablemente los costos de operación.</a:t>
            </a:r>
            <a:endParaRPr/>
          </a:p>
          <a:p xmlns:a="http://schemas.openxmlformats.org/drawingml/2006/main">
            <a:pPr marL="0" lvl="0" indent="0" algn="l">
              <a:spcBef>
                <a:spcPts val="0"/>
              </a:spcBef>
              <a:spcAft>
                <a:spcPts val="0"/>
              </a:spcAft>
              <a:buNone/>
            </a:pPr>
            <a:r>
              <a:t>Equipo reducido: Contar con pocas personas puede dificultar el desarrollo y cumplimiento de los plazos.</a:t>
            </a:r>
            <a:endParaRPr/>
          </a:p>
          <a:p xmlns:a="http://schemas.openxmlformats.org/drawingml/2006/main">
            <a:pPr marL="0" lvl="0" indent="0" algn="l">
              <a:spcBef>
                <a:spcPts val="0"/>
              </a:spcBef>
              <a:spcAft>
                <a:spcPts val="0"/>
              </a:spcAft>
              <a:buNone/>
            </a:pPr>
            <a:r>
              <a:t>Poca participación de empresas: Si no existen suficientes ofertas laborales, la plataforma pierde atractivo para los egresados.</a:t>
            </a:r>
            <a:endParaRPr/>
          </a:p>
          <a:p xmlns:a="http://schemas.openxmlformats.org/drawingml/2006/main">
            <a:pPr marL="0" lvl="0" indent="0" algn="l">
              <a:spcBef>
                <a:spcPts val="0"/>
              </a:spcBef>
              <a:spcAft>
                <a:spcPts val="0"/>
              </a:spcAft>
              <a:buNone/>
            </a:pPr>
            <a:r>
              <a:t>Complejidad técnica y alcance: Implementar todas las funcionalidades propuestas dentro del tiempo disponible puede ser difícil.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Modelo propuesto, no ingresos actuales. El MVP se desarrolla con servicios gratuitos y sin cobros implementados. El contenido del plan Premium debe validarse antes de definir precios. La idea original de 10 postulaciones automáticas al día no está implementada y no se ofrece como funcionalidad actual. No hay evidencia de disposición a pagar ni de alianzas institucionales vigentes.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12.</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Modelo de negocio</a:t>
            </a:r>
            <a:endParaRPr/>
          </a:p>
          <a:p xmlns:a="http://schemas.openxmlformats.org/drawingml/2006/main">
            <a:pPr marL="0" lvl="0" indent="0" algn="l">
              <a:spcBef>
                <a:spcPts val="0"/>
              </a:spcBef>
              <a:spcAft>
                <a:spcPts val="0"/>
              </a:spcAft>
              <a:buNone/>
            </a:pPr>
            <a:r>
              <a:t>Plan Premium accesible: mantiene gratuitas las funciones esenciales de búsqueda y postulación, y ofrece herramientas adicionales como IA avanzada, mejora de perfil, simulación de entrevistas, recomendaciones personalizadas, estadísticas profesionales y postulación diaria automática (10 diarias).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Se conservan los dos mockups de la presentación original y se corrige la imagen que estaba fuera de la diapositiva. Son referencias de diseño; las siguientes diapositivas muestran capturas del producto desarrollado.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13.</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Mockup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 sugerido para la demo: registrar un egresado, completar el portafolio, añadir habilidades y proyectos y publicar voluntariamente el enlace. El perfil incorpora foto, video de presentación de hasta un minuto, certificaciones mediante documentos o enlaces, demos, repositorio, QR, experiencia laboral sin exigencia de título y enlace al título. El contacto es opcional en el portafolio público. La captura corresponde a un entorno local de prueba, no a un usuario real. La afinidad con ofertas usa carrera y habilidades y se muestra discretamente en las diez ofertas más afines.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Empresas: editar información y foto, crear ofertas con sueldo mensual bruto CLP, funciones, información del cargo, perfiles deseados, condiciones y accesibilidad; agregar preguntas interactivas; revisar antecedentes y portafolio de candidatos. Los postulantes se ordenan por afinidad calculada con reglas; los diez primeros se destacan. Se pueden cerrar convocatorias y guardar la persona seleccionada de forma privada. Los egresados ven el cierre, no la identidad elegida. Las notificaciones reflejan cambios. IA: integración Gemini implementada para revisar presentación, explicar requisitos de una oferta, practicar una entrevista diaria de cinco preguntas y recibir retroalimentación; recomienda sitios oficiales para certificaciones. La captura de IA es de un entorno local sin clave: ilustra la interfaz y no una respuesta real del proveedor. No se entrenó un modelo propio ni se automatiza la contratación. Los 100 empleos y 10 empresas de prueba son datos ficticios, no tracción comercial.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Cierre sugerido: invitar al docente y a posibles usuarios a probar el recorrido de egresado y empresa. El objetivo es facilitar que el talento inicial sea visible; no prometer empleo ni resultados de contratación. Próximos pasos: piloto real, medir facilidad de uso y pertinencia, completar validación de carga y seguridad y ajustar el alcance de las funciones futuras. La URL pública sirve para la demostración; verificar el último despliegue antes de exponer.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Referencia: presentación original, diapositiva 14.</a:t>
            </a:r>
            <a:endParaRPr/>
          </a:p>
          <a:p xmlns:a="http://schemas.openxmlformats.org/drawingml/2006/main">
            <a:pPr marL="0" lvl="0" indent="0" algn="l">
              <a:spcBef>
                <a:spcPts val="0"/>
              </a:spcBef>
              <a:spcAft>
                <a:spcPts val="0"/>
              </a:spcAft>
              <a:buNone/>
            </a:pPr>
            <a:r>
              <a:t>Texto original conservado para consulta:</a:t>
            </a:r>
            <a:endParaRPr/>
          </a:p>
          <a:p xmlns:a="http://schemas.openxmlformats.org/drawingml/2006/main">
            <a:pPr marL="0" lvl="0" indent="0" algn="l">
              <a:spcBef>
                <a:spcPts val="0"/>
              </a:spcBef>
              <a:spcAft>
                <a:spcPts val="0"/>
              </a:spcAft>
              <a:buNone/>
            </a:pPr>
            <a:r>
              <a:t>Conclusión	</a:t>
            </a:r>
            <a:endParaRPr/>
          </a:p>
          <a:p xmlns:a="http://schemas.openxmlformats.org/drawingml/2006/main">
            <a:pPr marL="0" lvl="0" indent="0" algn="l">
              <a:spcBef>
                <a:spcPts val="0"/>
              </a:spcBef>
              <a:spcAft>
                <a:spcPts val="0"/>
              </a:spcAft>
              <a:buNone/>
            </a:pPr>
            <a:r>
              <a:t>BranchIT busca facilitar la inserción laboral de personas recién egresadas mediante una plataforma enfocada en oportunidades para usuarios con poca o ninguna experiencia. El proyecto combina desarrollo web, gestión de información e inteligencia artificial para entregar orientación profesional, conectar talento con empresas y apoyar el crecimiento laboral de los usuarios. Su desarrollo permite aplicar competencias propias de Ingeniería en Informática y, al mismo tiempo, proponer una solución tecnológica con potencial de impacto social y laboral.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b88f00ac0140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22f63a277649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92b444df5840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c3650c5f4146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a1c6170e714b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d433f3fff2432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e82c94f467f4b7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1afee2d30474d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cb62c26274046c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e4f421af6fd456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9e61b68c0424953"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dk1"/>
        </a:solidFill>
      </p:bgPr>
    </p:bg>
    <p:spTree>
      <p:nvGrpSpPr>
        <p:cNvPr id="1" name=""/>
        <p:cNvGrpSpPr/>
        <p:nvPr/>
      </p:nvGrpSpPr>
      <p:grpSpPr>
        <a:xfrm xmlns:a="http://schemas.openxmlformats.org/drawingml/2006/main"/>
      </p:grpSpPr>
      <p:cxnSp>
        <p:nvCxnSpPr>
          <p:cNvPr id="10" name="Google Shape;10;p2">
            <a:extLst xmlns:a="http://schemas.openxmlformats.org/drawingml/2006/main">
              <a:ext uri="{FF2B5EF4-FFF2-40B4-BE49-F238E27FC236}">
                <a16:creationId xmlns:a16="http://schemas.microsoft.com/office/drawing/2014/main" id="{1A43753A-D251-4825-AA5E-B705456D8950}"/>
              </a:ext>
            </a:extLst>
          </p:cNvPr>
          <p:cNvCxnSpPr/>
          <p:nvPr/>
        </p:nvCxnSpPr>
        <p:spPr>
          <a:xfrm xmlns:a="http://schemas.openxmlformats.org/drawingml/2006/main">
            <a:off x="0" y="2998150"/>
            <a:ext cx="9144000" cy="0"/>
          </a:xfrm>
          <a:prstGeom xmlns:a="http://schemas.openxmlformats.org/drawingml/2006/main" prst="straightConnector1">
            <a:avLst/>
          </a:prstGeom>
          <a:ln xmlns:a="http://schemas.openxmlformats.org/drawingml/2006/main" w="19050" cap="flat">
            <a:solidFill>
              <a:schemeClr val="lt2"/>
            </a:solidFill>
            <a:prstDash val="solid"/>
            <a:round/>
            <a:headEnd type="none" w="sm" len="sm"/>
            <a:tailEnd type="none" w="sm" len="sm"/>
          </a:ln>
        </p:spPr>
      </p:cxnSp>
      <p:sp>
        <p:nvSpPr>
          <p:cNvPr id="11" name="Google Shape;11;p2">
            <a:extLst xmlns:a="http://schemas.openxmlformats.org/drawingml/2006/main">
              <a:ext uri="{FF2B5EF4-FFF2-40B4-BE49-F238E27FC236}">
                <a16:creationId xmlns:a16="http://schemas.microsoft.com/office/drawing/2014/main" id="{E7264E4B-3166-4705-A184-68F2BBD310B6}"/>
              </a:ext>
            </a:extLst>
          </p:cNvPr>
          <p:cNvSpPr>
            <a:spLocks xmlns:a="http://schemas.openxmlformats.org/drawingml/2006/main" noGrp="1"/>
          </p:cNvSpPr>
          <p:nvPr>
            <p:ph type="ctrTitle" idx="0"/>
          </p:nvPr>
        </p:nvSpPr>
        <p:spPr>
          <a:xfrm xmlns:a="http://schemas.openxmlformats.org/drawingml/2006/main">
            <a:off x="510450" y="1257300"/>
            <a:ext cx="8123100" cy="1588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Clr>
                <a:schemeClr val="lt1"/>
              </a:buClr>
              <a:buSzPts val="4800"/>
              <a:buNone/>
              <a:defRPr sz="4800">
                <a:solidFill>
                  <a:schemeClr val="lt1"/>
                </a:solidFill>
              </a:defRPr>
            </a:lvl1pPr>
            <a:lvl2pPr>
              <a:spcBef>
                <a:spcPts val="0"/>
              </a:spcBef>
              <a:spcAft>
                <a:spcPts val="0"/>
              </a:spcAft>
              <a:buClr>
                <a:schemeClr val="lt1"/>
              </a:buClr>
              <a:buSzPts val="4800"/>
              <a:buNone/>
              <a:defRPr sz="4800">
                <a:solidFill>
                  <a:schemeClr val="lt1"/>
                </a:solidFill>
              </a:defRPr>
            </a:lvl2pPr>
            <a:lvl3pPr>
              <a:spcBef>
                <a:spcPts val="0"/>
              </a:spcBef>
              <a:spcAft>
                <a:spcPts val="0"/>
              </a:spcAft>
              <a:buClr>
                <a:schemeClr val="lt1"/>
              </a:buClr>
              <a:buSzPts val="4800"/>
              <a:buNone/>
              <a:defRPr sz="4800">
                <a:solidFill>
                  <a:schemeClr val="lt1"/>
                </a:solidFill>
              </a:defRPr>
            </a:lvl3pPr>
            <a:lvl4pPr>
              <a:spcBef>
                <a:spcPts val="0"/>
              </a:spcBef>
              <a:spcAft>
                <a:spcPts val="0"/>
              </a:spcAft>
              <a:buClr>
                <a:schemeClr val="lt1"/>
              </a:buClr>
              <a:buSzPts val="4800"/>
              <a:buNone/>
              <a:defRPr sz="4800">
                <a:solidFill>
                  <a:schemeClr val="lt1"/>
                </a:solidFill>
              </a:defRPr>
            </a:lvl4pPr>
            <a:lvl5pPr>
              <a:spcBef>
                <a:spcPts val="0"/>
              </a:spcBef>
              <a:spcAft>
                <a:spcPts val="0"/>
              </a:spcAft>
              <a:buClr>
                <a:schemeClr val="lt1"/>
              </a:buClr>
              <a:buSzPts val="4800"/>
              <a:buNone/>
              <a:defRPr sz="4800">
                <a:solidFill>
                  <a:schemeClr val="lt1"/>
                </a:solidFill>
              </a:defRPr>
            </a:lvl5pPr>
            <a:lvl6pPr>
              <a:spcBef>
                <a:spcPts val="0"/>
              </a:spcBef>
              <a:spcAft>
                <a:spcPts val="0"/>
              </a:spcAft>
              <a:buClr>
                <a:schemeClr val="lt1"/>
              </a:buClr>
              <a:buSzPts val="4800"/>
              <a:buNone/>
              <a:defRPr sz="4800">
                <a:solidFill>
                  <a:schemeClr val="lt1"/>
                </a:solidFill>
              </a:defRPr>
            </a:lvl6pPr>
            <a:lvl7pPr>
              <a:spcBef>
                <a:spcPts val="0"/>
              </a:spcBef>
              <a:spcAft>
                <a:spcPts val="0"/>
              </a:spcAft>
              <a:buClr>
                <a:schemeClr val="lt1"/>
              </a:buClr>
              <a:buSzPts val="4800"/>
              <a:buNone/>
              <a:defRPr sz="4800">
                <a:solidFill>
                  <a:schemeClr val="lt1"/>
                </a:solidFill>
              </a:defRPr>
            </a:lvl7pPr>
            <a:lvl8pPr>
              <a:spcBef>
                <a:spcPts val="0"/>
              </a:spcBef>
              <a:spcAft>
                <a:spcPts val="0"/>
              </a:spcAft>
              <a:buClr>
                <a:schemeClr val="lt1"/>
              </a:buClr>
              <a:buSzPts val="4800"/>
              <a:buNone/>
              <a:defRPr sz="4800">
                <a:solidFill>
                  <a:schemeClr val="lt1"/>
                </a:solidFill>
              </a:defRPr>
            </a:lvl8pPr>
            <a:lvl9pPr>
              <a:spcBef>
                <a:spcPts val="0"/>
              </a:spcBef>
              <a:spcAft>
                <a:spcPts val="0"/>
              </a:spcAft>
              <a:buClr>
                <a:schemeClr val="lt1"/>
              </a:buClr>
              <a:buSzPts val="4800"/>
              <a:buNone/>
              <a:defRPr sz="4800">
                <a:solidFill>
                  <a:schemeClr val="lt1"/>
                </a:solidFill>
              </a:defRPr>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FA488BED-9973-4200-80F0-79FA0534BC4D}"/>
              </a:ext>
            </a:extLst>
          </p:cNvPr>
          <p:cNvSpPr>
            <a:spLocks xmlns:a="http://schemas.openxmlformats.org/drawingml/2006/main" noGrp="1"/>
          </p:cNvSpPr>
          <p:nvPr>
            <p:ph type="subTitle" idx="1"/>
          </p:nvPr>
        </p:nvSpPr>
        <p:spPr>
          <a:xfrm xmlns:a="http://schemas.openxmlformats.org/drawingml/2006/main">
            <a:off x="510450" y="3182313"/>
            <a:ext cx="8123100" cy="6300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lt1"/>
              </a:buClr>
              <a:buSzPts val="2400"/>
              <a:buNone/>
              <a:defRPr sz="2400">
                <a:solidFill>
                  <a:schemeClr val="lt1"/>
                </a:solidFill>
              </a:defRPr>
            </a:lvl1pPr>
            <a:lvl2pPr>
              <a:lnSpc>
                <a:spcPct val="100000"/>
              </a:lnSpc>
              <a:spcBef>
                <a:spcPts val="0"/>
              </a:spcBef>
              <a:spcAft>
                <a:spcPts val="0"/>
              </a:spcAft>
              <a:buClr>
                <a:schemeClr val="lt1"/>
              </a:buClr>
              <a:buSzPts val="2400"/>
              <a:buNone/>
              <a:defRPr sz="2400">
                <a:solidFill>
                  <a:schemeClr val="lt1"/>
                </a:solidFill>
              </a:defRPr>
            </a:lvl2pPr>
            <a:lvl3pPr>
              <a:lnSpc>
                <a:spcPct val="100000"/>
              </a:lnSpc>
              <a:spcBef>
                <a:spcPts val="0"/>
              </a:spcBef>
              <a:spcAft>
                <a:spcPts val="0"/>
              </a:spcAft>
              <a:buClr>
                <a:schemeClr val="lt1"/>
              </a:buClr>
              <a:buSzPts val="2400"/>
              <a:buNone/>
              <a:defRPr sz="2400">
                <a:solidFill>
                  <a:schemeClr val="lt1"/>
                </a:solidFill>
              </a:defRPr>
            </a:lvl3pPr>
            <a:lvl4pPr>
              <a:lnSpc>
                <a:spcPct val="100000"/>
              </a:lnSpc>
              <a:spcBef>
                <a:spcPts val="0"/>
              </a:spcBef>
              <a:spcAft>
                <a:spcPts val="0"/>
              </a:spcAft>
              <a:buClr>
                <a:schemeClr val="lt1"/>
              </a:buClr>
              <a:buSzPts val="2400"/>
              <a:buNone/>
              <a:defRPr sz="2400">
                <a:solidFill>
                  <a:schemeClr val="lt1"/>
                </a:solidFill>
              </a:defRPr>
            </a:lvl4pPr>
            <a:lvl5pPr>
              <a:lnSpc>
                <a:spcPct val="100000"/>
              </a:lnSpc>
              <a:spcBef>
                <a:spcPts val="0"/>
              </a:spcBef>
              <a:spcAft>
                <a:spcPts val="0"/>
              </a:spcAft>
              <a:buClr>
                <a:schemeClr val="lt1"/>
              </a:buClr>
              <a:buSzPts val="2400"/>
              <a:buNone/>
              <a:defRPr sz="2400">
                <a:solidFill>
                  <a:schemeClr val="lt1"/>
                </a:solidFill>
              </a:defRPr>
            </a:lvl5pPr>
            <a:lvl6pPr>
              <a:lnSpc>
                <a:spcPct val="100000"/>
              </a:lnSpc>
              <a:spcBef>
                <a:spcPts val="0"/>
              </a:spcBef>
              <a:spcAft>
                <a:spcPts val="0"/>
              </a:spcAft>
              <a:buClr>
                <a:schemeClr val="lt1"/>
              </a:buClr>
              <a:buSzPts val="2400"/>
              <a:buNone/>
              <a:defRPr sz="2400">
                <a:solidFill>
                  <a:schemeClr val="lt1"/>
                </a:solidFill>
              </a:defRPr>
            </a:lvl6pPr>
            <a:lvl7pPr>
              <a:lnSpc>
                <a:spcPct val="100000"/>
              </a:lnSpc>
              <a:spcBef>
                <a:spcPts val="0"/>
              </a:spcBef>
              <a:spcAft>
                <a:spcPts val="0"/>
              </a:spcAft>
              <a:buClr>
                <a:schemeClr val="lt1"/>
              </a:buClr>
              <a:buSzPts val="2400"/>
              <a:buNone/>
              <a:defRPr sz="2400">
                <a:solidFill>
                  <a:schemeClr val="lt1"/>
                </a:solidFill>
              </a:defRPr>
            </a:lvl7pPr>
            <a:lvl8pPr>
              <a:lnSpc>
                <a:spcPct val="100000"/>
              </a:lnSpc>
              <a:spcBef>
                <a:spcPts val="0"/>
              </a:spcBef>
              <a:spcAft>
                <a:spcPts val="0"/>
              </a:spcAft>
              <a:buClr>
                <a:schemeClr val="lt1"/>
              </a:buClr>
              <a:buSzPts val="2400"/>
              <a:buNone/>
              <a:defRPr sz="2400">
                <a:solidFill>
                  <a:schemeClr val="lt1"/>
                </a:solidFill>
              </a:defRPr>
            </a:lvl8pPr>
            <a:lvl9pPr>
              <a:lnSpc>
                <a:spcPct val="100000"/>
              </a:lnSpc>
              <a:spcBef>
                <a:spcPts val="0"/>
              </a:spcBef>
              <a:spcAft>
                <a:spcPts val="0"/>
              </a:spcAft>
              <a:buClr>
                <a:schemeClr val="lt1"/>
              </a:buClr>
              <a:buSzPts val="2400"/>
              <a:buNone/>
              <a:defRPr sz="24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F4539DA6-1F84-42C2-A744-D5970EB2A69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bg>
      <p:bgPr>
        <a:solidFill xmlns:a="http://schemas.openxmlformats.org/drawingml/2006/main">
          <a:schemeClr val="dk1"/>
        </a:solidFill>
      </p:bgPr>
    </p:bg>
    <p:spTree>
      <p:nvGrpSpPr>
        <p:cNvPr id="1" name=""/>
        <p:cNvGrpSpPr/>
        <p:nvPr/>
      </p:nvGrpSpPr>
      <p:grpSpPr>
        <a:xfrm xmlns:a="http://schemas.openxmlformats.org/drawingml/2006/main"/>
      </p:grpSpPr>
      <p:cxnSp>
        <p:nvCxnSpPr>
          <p:cNvPr id="15" name="Google Shape;15;p3">
            <a:extLst xmlns:a="http://schemas.openxmlformats.org/drawingml/2006/main">
              <a:ext uri="{FF2B5EF4-FFF2-40B4-BE49-F238E27FC236}">
                <a16:creationId xmlns:a16="http://schemas.microsoft.com/office/drawing/2014/main" id="{A2972CDB-61D0-4718-AC42-10EFC74A86D1}"/>
              </a:ext>
            </a:extLst>
          </p:cNvPr>
          <p:cNvCxnSpPr/>
          <p:nvPr/>
        </p:nvCxnSpPr>
        <p:spPr>
          <a:xfrm xmlns:a="http://schemas.openxmlformats.org/drawingml/2006/main">
            <a:off x="0" y="2998150"/>
            <a:ext cx="9144000" cy="0"/>
          </a:xfrm>
          <a:prstGeom xmlns:a="http://schemas.openxmlformats.org/drawingml/2006/main" prst="straightConnector1">
            <a:avLst/>
          </a:prstGeom>
          <a:ln xmlns:a="http://schemas.openxmlformats.org/drawingml/2006/main" w="19050" cap="flat">
            <a:solidFill>
              <a:schemeClr val="lt2"/>
            </a:solidFill>
            <a:prstDash val="solid"/>
            <a:round/>
            <a:headEnd type="none" w="sm" len="sm"/>
            <a:tailEnd type="none" w="sm" len="sm"/>
          </a:ln>
        </p:spPr>
      </p:cxnSp>
      <p:sp>
        <p:nvSpPr>
          <p:cNvPr id="16" name="Google Shape;16;p3">
            <a:extLst xmlns:a="http://schemas.openxmlformats.org/drawingml/2006/main">
              <a:ext uri="{FF2B5EF4-FFF2-40B4-BE49-F238E27FC236}">
                <a16:creationId xmlns:a16="http://schemas.microsoft.com/office/drawing/2014/main" id="{B4FE3F06-DA55-4BB3-8487-0B89B62EA2E4}"/>
              </a:ext>
            </a:extLst>
          </p:cNvPr>
          <p:cNvSpPr>
            <a:spLocks xmlns:a="http://schemas.openxmlformats.org/drawingml/2006/main" noGrp="1"/>
          </p:cNvSpPr>
          <p:nvPr>
            <p:ph type="title" idx="0"/>
          </p:nvPr>
        </p:nvSpPr>
        <p:spPr>
          <a:xfrm xmlns:a="http://schemas.openxmlformats.org/drawingml/2006/main">
            <a:off x="510450" y="2057400"/>
            <a:ext cx="8123100" cy="7788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8DCD50E6-98C1-413E-B399-E5374C21360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9" name="Google Shape;19;p4">
            <a:extLst xmlns:a="http://schemas.openxmlformats.org/drawingml/2006/main">
              <a:ext uri="{FF2B5EF4-FFF2-40B4-BE49-F238E27FC236}">
                <a16:creationId xmlns:a16="http://schemas.microsoft.com/office/drawing/2014/main" id="{800DB0DA-6137-47FC-92A4-5B0B92FA7AF0}"/>
              </a:ext>
            </a:extLst>
          </p:cNvPr>
          <p:cNvSpPr>
            <a:spLocks xmlns:a="http://schemas.openxmlformats.org/drawingml/2006/main" noGrp="1"/>
          </p:cNvSpPr>
          <p:nvPr/>
        </p:nvSpPr>
        <p:spPr>
          <a:xfrm xmlns:a="http://schemas.openxmlformats.org/drawingml/2006/main">
            <a:off x="0" y="5045700"/>
            <a:ext cx="9144000" cy="9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 name="Google Shape;20;p4">
            <a:extLst xmlns:a="http://schemas.openxmlformats.org/drawingml/2006/main">
              <a:ext uri="{FF2B5EF4-FFF2-40B4-BE49-F238E27FC236}">
                <a16:creationId xmlns:a16="http://schemas.microsoft.com/office/drawing/2014/main" id="{5B3A0737-230E-456C-B431-A8451F31152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5AE63A4C-E864-4AA5-AD82-09B3EDD8BF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22" name="Google Shape;22;p4">
            <a:extLst xmlns:a="http://schemas.openxmlformats.org/drawingml/2006/main">
              <a:ext uri="{FF2B5EF4-FFF2-40B4-BE49-F238E27FC236}">
                <a16:creationId xmlns:a16="http://schemas.microsoft.com/office/drawing/2014/main" id="{4ECC1C35-8D67-4077-82D4-068505A277F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4" name="Google Shape;24;p5">
            <a:extLst xmlns:a="http://schemas.openxmlformats.org/drawingml/2006/main">
              <a:ext uri="{FF2B5EF4-FFF2-40B4-BE49-F238E27FC236}">
                <a16:creationId xmlns:a16="http://schemas.microsoft.com/office/drawing/2014/main" id="{386C813F-E2A0-46EB-AFC6-7752E7850BF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5" name="Google Shape;25;p5">
            <a:extLst xmlns:a="http://schemas.openxmlformats.org/drawingml/2006/main">
              <a:ext uri="{FF2B5EF4-FFF2-40B4-BE49-F238E27FC236}">
                <a16:creationId xmlns:a16="http://schemas.microsoft.com/office/drawing/2014/main" id="{FE099A63-96CA-4784-BFE4-10BEE6EBB97D}"/>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31100C5A-C011-4F0F-8776-1C7861D627A2}"/>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180D56E8-E426-43BC-9303-3EBC7697A1F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C5A26017-406F-4612-A7E7-22795ABCE5B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30" name="Google Shape;30;p6">
            <a:extLst xmlns:a="http://schemas.openxmlformats.org/drawingml/2006/main">
              <a:ext uri="{FF2B5EF4-FFF2-40B4-BE49-F238E27FC236}">
                <a16:creationId xmlns:a16="http://schemas.microsoft.com/office/drawing/2014/main" id="{5168041D-B1BC-4792-8DC0-3073C054AE9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2" name="Google Shape;32;p7">
            <a:extLst xmlns:a="http://schemas.openxmlformats.org/drawingml/2006/main">
              <a:ext uri="{FF2B5EF4-FFF2-40B4-BE49-F238E27FC236}">
                <a16:creationId xmlns:a16="http://schemas.microsoft.com/office/drawing/2014/main" id="{BAD75222-FDA6-4972-904B-3D04760EBBE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3" name="Google Shape;33;p7">
            <a:extLst xmlns:a="http://schemas.openxmlformats.org/drawingml/2006/main">
              <a:ext uri="{FF2B5EF4-FFF2-40B4-BE49-F238E27FC236}">
                <a16:creationId xmlns:a16="http://schemas.microsoft.com/office/drawing/2014/main" id="{C493C6BC-16AB-479A-B03A-548C1A9376EE}"/>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4" name="Google Shape;34;p7">
            <a:extLst xmlns:a="http://schemas.openxmlformats.org/drawingml/2006/main">
              <a:ext uri="{FF2B5EF4-FFF2-40B4-BE49-F238E27FC236}">
                <a16:creationId xmlns:a16="http://schemas.microsoft.com/office/drawing/2014/main" id="{9DA88DDF-F0D0-424D-87A2-940FEB4D97A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36" name="Google Shape;36;p8">
            <a:extLst xmlns:a="http://schemas.openxmlformats.org/drawingml/2006/main">
              <a:ext uri="{FF2B5EF4-FFF2-40B4-BE49-F238E27FC236}">
                <a16:creationId xmlns:a16="http://schemas.microsoft.com/office/drawing/2014/main" id="{CFB7D362-AF71-4A90-9642-A92112E65FCF}"/>
              </a:ext>
            </a:extLst>
          </p:cNvPr>
          <p:cNvSpPr>
            <a:spLocks xmlns:a="http://schemas.openxmlformats.org/drawingml/2006/main" noGrp="1"/>
          </p:cNvSpPr>
          <p:nvPr>
            <p:ph type="title" idx="0"/>
          </p:nvPr>
        </p:nvSpPr>
        <p:spPr>
          <a:xfrm xmlns:a="http://schemas.openxmlformats.org/drawingml/2006/main">
            <a:off x="490250" y="526350"/>
            <a:ext cx="57975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7" name="Google Shape;37;p8">
            <a:extLst xmlns:a="http://schemas.openxmlformats.org/drawingml/2006/main">
              <a:ext uri="{FF2B5EF4-FFF2-40B4-BE49-F238E27FC236}">
                <a16:creationId xmlns:a16="http://schemas.microsoft.com/office/drawing/2014/main" id="{119858D0-2D89-4798-BE15-EFF127A3479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9" name="Google Shape;39;p9">
            <a:extLst xmlns:a="http://schemas.openxmlformats.org/drawingml/2006/main">
              <a:ext uri="{FF2B5EF4-FFF2-40B4-BE49-F238E27FC236}">
                <a16:creationId xmlns:a16="http://schemas.microsoft.com/office/drawing/2014/main" id="{07C6227A-9F21-419D-981F-DCC20E097608}"/>
              </a:ext>
            </a:extLst>
          </p:cNvPr>
          <p:cNvSpPr>
            <a:spLocks xmlns:a="http://schemas.openxmlformats.org/drawingml/2006/main" noGrp="1"/>
          </p:cNvSpPr>
          <p:nvPr/>
        </p:nvSpPr>
        <p:spPr>
          <a:xfrm xmlns:a="http://schemas.openxmlformats.org/drawingml/2006/main">
            <a:off x="4572000" y="75"/>
            <a:ext cx="45720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40" name="Google Shape;40;p9">
            <a:extLst xmlns:a="http://schemas.openxmlformats.org/drawingml/2006/main">
              <a:ext uri="{FF2B5EF4-FFF2-40B4-BE49-F238E27FC236}">
                <a16:creationId xmlns:a16="http://schemas.microsoft.com/office/drawing/2014/main" id="{85BFA718-C629-4677-9675-080008355BE2}"/>
              </a:ext>
            </a:extLst>
          </p:cNvPr>
          <p:cNvCxnSpPr/>
          <p:nvPr/>
        </p:nvCxnSpPr>
        <p:spPr>
          <a:xfrm xmlns:a="http://schemas.openxmlformats.org/drawingml/2006/main">
            <a:off x="5029675" y="4495500"/>
            <a:ext cx="468300" cy="0"/>
          </a:xfrm>
          <a:prstGeom xmlns:a="http://schemas.openxmlformats.org/drawingml/2006/main" prst="straightConnector1">
            <a:avLst/>
          </a:prstGeom>
          <a:ln xmlns:a="http://schemas.openxmlformats.org/drawingml/2006/main" w="19050" cap="flat">
            <a:solidFill>
              <a:schemeClr val="lt2"/>
            </a:solidFill>
            <a:prstDash val="solid"/>
            <a:round/>
            <a:headEnd type="none" w="sm" len="sm"/>
            <a:tailEnd type="none" w="sm" len="sm"/>
          </a:ln>
        </p:spPr>
      </p:cxnSp>
      <p:sp>
        <p:nvSpPr>
          <p:cNvPr id="41" name="Google Shape;41;p9">
            <a:extLst xmlns:a="http://schemas.openxmlformats.org/drawingml/2006/main">
              <a:ext uri="{FF2B5EF4-FFF2-40B4-BE49-F238E27FC236}">
                <a16:creationId xmlns:a16="http://schemas.microsoft.com/office/drawing/2014/main" id="{CCB954CC-90CF-4496-9543-F7CE8C605F49}"/>
              </a:ext>
            </a:extLst>
          </p:cNvPr>
          <p:cNvSpPr>
            <a:spLocks xmlns:a="http://schemas.openxmlformats.org/drawingml/2006/main" noGrp="1"/>
          </p:cNvSpPr>
          <p:nvPr>
            <p:ph type="title" idx="0"/>
          </p:nvPr>
        </p:nvSpPr>
        <p:spPr>
          <a:xfrm xmlns:a="http://schemas.openxmlformats.org/drawingml/2006/main">
            <a:off x="265500" y="1205825"/>
            <a:ext cx="4045200" cy="1509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42" name="Google Shape;42;p9">
            <a:extLst xmlns:a="http://schemas.openxmlformats.org/drawingml/2006/main">
              <a:ext uri="{FF2B5EF4-FFF2-40B4-BE49-F238E27FC236}">
                <a16:creationId xmlns:a16="http://schemas.microsoft.com/office/drawing/2014/main" id="{231B99E4-F598-4D99-8BDF-0718B3B47B49}"/>
              </a:ext>
            </a:extLst>
          </p:cNvPr>
          <p:cNvSpPr>
            <a:spLocks xmlns:a="http://schemas.openxmlformats.org/drawingml/2006/main" noGrp="1"/>
          </p:cNvSpPr>
          <p:nvPr>
            <p:ph type="subTitle" idx="1"/>
          </p:nvPr>
        </p:nvSpPr>
        <p:spPr>
          <a:xfrm xmlns:a="http://schemas.openxmlformats.org/drawingml/2006/main">
            <a:off x="265500" y="2769001"/>
            <a:ext cx="4045200" cy="1345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3" name="Google Shape;43;p9">
            <a:extLst xmlns:a="http://schemas.openxmlformats.org/drawingml/2006/main">
              <a:ext uri="{FF2B5EF4-FFF2-40B4-BE49-F238E27FC236}">
                <a16:creationId xmlns:a16="http://schemas.microsoft.com/office/drawing/2014/main" id="{7B7CDFE5-8BCE-472B-8A40-342A8F3083DC}"/>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Clr>
                <a:schemeClr val="lt1"/>
              </a:buClr>
              <a:buSzPts val="1800"/>
              <a:buChar char="●"/>
              <a:defRPr>
                <a:solidFill>
                  <a:schemeClr val="lt1"/>
                </a:solidFill>
              </a:defRPr>
            </a:lvl1pPr>
            <a:lvl2pPr marL="914400" indent="-317500">
              <a:spcBef>
                <a:spcPts val="0"/>
              </a:spcBef>
              <a:spcAft>
                <a:spcPts val="0"/>
              </a:spcAft>
              <a:buClr>
                <a:schemeClr val="lt1"/>
              </a:buClr>
              <a:buSzPts val="1400"/>
              <a:buChar char="○"/>
              <a:defRPr>
                <a:solidFill>
                  <a:schemeClr val="lt1"/>
                </a:solidFill>
              </a:defRPr>
            </a:lvl2pPr>
            <a:lvl3pPr marL="1371600" indent="-317500">
              <a:spcBef>
                <a:spcPts val="0"/>
              </a:spcBef>
              <a:spcAft>
                <a:spcPts val="0"/>
              </a:spcAft>
              <a:buClr>
                <a:schemeClr val="lt1"/>
              </a:buClr>
              <a:buSzPts val="1400"/>
              <a:buChar char="■"/>
              <a:defRPr>
                <a:solidFill>
                  <a:schemeClr val="lt1"/>
                </a:solidFill>
              </a:defRPr>
            </a:lvl3pPr>
            <a:lvl4pPr marL="1828800" indent="-317500">
              <a:spcBef>
                <a:spcPts val="0"/>
              </a:spcBef>
              <a:spcAft>
                <a:spcPts val="0"/>
              </a:spcAft>
              <a:buClr>
                <a:schemeClr val="lt1"/>
              </a:buClr>
              <a:buSzPts val="1400"/>
              <a:buChar char="●"/>
              <a:defRPr>
                <a:solidFill>
                  <a:schemeClr val="lt1"/>
                </a:solidFill>
              </a:defRPr>
            </a:lvl4pPr>
            <a:lvl5pPr marL="2286000" indent="-317500">
              <a:spcBef>
                <a:spcPts val="0"/>
              </a:spcBef>
              <a:spcAft>
                <a:spcPts val="0"/>
              </a:spcAft>
              <a:buClr>
                <a:schemeClr val="lt1"/>
              </a:buClr>
              <a:buSzPts val="1400"/>
              <a:buChar char="○"/>
              <a:defRPr>
                <a:solidFill>
                  <a:schemeClr val="lt1"/>
                </a:solidFill>
              </a:defRPr>
            </a:lvl5pPr>
            <a:lvl6pPr marL="2743200" indent="-317500">
              <a:spcBef>
                <a:spcPts val="0"/>
              </a:spcBef>
              <a:spcAft>
                <a:spcPts val="0"/>
              </a:spcAft>
              <a:buClr>
                <a:schemeClr val="lt1"/>
              </a:buClr>
              <a:buSzPts val="1400"/>
              <a:buChar char="■"/>
              <a:defRPr>
                <a:solidFill>
                  <a:schemeClr val="lt1"/>
                </a:solidFill>
              </a:defRPr>
            </a:lvl6pPr>
            <a:lvl7pPr marL="3200400" indent="-317500">
              <a:spcBef>
                <a:spcPts val="0"/>
              </a:spcBef>
              <a:spcAft>
                <a:spcPts val="0"/>
              </a:spcAft>
              <a:buClr>
                <a:schemeClr val="lt1"/>
              </a:buClr>
              <a:buSzPts val="1400"/>
              <a:buChar char="●"/>
              <a:defRPr>
                <a:solidFill>
                  <a:schemeClr val="lt1"/>
                </a:solidFill>
              </a:defRPr>
            </a:lvl7pPr>
            <a:lvl8pPr marL="3657600" indent="-317500">
              <a:spcBef>
                <a:spcPts val="0"/>
              </a:spcBef>
              <a:spcAft>
                <a:spcPts val="0"/>
              </a:spcAft>
              <a:buClr>
                <a:schemeClr val="lt1"/>
              </a:buClr>
              <a:buSzPts val="1400"/>
              <a:buChar char="○"/>
              <a:defRPr>
                <a:solidFill>
                  <a:schemeClr val="lt1"/>
                </a:solidFill>
              </a:defRPr>
            </a:lvl8pPr>
            <a:lvl9pPr marL="4114800" indent="-317500">
              <a:spcBef>
                <a:spcPts val="0"/>
              </a:spcBef>
              <a:spcAft>
                <a:spcPts val="0"/>
              </a:spcAft>
              <a:buClr>
                <a:schemeClr val="lt1"/>
              </a:buClr>
              <a:buSzPts val="1400"/>
              <a:buChar char="■"/>
              <a:defRPr>
                <a:solidFill>
                  <a:schemeClr val="lt1"/>
                </a:solidFill>
              </a:defRPr>
            </a:lvl9pPr>
          </a:lstStyle>
          <a:p xmlns:a="http://schemas.openxmlformats.org/drawingml/2006/main"/>
        </p:txBody>
      </p:sp>
      <p:sp>
        <p:nvSpPr>
          <p:cNvPr id="44" name="Google Shape;44;p9">
            <a:extLst xmlns:a="http://schemas.openxmlformats.org/drawingml/2006/main">
              <a:ext uri="{FF2B5EF4-FFF2-40B4-BE49-F238E27FC236}">
                <a16:creationId xmlns:a16="http://schemas.microsoft.com/office/drawing/2014/main" id="{793A7C59-8BAC-4DB4-B35A-B8CBCBE2303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6" name="Google Shape;46;p10">
            <a:extLst xmlns:a="http://schemas.openxmlformats.org/drawingml/2006/main">
              <a:ext uri="{FF2B5EF4-FFF2-40B4-BE49-F238E27FC236}">
                <a16:creationId xmlns:a16="http://schemas.microsoft.com/office/drawing/2014/main" id="{E7371740-6B73-4666-9267-738469C3E4A6}"/>
              </a:ext>
            </a:extLst>
          </p:cNvPr>
          <p:cNvSpPr>
            <a:spLocks xmlns:a="http://schemas.openxmlformats.org/drawingml/2006/main" noGrp="1"/>
          </p:cNvSpPr>
          <p:nvPr>
            <p:ph type="body" idx="1"/>
          </p:nvPr>
        </p:nvSpPr>
        <p:spPr>
          <a:xfrm xmlns:a="http://schemas.openxmlformats.org/drawingml/2006/main">
            <a:off x="311700" y="4236825"/>
            <a:ext cx="5998800" cy="598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2100"/>
              <a:buNone/>
              <a:defRPr sz="2100"/>
            </a:lvl1pPr>
          </a:lstStyle>
          <a:p xmlns:a="http://schemas.openxmlformats.org/drawingml/2006/main"/>
        </p:txBody>
      </p:sp>
      <p:sp>
        <p:nvSpPr>
          <p:cNvPr id="47" name="Google Shape;47;p10">
            <a:extLst xmlns:a="http://schemas.openxmlformats.org/drawingml/2006/main">
              <a:ext uri="{FF2B5EF4-FFF2-40B4-BE49-F238E27FC236}">
                <a16:creationId xmlns:a16="http://schemas.microsoft.com/office/drawing/2014/main" id="{C5445889-660C-4B8A-8785-D90A9154ED3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9" name="Google Shape;49;p11">
            <a:extLst xmlns:a="http://schemas.openxmlformats.org/drawingml/2006/main">
              <a:ext uri="{FF2B5EF4-FFF2-40B4-BE49-F238E27FC236}">
                <a16:creationId xmlns:a16="http://schemas.microsoft.com/office/drawing/2014/main" id="{B4125C93-CED5-4FE8-B268-4FABD7013240}"/>
              </a:ext>
            </a:extLst>
          </p:cNvPr>
          <p:cNvSpPr>
            <a:spLocks xmlns:a="http://schemas.openxmlformats.org/drawingml/2006/main" noGrp="1"/>
          </p:cNvSpPr>
          <p:nvPr/>
        </p:nvSpPr>
        <p:spPr>
          <a:xfrm xmlns:a="http://schemas.openxmlformats.org/drawingml/2006/main">
            <a:off x="0" y="5045700"/>
            <a:ext cx="9144000" cy="9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 name="Google Shape;50;p11">
            <a:extLst xmlns:a="http://schemas.openxmlformats.org/drawingml/2006/main">
              <a:ext uri="{FF2B5EF4-FFF2-40B4-BE49-F238E27FC236}">
                <a16:creationId xmlns:a16="http://schemas.microsoft.com/office/drawing/2014/main" id="{210778E0-7AB7-458F-BE4B-95954BFA603E}"/>
              </a:ext>
            </a:extLst>
          </p:cNvPr>
          <p:cNvSpPr>
            <a:spLocks xmlns:a="http://schemas.openxmlformats.org/drawingml/2006/main" noGrp="1"/>
          </p:cNvSpPr>
          <p:nvPr>
            <p:ph type="title" idx="0" hasCustomPrompt="1"/>
          </p:nvPr>
        </p:nvSpPr>
        <p:spPr>
          <a:xfrm xmlns:a="http://schemas.openxmlformats.org/drawingml/2006/main">
            <a:off x="311700" y="991475"/>
            <a:ext cx="8520600" cy="19179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14000"/>
              <a:buNone/>
              <a:defRPr sz="14000" b="1"/>
            </a:lvl1pPr>
            <a:lvl2pPr algn="ctr">
              <a:spcBef>
                <a:spcPts val="0"/>
              </a:spcBef>
              <a:spcAft>
                <a:spcPts val="0"/>
              </a:spcAft>
              <a:buSzPts val="14000"/>
              <a:buNone/>
              <a:defRPr sz="14000" b="1"/>
            </a:lvl2pPr>
            <a:lvl3pPr algn="ctr">
              <a:spcBef>
                <a:spcPts val="0"/>
              </a:spcBef>
              <a:spcAft>
                <a:spcPts val="0"/>
              </a:spcAft>
              <a:buSzPts val="14000"/>
              <a:buNone/>
              <a:defRPr sz="14000" b="1"/>
            </a:lvl3pPr>
            <a:lvl4pPr algn="ctr">
              <a:spcBef>
                <a:spcPts val="0"/>
              </a:spcBef>
              <a:spcAft>
                <a:spcPts val="0"/>
              </a:spcAft>
              <a:buSzPts val="14000"/>
              <a:buNone/>
              <a:defRPr sz="14000" b="1"/>
            </a:lvl4pPr>
            <a:lvl5pPr algn="ctr">
              <a:spcBef>
                <a:spcPts val="0"/>
              </a:spcBef>
              <a:spcAft>
                <a:spcPts val="0"/>
              </a:spcAft>
              <a:buSzPts val="14000"/>
              <a:buNone/>
              <a:defRPr sz="14000" b="1"/>
            </a:lvl5pPr>
            <a:lvl6pPr algn="ctr">
              <a:spcBef>
                <a:spcPts val="0"/>
              </a:spcBef>
              <a:spcAft>
                <a:spcPts val="0"/>
              </a:spcAft>
              <a:buSzPts val="14000"/>
              <a:buNone/>
              <a:defRPr sz="14000" b="1"/>
            </a:lvl6pPr>
            <a:lvl7pPr algn="ctr">
              <a:spcBef>
                <a:spcPts val="0"/>
              </a:spcBef>
              <a:spcAft>
                <a:spcPts val="0"/>
              </a:spcAft>
              <a:buSzPts val="14000"/>
              <a:buNone/>
              <a:defRPr sz="14000" b="1"/>
            </a:lvl7pPr>
            <a:lvl8pPr algn="ctr">
              <a:spcBef>
                <a:spcPts val="0"/>
              </a:spcBef>
              <a:spcAft>
                <a:spcPts val="0"/>
              </a:spcAft>
              <a:buSzPts val="14000"/>
              <a:buNone/>
              <a:defRPr sz="14000" b="1"/>
            </a:lvl8pPr>
            <a:lvl9pPr algn="ctr">
              <a:spcBef>
                <a:spcPts val="0"/>
              </a:spcBef>
              <a:spcAft>
                <a:spcPts val="0"/>
              </a:spcAft>
              <a:buSzPts val="14000"/>
              <a:buNone/>
              <a:defRPr sz="14000" b="1"/>
            </a:lvl9pPr>
          </a:lstStyle>
          <a:p xmlns:a="http://schemas.openxmlformats.org/drawingml/2006/main">
            <a:r>
              <a:t>xx%</a:t>
            </a:r>
          </a:p>
        </p:txBody>
      </p:sp>
      <p:sp>
        <p:nvSpPr>
          <p:cNvPr id="51" name="Google Shape;51;p11">
            <a:extLst xmlns:a="http://schemas.openxmlformats.org/drawingml/2006/main">
              <a:ext uri="{FF2B5EF4-FFF2-40B4-BE49-F238E27FC236}">
                <a16:creationId xmlns:a16="http://schemas.microsoft.com/office/drawing/2014/main" id="{0BD8C46B-1FF6-4A2D-AB54-C672CFB0BA30}"/>
              </a:ext>
            </a:extLst>
          </p:cNvPr>
          <p:cNvSpPr>
            <a:spLocks xmlns:a="http://schemas.openxmlformats.org/drawingml/2006/main" noGrp="1"/>
          </p:cNvSpPr>
          <p:nvPr>
            <p:ph type="body" idx="1"/>
          </p:nvPr>
        </p:nvSpPr>
        <p:spPr>
          <a:xfrm xmlns:a="http://schemas.openxmlformats.org/drawingml/2006/main">
            <a:off x="311700" y="3071300"/>
            <a:ext cx="8520600" cy="901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52" name="Google Shape;52;p11">
            <a:extLst xmlns:a="http://schemas.openxmlformats.org/drawingml/2006/main">
              <a:ext uri="{FF2B5EF4-FFF2-40B4-BE49-F238E27FC236}">
                <a16:creationId xmlns:a16="http://schemas.microsoft.com/office/drawing/2014/main" id="{CD92CCC6-09EC-4B58-B374-10EB45D0682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4" name="Google Shape;54;p12">
            <a:extLst xmlns:a="http://schemas.openxmlformats.org/drawingml/2006/main">
              <a:ext uri="{FF2B5EF4-FFF2-40B4-BE49-F238E27FC236}">
                <a16:creationId xmlns:a16="http://schemas.microsoft.com/office/drawing/2014/main" id="{9992E003-9E6C-45AB-B827-512903B51DA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88a60a9d9e4bf1" /><Relationship Type="http://schemas.openxmlformats.org/officeDocument/2006/relationships/slideLayout" Target="/ppt/slideLayouts/slideLayout1.xml" Id="R6be21b5c907d4067" /><Relationship Type="http://schemas.openxmlformats.org/officeDocument/2006/relationships/slideLayout" Target="/ppt/slideLayouts/slideLayout2.xml" Id="Re270d8b637dc40b9" /><Relationship Type="http://schemas.openxmlformats.org/officeDocument/2006/relationships/slideLayout" Target="/ppt/slideLayouts/slideLayout3.xml" Id="Re251f4657f39494b" /><Relationship Type="http://schemas.openxmlformats.org/officeDocument/2006/relationships/slideLayout" Target="/ppt/slideLayouts/slideLayout4.xml" Id="R1120d172a489425d" /><Relationship Type="http://schemas.openxmlformats.org/officeDocument/2006/relationships/slideLayout" Target="/ppt/slideLayouts/slideLayout5.xml" Id="R89035c7e48244218" /><Relationship Type="http://schemas.openxmlformats.org/officeDocument/2006/relationships/slideLayout" Target="/ppt/slideLayouts/slideLayout6.xml" Id="R912da4d830814266" /><Relationship Type="http://schemas.openxmlformats.org/officeDocument/2006/relationships/slideLayout" Target="/ppt/slideLayouts/slideLayout7.xml" Id="R3efa2ca20eeb4f82" /><Relationship Type="http://schemas.openxmlformats.org/officeDocument/2006/relationships/slideLayout" Target="/ppt/slideLayouts/slideLayout8.xml" Id="Raf0293930d954aca" /><Relationship Type="http://schemas.openxmlformats.org/officeDocument/2006/relationships/slideLayout" Target="/ppt/slideLayouts/slideLayout9.xml" Id="R022f8699218a447b" /><Relationship Type="http://schemas.openxmlformats.org/officeDocument/2006/relationships/slideLayout" Target="/ppt/slideLayouts/slideLayout10.xml" Id="Rd611bf84595740d8" /><Relationship Type="http://schemas.openxmlformats.org/officeDocument/2006/relationships/slideLayout" Target="/ppt/slideLayouts/slideLayout11.xml" Id="R2a723da97ccf4fa4" /></Relationships>
</file>

<file path=ppt/slideMasters/slideMaster1.xml><?xml version="1.0" encoding="utf-8"?>
<p:sldMaster xmlns:p="http://schemas.openxmlformats.org/presentationml/2006/main">
  <p:cSld name="spearmint">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1972F937-8F15-4035-92D9-55AA17E1427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1pPr>
            <a:lvl2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2pPr>
            <a:lvl3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3pPr>
            <a:lvl4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4pPr>
            <a:lvl5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5pPr>
            <a:lvl6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6pPr>
            <a:lvl7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7pPr>
            <a:lvl8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8pPr>
            <a:lvl9pPr>
              <a:spcBef>
                <a:spcPts val="0"/>
              </a:spcBef>
              <a:spcAft>
                <a:spcPts val="0"/>
              </a:spcAft>
              <a:buClr>
                <a:schemeClr val="dk1"/>
              </a:buClr>
              <a:buSzPts val="2800"/>
              <a:buFont typeface="Proxima Nova"/>
              <a:buNone/>
              <a:defRPr sz="2800">
                <a:solidFill>
                  <a:schemeClr val="dk1"/>
                </a:solidFill>
                <a:latin typeface="Proxima Nova"/>
                <a:ea typeface="Proxima Nova"/>
                <a:cs typeface="Proxima Nova"/>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AC4D2C5F-B0AE-4E20-8ACD-D4410701336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defRPr>
            </a:lvl1pPr>
            <a:lvl2pPr marL="9144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2pPr>
            <a:lvl3pPr marL="13716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3pPr>
            <a:lvl4pPr marL="18288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4pPr>
            <a:lvl5pPr marL="22860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5pPr>
            <a:lvl6pPr marL="27432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6pPr>
            <a:lvl7pPr marL="32004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7pPr>
            <a:lvl8pPr marL="36576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8pPr>
            <a:lvl9pPr marL="4114800"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BF39ECC-0980-4D2D-89E4-80AB74ECADD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1"/>
                </a:solidFill>
                <a:latin typeface="Proxima Nova"/>
                <a:ea typeface="Proxima Nova"/>
                <a:cs typeface="Proxima Nova"/>
              </a:defRPr>
            </a:lvl1pPr>
            <a:lvl2pPr algn="r">
              <a:buNone/>
              <a:defRPr sz="1000">
                <a:solidFill>
                  <a:schemeClr val="dk1"/>
                </a:solidFill>
                <a:latin typeface="Proxima Nova"/>
                <a:ea typeface="Proxima Nova"/>
                <a:cs typeface="Proxima Nova"/>
              </a:defRPr>
            </a:lvl2pPr>
            <a:lvl3pPr algn="r">
              <a:buNone/>
              <a:defRPr sz="1000">
                <a:solidFill>
                  <a:schemeClr val="dk1"/>
                </a:solidFill>
                <a:latin typeface="Proxima Nova"/>
                <a:ea typeface="Proxima Nova"/>
                <a:cs typeface="Proxima Nova"/>
              </a:defRPr>
            </a:lvl3pPr>
            <a:lvl4pPr algn="r">
              <a:buNone/>
              <a:defRPr sz="1000">
                <a:solidFill>
                  <a:schemeClr val="dk1"/>
                </a:solidFill>
                <a:latin typeface="Proxima Nova"/>
                <a:ea typeface="Proxima Nova"/>
                <a:cs typeface="Proxima Nova"/>
              </a:defRPr>
            </a:lvl4pPr>
            <a:lvl5pPr algn="r">
              <a:buNone/>
              <a:defRPr sz="1000">
                <a:solidFill>
                  <a:schemeClr val="dk1"/>
                </a:solidFill>
                <a:latin typeface="Proxima Nova"/>
                <a:ea typeface="Proxima Nova"/>
                <a:cs typeface="Proxima Nova"/>
              </a:defRPr>
            </a:lvl5pPr>
            <a:lvl6pPr algn="r">
              <a:buNone/>
              <a:defRPr sz="1000">
                <a:solidFill>
                  <a:schemeClr val="dk1"/>
                </a:solidFill>
                <a:latin typeface="Proxima Nova"/>
                <a:ea typeface="Proxima Nova"/>
                <a:cs typeface="Proxima Nova"/>
              </a:defRPr>
            </a:lvl6pPr>
            <a:lvl7pPr algn="r">
              <a:buNone/>
              <a:defRPr sz="1000">
                <a:solidFill>
                  <a:schemeClr val="dk1"/>
                </a:solidFill>
                <a:latin typeface="Proxima Nova"/>
                <a:ea typeface="Proxima Nova"/>
                <a:cs typeface="Proxima Nova"/>
              </a:defRPr>
            </a:lvl7pPr>
            <a:lvl8pPr algn="r">
              <a:buNone/>
              <a:defRPr sz="1000">
                <a:solidFill>
                  <a:schemeClr val="dk1"/>
                </a:solidFill>
                <a:latin typeface="Proxima Nova"/>
                <a:ea typeface="Proxima Nova"/>
                <a:cs typeface="Proxima Nova"/>
              </a:defRPr>
            </a:lvl8pPr>
            <a:lvl9pPr algn="r">
              <a:buNone/>
              <a:defRPr sz="1000">
                <a:solidFill>
                  <a:schemeClr val="dk1"/>
                </a:solidFill>
                <a:latin typeface="Proxima Nova"/>
                <a:ea typeface="Proxima Nova"/>
                <a:cs typeface="Proxima Nova"/>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be21b5c907d4067"/>
    <p:sldLayoutId xmlns:r="http://schemas.openxmlformats.org/officeDocument/2006/relationships" id="2147483650" r:id="Re270d8b637dc40b9"/>
    <p:sldLayoutId xmlns:r="http://schemas.openxmlformats.org/officeDocument/2006/relationships" id="2147483651" r:id="Re251f4657f39494b"/>
    <p:sldLayoutId xmlns:r="http://schemas.openxmlformats.org/officeDocument/2006/relationships" id="2147483652" r:id="R1120d172a489425d"/>
    <p:sldLayoutId xmlns:r="http://schemas.openxmlformats.org/officeDocument/2006/relationships" id="2147483653" r:id="R89035c7e48244218"/>
    <p:sldLayoutId xmlns:r="http://schemas.openxmlformats.org/officeDocument/2006/relationships" id="2147483654" r:id="R912da4d830814266"/>
    <p:sldLayoutId xmlns:r="http://schemas.openxmlformats.org/officeDocument/2006/relationships" id="2147483655" r:id="R3efa2ca20eeb4f82"/>
    <p:sldLayoutId xmlns:r="http://schemas.openxmlformats.org/officeDocument/2006/relationships" id="2147483656" r:id="Raf0293930d954aca"/>
    <p:sldLayoutId xmlns:r="http://schemas.openxmlformats.org/officeDocument/2006/relationships" id="2147483657" r:id="R022f8699218a447b"/>
    <p:sldLayoutId xmlns:r="http://schemas.openxmlformats.org/officeDocument/2006/relationships" id="2147483658" r:id="Rd611bf84595740d8"/>
    <p:sldLayoutId xmlns:r="http://schemas.openxmlformats.org/officeDocument/2006/relationships" id="2147483659" r:id="R2a723da97ccf4fa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earm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8b4141f72745c4" /><Relationship Type="http://schemas.openxmlformats.org/officeDocument/2006/relationships/image" Target="/ppt/media/image.png" Id="R19249dd888e6493e" /><Relationship Type="http://schemas.openxmlformats.org/officeDocument/2006/relationships/notesSlide" Target="/ppt/notesSlides/notesSlide1.xml" Id="R34719036cd684a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df0a970c2814c5e" /><Relationship Type="http://schemas.openxmlformats.org/officeDocument/2006/relationships/image" Target="/ppt/media/image2.png" Id="R07666b437e584c8b" /><Relationship Type="http://schemas.openxmlformats.org/officeDocument/2006/relationships/notesSlide" Target="/ppt/notesSlides/notesSlide2.xml" Id="Rfa31a56e236847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7ab945524a7844ea" /><Relationship Type="http://schemas.openxmlformats.org/officeDocument/2006/relationships/image" Target="/ppt/media/image2.png" Id="R79525944297246b8" /><Relationship Type="http://schemas.openxmlformats.org/officeDocument/2006/relationships/image" Target="/ppt/media/image3.png" Id="Rdb0a0013bdd84cac" /><Relationship Type="http://schemas.openxmlformats.org/officeDocument/2006/relationships/image" Target="/ppt/media/image4.png" Id="Rc47278aa53fd4f89" /><Relationship Type="http://schemas.openxmlformats.org/officeDocument/2006/relationships/image" Target="/ppt/media/image5.png" Id="Rde572e3d9ac54a1d" /><Relationship Type="http://schemas.openxmlformats.org/officeDocument/2006/relationships/notesSlide" Target="/ppt/notesSlides/notesSlide3.xml" Id="R6d5df45129fc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f157ba499834b77" /><Relationship Type="http://schemas.openxmlformats.org/officeDocument/2006/relationships/image" Target="/ppt/media/image2.png" Id="Rc0c506c541c94007" /><Relationship Type="http://schemas.openxmlformats.org/officeDocument/2006/relationships/image" Target="/ppt/media/image6.png" Id="R550fe711652a468b" /><Relationship Type="http://schemas.openxmlformats.org/officeDocument/2006/relationships/image" Target="/ppt/media/image7.png" Id="R0290a0340a5c4a28" /><Relationship Type="http://schemas.openxmlformats.org/officeDocument/2006/relationships/image" Target="/ppt/media/image8.png" Id="Rf1b1580d55964f2d" /><Relationship Type="http://schemas.openxmlformats.org/officeDocument/2006/relationships/notesSlide" Target="/ppt/notesSlides/notesSlide4.xml" Id="Rb10ebb1cbac743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59aad62f4c5e48ad" /><Relationship Type="http://schemas.openxmlformats.org/officeDocument/2006/relationships/image" Target="/ppt/media/image2.png" Id="R3fb4d04c52b24387" /><Relationship Type="http://schemas.openxmlformats.org/officeDocument/2006/relationships/image" Target="/ppt/media/image9.png" Id="R107538e3fb96493c" /><Relationship Type="http://schemas.openxmlformats.org/officeDocument/2006/relationships/notesSlide" Target="/ppt/notesSlides/notesSlide5.xml" Id="Re26725603ed942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71de1ac370be4430" /><Relationship Type="http://schemas.openxmlformats.org/officeDocument/2006/relationships/image" Target="/ppt/media/image2.png" Id="R9c444fd4300f431a" /><Relationship Type="http://schemas.openxmlformats.org/officeDocument/2006/relationships/image" Target="/ppt/media/image10.png" Id="R2287a1b71b3d4cc6" /><Relationship Type="http://schemas.openxmlformats.org/officeDocument/2006/relationships/notesSlide" Target="/ppt/notesSlides/notesSlide6.xml" Id="Rb03feadadeb744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844d51ba1c5458c" /><Relationship Type="http://schemas.openxmlformats.org/officeDocument/2006/relationships/image" Target="/ppt/media/image2.png" Id="Rb49dff5e0c99415a" /><Relationship Type="http://schemas.openxmlformats.org/officeDocument/2006/relationships/image" Target="/ppt/media/image11.png" Id="Rac8907a3ae7b4786" /><Relationship Type="http://schemas.openxmlformats.org/officeDocument/2006/relationships/notesSlide" Target="/ppt/notesSlides/notesSlide7.xml" Id="R9d0642cc6e5f4f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84f4313cd3e245ed" /><Relationship Type="http://schemas.openxmlformats.org/officeDocument/2006/relationships/image" Target="/ppt/media/image2.png" Id="R918050a7991e4692" /><Relationship Type="http://schemas.openxmlformats.org/officeDocument/2006/relationships/image" Target="/ppt/media/image12.png" Id="Rafa4e742dd8045c0" /><Relationship Type="http://schemas.openxmlformats.org/officeDocument/2006/relationships/notesSlide" Target="/ppt/notesSlides/notesSlide8.xml" Id="Rf9f71ad6b45c40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dfb21db26594358" /><Relationship Type="http://schemas.openxmlformats.org/officeDocument/2006/relationships/notesSlide" Target="/ppt/notesSlides/notesSlide9.xml" Id="R86af1b72b27249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5d6ee294a63474c" /><Relationship Type="http://schemas.openxmlformats.org/officeDocument/2006/relationships/image" Target="/ppt/media/image2.png" Id="Rcf8c62dd5c41465b" /><Relationship Type="http://schemas.openxmlformats.org/officeDocument/2006/relationships/notesSlide" Target="/ppt/notesSlides/notesSlide10.xml" Id="R4b18eac82f0d41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71a12d9d59d44539" /><Relationship Type="http://schemas.openxmlformats.org/officeDocument/2006/relationships/image" Target="/ppt/media/image13.png" Id="R8982cc3759544af1" /><Relationship Type="http://schemas.openxmlformats.org/officeDocument/2006/relationships/notesSlide" Target="/ppt/notesSlides/notesSlide11.xml" Id="Rad379d31373d47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5b4dd92b74f04c5d" /><Relationship Type="http://schemas.openxmlformats.org/officeDocument/2006/relationships/image" Target="/ppt/media/image14.png" Id="R56146c4736734974" /><Relationship Type="http://schemas.openxmlformats.org/officeDocument/2006/relationships/notesSlide" Target="/ppt/notesSlides/notesSlide12.xml" Id="R3c666b613fe54c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9cd2445d439d47cc" /><Relationship Type="http://schemas.openxmlformats.org/officeDocument/2006/relationships/image" Target="/ppt/media/image15.png" Id="Rdc455ca4830b4be3" /><Relationship Type="http://schemas.openxmlformats.org/officeDocument/2006/relationships/notesSlide" Target="/ppt/notesSlides/notesSlide13.xml" Id="R65afeb793f594d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5f10436e05546d9" /><Relationship Type="http://schemas.openxmlformats.org/officeDocument/2006/relationships/image" Target="/ppt/media/image16.png" Id="Rffb0b8c1de2344b6" /><Relationship Type="http://schemas.openxmlformats.org/officeDocument/2006/relationships/image" Target="/ppt/media/image17.png" Id="R8365f9e18d1c4835" /><Relationship Type="http://schemas.openxmlformats.org/officeDocument/2006/relationships/notesSlide" Target="/ppt/notesSlides/notesSlide14.xml" Id="R9f3b58dd3e2e44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90891cdc53134a1b" /><Relationship Type="http://schemas.openxmlformats.org/officeDocument/2006/relationships/image" Target="/ppt/media/image18.png" Id="R241cc87d26604128" /><Relationship Type="http://schemas.openxmlformats.org/officeDocument/2006/relationships/image" Target="/ppt/media/image.jpeg" Id="Raa35c5dab0cd4649" /><Relationship Type="http://schemas.openxmlformats.org/officeDocument/2006/relationships/notesSlide" Target="/ppt/notesSlides/notesSlide15.xml" Id="R4157d2c63351405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9725d50da94d4f99" /><Relationship Type="http://schemas.openxmlformats.org/officeDocument/2006/relationships/image" Target="/ppt/media/image19.png" Id="R262c042eeb9447b9" /><Relationship Type="http://schemas.openxmlformats.org/officeDocument/2006/relationships/image" Target="/ppt/media/image2.jpeg" Id="R0aaf58de37f94188" /><Relationship Type="http://schemas.openxmlformats.org/officeDocument/2006/relationships/image" Target="/ppt/media/image3.jpeg" Id="Rf8aa326c5613429d" /><Relationship Type="http://schemas.openxmlformats.org/officeDocument/2006/relationships/notesSlide" Target="/ppt/notesSlides/notesSlide16.xml" Id="Rfd81b1e4836249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2f9a9871e6ba4567" /><Relationship Type="http://schemas.openxmlformats.org/officeDocument/2006/relationships/image" Target="/ppt/media/image20.png" Id="R93ab2a5af2414aef" /><Relationship Type="http://schemas.openxmlformats.org/officeDocument/2006/relationships/notesSlide" Target="/ppt/notesSlides/notesSlide17.xml" Id="R6fd0570a45d14cd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9" name="Google Shape;59;p13">
            <a:extLst xmlns:a="http://schemas.openxmlformats.org/drawingml/2006/main">
              <a:ext uri="{FF2B5EF4-FFF2-40B4-BE49-F238E27FC236}">
                <a16:creationId xmlns:a16="http://schemas.microsoft.com/office/drawing/2014/main" id="{01EE91D3-86EA-4D8A-9D43-9643F6B9BB01}"/>
              </a:ext>
            </a:extLst>
          </p:cNvPr>
          <p:cNvSpPr>
            <a:spLocks xmlns:a="http://schemas.openxmlformats.org/drawingml/2006/main" noGrp="1"/>
          </p:cNvSpPr>
          <p:nvPr>
            <p:ph type="ctrTitle" idx="0"/>
          </p:nvPr>
        </p:nvSpPr>
        <p:spPr>
          <a:xfrm xmlns:a="http://schemas.openxmlformats.org/drawingml/2006/main">
            <a:off x="311700" y="591813"/>
            <a:ext cx="8520600" cy="792600"/>
          </a:xfrm>
          <a:prstGeom xmlns:a="http://schemas.openxmlformats.org/drawingml/2006/main" prst="rect">
            <a:avLst/>
          </a:prstGeom>
        </p:spPr>
        <p:txBody>
          <a:bodyPr xmlns:a="http://schemas.openxmlformats.org/drawingml/2006/main" spcFirstLastPara="1" wrap="square" lIns="91425" tIns="91425" rIns="91425" bIns="91425" anchor="b">
            <a:normAutofit fontScale="90000"/>
          </a:bodyPr>
          <a:lstStyle xmlns:a="http://schemas.openxmlformats.org/drawingml/2006/main"/>
          <a:p xmlns:a="http://schemas.openxmlformats.org/drawingml/2006/main">
            <a:pPr marL="0" lvl="0" indent="0" algn="l">
              <a:spcBef>
                <a:spcPts val="0"/>
              </a:spcBef>
              <a:spcAft>
                <a:spcPts val="0"/>
              </a:spcAft>
              <a:buNone/>
            </a:pPr>
            <a:r>
              <a:t>BranchIt</a:t>
            </a:r>
            <a:endParaRPr/>
          </a:p>
        </p:txBody>
      </p:sp>
      <p:sp>
        <p:nvSpPr>
          <p:cNvPr id="60" name="Google Shape;60;p13">
            <a:extLst xmlns:a="http://schemas.openxmlformats.org/drawingml/2006/main">
              <a:ext uri="{FF2B5EF4-FFF2-40B4-BE49-F238E27FC236}">
                <a16:creationId xmlns:a16="http://schemas.microsoft.com/office/drawing/2014/main" id="{FC502B59-D157-4B54-A9CB-72491B42E05B}"/>
              </a:ext>
            </a:extLst>
          </p:cNvPr>
          <p:cNvSpPr>
            <a:spLocks xmlns:a="http://schemas.openxmlformats.org/drawingml/2006/main" noGrp="1"/>
          </p:cNvSpPr>
          <p:nvPr>
            <p:ph type="subTitle" idx="1"/>
          </p:nvPr>
        </p:nvSpPr>
        <p:spPr>
          <a:xfrm xmlns:a="http://schemas.openxmlformats.org/drawingml/2006/main">
            <a:off x="313200" y="3769175"/>
            <a:ext cx="1725000" cy="1198200"/>
          </a:xfrm>
          <a:prstGeom xmlns:a="http://schemas.openxmlformats.org/drawingml/2006/main" prst="rect">
            <a:avLst/>
          </a:prstGeom>
        </p:spPr>
        <p:txBody>
          <a:bodyPr xmlns:a="http://schemas.openxmlformats.org/drawingml/2006/main" spcFirstLastPara="1" wrap="square" lIns="91425" tIns="91425" rIns="91425" bIns="91425" anchor="t">
            <a:normAutofit fontScale="92500"/>
          </a:bodyPr>
          <a:lstStyle xmlns:a="http://schemas.openxmlformats.org/drawingml/2006/main"/>
          <a:p xmlns:a="http://schemas.openxmlformats.org/drawingml/2006/main">
            <a:pPr marL="0" lvl="0" indent="0" algn="l">
              <a:lnSpc>
                <a:spcPct val="115000"/>
              </a:lnSpc>
              <a:spcBef>
                <a:spcPts val="0"/>
              </a:spcBef>
              <a:spcAft>
                <a:spcPts val="0"/>
              </a:spcAft>
              <a:buSzPct val="67833"/>
              <a:buNone/>
            </a:pPr>
            <a:r>
              <a:rPr sz="1500"/>
              <a:t>Integrantes:</a:t>
            </a:r>
            <a:endParaRPr sz="1500"/>
          </a:p>
          <a:p xmlns:a="http://schemas.openxmlformats.org/drawingml/2006/main">
            <a:pPr marL="316800" lvl="0" indent="-318507" algn="l">
              <a:lnSpc>
                <a:spcPct val="115000"/>
              </a:lnSpc>
              <a:spcBef>
                <a:spcPts val="0"/>
              </a:spcBef>
              <a:spcAft>
                <a:spcPts val="0"/>
              </a:spcAft>
              <a:buSzPct val="100000"/>
              <a:buChar char="●"/>
            </a:pPr>
            <a:r>
              <a:rPr sz="1500"/>
              <a:t>Cristobal Lara</a:t>
            </a:r>
            <a:endParaRPr sz="1500"/>
          </a:p>
          <a:p xmlns:a="http://schemas.openxmlformats.org/drawingml/2006/main">
            <a:pPr marL="316800" lvl="0" indent="-318507" algn="l">
              <a:lnSpc>
                <a:spcPct val="115000"/>
              </a:lnSpc>
              <a:spcBef>
                <a:spcPts val="0"/>
              </a:spcBef>
              <a:spcAft>
                <a:spcPts val="0"/>
              </a:spcAft>
              <a:buSzPct val="100000"/>
              <a:buChar char="●"/>
            </a:pPr>
            <a:r>
              <a:rPr sz="1500"/>
              <a:t>Roberto Orrego</a:t>
            </a:r>
            <a:endParaRPr sz="1500"/>
          </a:p>
          <a:p xmlns:a="http://schemas.openxmlformats.org/drawingml/2006/main">
            <a:pPr marL="316800" lvl="0" indent="-318507" algn="l">
              <a:lnSpc>
                <a:spcPct val="115000"/>
              </a:lnSpc>
              <a:spcBef>
                <a:spcPts val="0"/>
              </a:spcBef>
              <a:spcAft>
                <a:spcPts val="0"/>
              </a:spcAft>
              <a:buSzPct val="100000"/>
              <a:buChar char="●"/>
            </a:pPr>
            <a:r>
              <a:rPr sz="1500"/>
              <a:t>Matías</a:t>
            </a:r>
            <a:r>
              <a:rPr sz="1500"/>
              <a:t> Werner</a:t>
            </a:r>
            <a:endParaRPr sz="1500"/>
          </a:p>
        </p:txBody>
      </p:sp>
      <p:pic>
        <p:nvPicPr>
          <p:cNvPr id="61" name="Google Shape;61;p13">
            <a:extLst xmlns:a="http://schemas.openxmlformats.org/drawingml/2006/main">
              <a:ext uri="{FF2B5EF4-FFF2-40B4-BE49-F238E27FC236}">
                <a16:creationId xmlns:a16="http://schemas.microsoft.com/office/drawing/2014/main" id="{92940C69-3C28-4406-AAC0-4390E29AB421}"/>
              </a:ext>
            </a:extLst>
          </p:cNvPr>
          <p:cNvPicPr>
            <a:picLocks xmlns:a="http://schemas.openxmlformats.org/drawingml/2006/main" noChangeAspect="1"/>
          </p:cNvPicPr>
          <p:nvPr/>
        </p:nvPicPr>
        <p:blipFill>
          <a:blip xmlns:r="http://schemas.openxmlformats.org/officeDocument/2006/relationships" xmlns:a="http://schemas.openxmlformats.org/drawingml/2006/main" r:embed="R19249dd888e6493e">
            <a:alphaModFix/>
          </a:blip>
          <a:stretch xmlns:a="http://schemas.openxmlformats.org/drawingml/2006/main">
            <a:fillRect l="0" t="0" r="0" b="0"/>
          </a:stretch>
        </p:blipFill>
        <p:spPr>
          <a:xfrm xmlns:a="http://schemas.openxmlformats.org/drawingml/2006/main">
            <a:off x="3421450" y="1999275"/>
            <a:ext cx="1881300" cy="1881300"/>
          </a:xfrm>
          <a:prstGeom xmlns:a="http://schemas.openxmlformats.org/drawingml/2006/main" prst="ellipse">
            <a:avLst/>
          </a:prstGeom>
          <a:ln xmlns:a="http://schemas.openxmlformats.org/drawingml/2006/main">
            <a:noFill/>
          </a:ln>
        </p:spPr>
      </p:pic>
      <p:sp>
        <p:nvSpPr>
          <p:cNvPr id="62" name="Google Shape;62;p13">
            <a:extLst xmlns:a="http://schemas.openxmlformats.org/drawingml/2006/main">
              <a:ext uri="{FF2B5EF4-FFF2-40B4-BE49-F238E27FC236}">
                <a16:creationId xmlns:a16="http://schemas.microsoft.com/office/drawing/2014/main" id="{E99ED6EC-4B03-4085-8851-3F8D8F43538E}"/>
              </a:ext>
            </a:extLst>
          </p:cNvPr>
          <p:cNvSpPr>
            <a:spLocks xmlns:a="http://schemas.openxmlformats.org/drawingml/2006/main" noGrp="1"/>
          </p:cNvSpPr>
          <p:nvPr>
            <p:ph type="subTitle" idx="1"/>
          </p:nvPr>
        </p:nvSpPr>
        <p:spPr>
          <a:xfrm xmlns:a="http://schemas.openxmlformats.org/drawingml/2006/main">
            <a:off x="6686000" y="3769175"/>
            <a:ext cx="1725000" cy="1315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0"/>
              </a:spcAft>
              <a:buNone/>
            </a:pPr>
            <a:r>
              <a:rPr sz="1350"/>
              <a:t>Docente:</a:t>
            </a:r>
            <a:endParaRPr sz="1350"/>
          </a:p>
          <a:p xmlns:a="http://schemas.openxmlformats.org/drawingml/2006/main">
            <a:pPr marL="316800" lvl="0" indent="-316126" algn="l">
              <a:lnSpc>
                <a:spcPct val="115000"/>
              </a:lnSpc>
              <a:spcBef>
                <a:spcPts val="0"/>
              </a:spcBef>
              <a:spcAft>
                <a:spcPts val="0"/>
              </a:spcAft>
              <a:buSzPts val="1350"/>
              <a:buChar char="●"/>
            </a:pPr>
            <a:r>
              <a:rPr sz="1350"/>
              <a:t>Aldo Martínez</a:t>
            </a:r>
            <a:endParaRPr sz="1350"/>
          </a:p>
          <a:p xmlns:a="http://schemas.openxmlformats.org/drawingml/2006/main">
            <a:pPr marL="0" lvl="0" indent="0" algn="l">
              <a:lnSpc>
                <a:spcPct val="115000"/>
              </a:lnSpc>
              <a:spcBef>
                <a:spcPts val="0"/>
              </a:spcBef>
              <a:spcAft>
                <a:spcPts val="0"/>
              </a:spcAft>
              <a:buNone/>
            </a:pPr>
            <a:r>
              <a:rPr sz="1350"/>
              <a:t>Asignatura:</a:t>
            </a:r>
            <a:endParaRPr sz="1350"/>
          </a:p>
          <a:p xmlns:a="http://schemas.openxmlformats.org/drawingml/2006/main">
            <a:pPr marL="316800" lvl="0" indent="-316126" algn="l">
              <a:lnSpc>
                <a:spcPct val="115000"/>
              </a:lnSpc>
              <a:spcBef>
                <a:spcPts val="0"/>
              </a:spcBef>
              <a:spcAft>
                <a:spcPts val="0"/>
              </a:spcAft>
              <a:buSzPts val="1350"/>
              <a:buChar char="●"/>
            </a:pPr>
            <a:r>
              <a:rPr sz="1350"/>
              <a:t>Capstone 800D</a:t>
            </a:r>
            <a:endParaRPr sz="1350"/>
          </a:p>
        </p:txBody>
      </p:sp>
      <p:sp>
        <p:nvSpPr>
          <p:cNvPr id="63" name="">
            <a:extLst xmlns:a="http://schemas.openxmlformats.org/drawingml/2006/main">
              <a:ext uri="{FF2B5EF4-FFF2-40B4-BE49-F238E27FC236}">
                <a16:creationId xmlns:a16="http://schemas.microsoft.com/office/drawing/2014/main" id="{A86CF472-E682-41B1-B63F-BC899D0AD04D}"/>
              </a:ext>
            </a:extLst>
          </p:cNvPr>
          <p:cNvSpPr>
            <a:spLocks xmlns:a="http://schemas.openxmlformats.org/drawingml/2006/main" noGrp="1"/>
          </p:cNvSpPr>
          <p:nvPr/>
        </p:nvSpPr>
        <p:spPr>
          <a:xfrm xmlns:a="http://schemas.openxmlformats.org/drawingml/2006/main">
            <a:off x="314325" y="143827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FFFFF"/>
                </a:solidFill>
              </a:defRPr>
            </a:defPPr>
          </a:lstStyle>
          <a:p xmlns:a="http://schemas.openxmlformats.org/drawingml/2006/main">
            <a:pPr marL="0" indent="0">
              <a:spcBef>
                <a:spcPts val="0"/>
              </a:spcBef>
              <a:spcAft>
                <a:spcPts val="0"/>
              </a:spcAft>
              <a:defRPr sz="2175" b="0">
                <a:solidFill>
                  <a:srgbClr val="FFFFFF"/>
                </a:solidFill>
              </a:defRPr>
            </a:pPr>
            <a:r>
              <a:rPr sz="2175" b="0">
                <a:solidFill>
                  <a:srgbClr val="FFFFFF"/>
                </a:solidFill>
                <a:latin typeface="Proxima Nova"/>
                <a:ea typeface="Proxima Nova"/>
                <a:cs typeface="Proxima Nova"/>
              </a:rPr>
              <a:t>Tu carrera. Tu crecimiento.</a:t>
            </a:r>
          </a:p>
        </p:txBody>
      </p:sp>
    </p:spTree>
    <p:extLst>
      <p:ext uri="{BB962C8B-B14F-4D97-AF65-F5344CB8AC3E}">
        <p14:creationId xmlns:p14="http://schemas.microsoft.com/office/powerpoint/2010/main" val="11153466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4">
            <a:extLst xmlns:a="http://schemas.openxmlformats.org/drawingml/2006/main">
              <a:ext uri="{FF2B5EF4-FFF2-40B4-BE49-F238E27FC236}">
                <a16:creationId xmlns:a16="http://schemas.microsoft.com/office/drawing/2014/main" id="{8E454494-EAB6-4416-A4A5-C42033D00C29}"/>
              </a:ext>
            </a:extLst>
          </p:cNvPr>
          <p:cNvPicPr>
            <a:picLocks xmlns:a="http://schemas.openxmlformats.org/drawingml/2006/main" noChangeAspect="1"/>
          </p:cNvPicPr>
          <p:nvPr/>
        </p:nvPicPr>
        <p:blipFill>
          <a:blip xmlns:r="http://schemas.openxmlformats.org/officeDocument/2006/relationships" xmlns:a="http://schemas.openxmlformats.org/drawingml/2006/main" r:embed="R07666b437e584c8b">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sp>
        <p:nvSpPr>
          <p:cNvPr id="70" name="">
            <a:extLst xmlns:a="http://schemas.openxmlformats.org/drawingml/2006/main">
              <a:ext uri="{FF2B5EF4-FFF2-40B4-BE49-F238E27FC236}">
                <a16:creationId xmlns:a16="http://schemas.microsoft.com/office/drawing/2014/main" id="{A4BBE9DC-2A48-4AB2-B71F-F3960496825E}"/>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Índice</a:t>
            </a:r>
          </a:p>
        </p:txBody>
      </p:sp>
      <p:sp>
        <p:nvSpPr>
          <p:cNvPr id="71" name="">
            <a:extLst xmlns:a="http://schemas.openxmlformats.org/drawingml/2006/main">
              <a:ext uri="{FF2B5EF4-FFF2-40B4-BE49-F238E27FC236}">
                <a16:creationId xmlns:a16="http://schemas.microsoft.com/office/drawing/2014/main" id="{34C74509-B684-4C65-BD16-0A97DB5C460D}"/>
              </a:ext>
            </a:extLst>
          </p:cNvPr>
          <p:cNvSpPr>
            <a:spLocks xmlns:a="http://schemas.openxmlformats.org/drawingml/2006/main" noGrp="1"/>
          </p:cNvSpPr>
          <p:nvPr/>
        </p:nvSpPr>
        <p:spPr>
          <a:xfrm xmlns:a="http://schemas.openxmlformats.org/drawingml/2006/main">
            <a:off x="323850" y="1219200"/>
            <a:ext cx="819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01 · La oportunidad</a:t>
            </a:r>
          </a:p>
        </p:txBody>
      </p:sp>
      <p:sp>
        <p:nvSpPr>
          <p:cNvPr id="72" name="">
            <a:extLst xmlns:a="http://schemas.openxmlformats.org/drawingml/2006/main">
              <a:ext uri="{FF2B5EF4-FFF2-40B4-BE49-F238E27FC236}">
                <a16:creationId xmlns:a16="http://schemas.microsoft.com/office/drawing/2014/main" id="{3203E6DE-F7C4-45C2-ACA8-767BC25F8F26}"/>
              </a:ext>
            </a:extLst>
          </p:cNvPr>
          <p:cNvSpPr>
            <a:spLocks xmlns:a="http://schemas.openxmlformats.org/drawingml/2006/main" noGrp="1"/>
          </p:cNvSpPr>
          <p:nvPr/>
        </p:nvSpPr>
        <p:spPr>
          <a:xfrm xmlns:a="http://schemas.openxmlformats.org/drawingml/2006/main">
            <a:off x="323850" y="1581150"/>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Problema, evidencia y solución</a:t>
            </a:r>
          </a:p>
        </p:txBody>
      </p:sp>
      <p:sp>
        <p:nvSpPr>
          <p:cNvPr id="73" name="">
            <a:extLst xmlns:a="http://schemas.openxmlformats.org/drawingml/2006/main">
              <a:ext uri="{FF2B5EF4-FFF2-40B4-BE49-F238E27FC236}">
                <a16:creationId xmlns:a16="http://schemas.microsoft.com/office/drawing/2014/main" id="{3E945D50-8121-4854-9373-1E597219CD14}"/>
              </a:ext>
            </a:extLst>
          </p:cNvPr>
          <p:cNvSpPr>
            <a:spLocks xmlns:a="http://schemas.openxmlformats.org/drawingml/2006/main" noGrp="1"/>
          </p:cNvSpPr>
          <p:nvPr/>
        </p:nvSpPr>
        <p:spPr>
          <a:xfrm xmlns:a="http://schemas.openxmlformats.org/drawingml/2006/main">
            <a:off x="323850" y="2047875"/>
            <a:ext cx="819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02 · A quién ayudamos</a:t>
            </a:r>
          </a:p>
        </p:txBody>
      </p:sp>
      <p:sp>
        <p:nvSpPr>
          <p:cNvPr id="74" name="">
            <a:extLst xmlns:a="http://schemas.openxmlformats.org/drawingml/2006/main">
              <a:ext uri="{FF2B5EF4-FFF2-40B4-BE49-F238E27FC236}">
                <a16:creationId xmlns:a16="http://schemas.microsoft.com/office/drawing/2014/main" id="{BAC04772-50F4-4477-8B8F-716D84F015B1}"/>
              </a:ext>
            </a:extLst>
          </p:cNvPr>
          <p:cNvSpPr>
            <a:spLocks xmlns:a="http://schemas.openxmlformats.org/drawingml/2006/main" noGrp="1"/>
          </p:cNvSpPr>
          <p:nvPr/>
        </p:nvSpPr>
        <p:spPr>
          <a:xfrm xmlns:a="http://schemas.openxmlformats.org/drawingml/2006/main">
            <a:off x="323850" y="2409825"/>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Público objetivo y motivación del equipo</a:t>
            </a:r>
          </a:p>
        </p:txBody>
      </p:sp>
      <p:sp>
        <p:nvSpPr>
          <p:cNvPr id="75" name="">
            <a:extLst xmlns:a="http://schemas.openxmlformats.org/drawingml/2006/main">
              <a:ext uri="{FF2B5EF4-FFF2-40B4-BE49-F238E27FC236}">
                <a16:creationId xmlns:a16="http://schemas.microsoft.com/office/drawing/2014/main" id="{5634B28E-55F1-4DC3-A99F-26DB50D563CC}"/>
              </a:ext>
            </a:extLst>
          </p:cNvPr>
          <p:cNvSpPr>
            <a:spLocks xmlns:a="http://schemas.openxmlformats.org/drawingml/2006/main" noGrp="1"/>
          </p:cNvSpPr>
          <p:nvPr/>
        </p:nvSpPr>
        <p:spPr>
          <a:xfrm xmlns:a="http://schemas.openxmlformats.org/drawingml/2006/main">
            <a:off x="323850" y="2876550"/>
            <a:ext cx="819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03 · Cómo lo construimos</a:t>
            </a:r>
          </a:p>
        </p:txBody>
      </p:sp>
      <p:sp>
        <p:nvSpPr>
          <p:cNvPr id="76" name="">
            <a:extLst xmlns:a="http://schemas.openxmlformats.org/drawingml/2006/main">
              <a:ext uri="{FF2B5EF4-FFF2-40B4-BE49-F238E27FC236}">
                <a16:creationId xmlns:a16="http://schemas.microsoft.com/office/drawing/2014/main" id="{6B8A3CAE-2073-4C55-ACA9-193F92F8B5B8}"/>
              </a:ext>
            </a:extLst>
          </p:cNvPr>
          <p:cNvSpPr>
            <a:spLocks xmlns:a="http://schemas.openxmlformats.org/drawingml/2006/main" noGrp="1"/>
          </p:cNvSpPr>
          <p:nvPr/>
        </p:nvSpPr>
        <p:spPr>
          <a:xfrm xmlns:a="http://schemas.openxmlformats.org/drawingml/2006/main">
            <a:off x="323850" y="3238500"/>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Scrum, sprints, tecnologías y arquitectura</a:t>
            </a:r>
          </a:p>
        </p:txBody>
      </p:sp>
      <p:sp>
        <p:nvSpPr>
          <p:cNvPr id="77" name="">
            <a:extLst xmlns:a="http://schemas.openxmlformats.org/drawingml/2006/main">
              <a:ext uri="{FF2B5EF4-FFF2-40B4-BE49-F238E27FC236}">
                <a16:creationId xmlns:a16="http://schemas.microsoft.com/office/drawing/2014/main" id="{37DD7877-0461-42C1-93F0-93153320BC99}"/>
              </a:ext>
            </a:extLst>
          </p:cNvPr>
          <p:cNvSpPr>
            <a:spLocks xmlns:a="http://schemas.openxmlformats.org/drawingml/2006/main" noGrp="1"/>
          </p:cNvSpPr>
          <p:nvPr/>
        </p:nvSpPr>
        <p:spPr>
          <a:xfrm xmlns:a="http://schemas.openxmlformats.org/drawingml/2006/main">
            <a:off x="323850" y="3705225"/>
            <a:ext cx="819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04 · Del diseño al producto</a:t>
            </a:r>
          </a:p>
        </p:txBody>
      </p:sp>
      <p:sp>
        <p:nvSpPr>
          <p:cNvPr id="78" name="">
            <a:extLst xmlns:a="http://schemas.openxmlformats.org/drawingml/2006/main">
              <a:ext uri="{FF2B5EF4-FFF2-40B4-BE49-F238E27FC236}">
                <a16:creationId xmlns:a16="http://schemas.microsoft.com/office/drawing/2014/main" id="{8957B8A2-FD09-4676-B6F6-AC31964296DE}"/>
              </a:ext>
            </a:extLst>
          </p:cNvPr>
          <p:cNvSpPr>
            <a:spLocks xmlns:a="http://schemas.openxmlformats.org/drawingml/2006/main" noGrp="1"/>
          </p:cNvSpPr>
          <p:nvPr/>
        </p:nvSpPr>
        <p:spPr>
          <a:xfrm xmlns:a="http://schemas.openxmlformats.org/drawingml/2006/main">
            <a:off x="323850" y="4067175"/>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Avances, riesgos, negocio y próximos pasos</a:t>
            </a:r>
          </a:p>
        </p:txBody>
      </p:sp>
    </p:spTree>
    <p:extLst>
      <p:ext uri="{BB962C8B-B14F-4D97-AF65-F5344CB8AC3E}">
        <p14:creationId xmlns:p14="http://schemas.microsoft.com/office/powerpoint/2010/main" val="12599705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5">
            <a:extLst xmlns:a="http://schemas.openxmlformats.org/drawingml/2006/main">
              <a:ext uri="{FF2B5EF4-FFF2-40B4-BE49-F238E27FC236}">
                <a16:creationId xmlns:a16="http://schemas.microsoft.com/office/drawing/2014/main" id="{AC0E5B2C-9EC7-4E9B-8FAD-B76BC28885C0}"/>
              </a:ext>
            </a:extLst>
          </p:cNvPr>
          <p:cNvPicPr>
            <a:picLocks xmlns:a="http://schemas.openxmlformats.org/drawingml/2006/main" noChangeAspect="1"/>
          </p:cNvPicPr>
          <p:nvPr/>
        </p:nvPicPr>
        <p:blipFill>
          <a:blip xmlns:r="http://schemas.openxmlformats.org/officeDocument/2006/relationships" xmlns:a="http://schemas.openxmlformats.org/drawingml/2006/main" r:embed="R79525944297246b8">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pic>
        <p:nvPicPr>
          <p:cNvPr id="77" name="Google Shape;77;p15">
            <a:extLst xmlns:a="http://schemas.openxmlformats.org/drawingml/2006/main">
              <a:ext uri="{FF2B5EF4-FFF2-40B4-BE49-F238E27FC236}">
                <a16:creationId xmlns:a16="http://schemas.microsoft.com/office/drawing/2014/main" id="{8AB43BC0-4AED-449D-A138-CF0AF5312CEB}"/>
              </a:ext>
            </a:extLst>
          </p:cNvPr>
          <p:cNvPicPr>
            <a:picLocks xmlns:a="http://schemas.openxmlformats.org/drawingml/2006/main" noChangeAspect="1"/>
          </p:cNvPicPr>
          <p:nvPr/>
        </p:nvPicPr>
        <p:blipFill>
          <a:blip xmlns:r="http://schemas.openxmlformats.org/officeDocument/2006/relationships" xmlns:a="http://schemas.openxmlformats.org/drawingml/2006/main" r:embed="Rdb0a0013bdd84cac">
            <a:alphaModFix/>
          </a:blip>
          <a:stretch xmlns:a="http://schemas.openxmlformats.org/drawingml/2006/main">
            <a:fillRect l="0" t="0" r="0" b="0"/>
          </a:stretch>
        </p:blipFill>
        <p:spPr>
          <a:xfrm xmlns:a="http://schemas.openxmlformats.org/drawingml/2006/main">
            <a:off x="157175" y="2571750"/>
            <a:ext cx="3105724" cy="1322541"/>
          </a:xfrm>
          <a:prstGeom xmlns:a="http://schemas.openxmlformats.org/drawingml/2006/main" prst="rect">
            <a:avLst/>
          </a:prstGeom>
          <a:ln xmlns:a="http://schemas.openxmlformats.org/drawingml/2006/main">
            <a:noFill/>
          </a:ln>
        </p:spPr>
      </p:pic>
      <p:pic>
        <p:nvPicPr>
          <p:cNvPr id="78" name="Google Shape;78;p15">
            <a:extLst xmlns:a="http://schemas.openxmlformats.org/drawingml/2006/main">
              <a:ext uri="{FF2B5EF4-FFF2-40B4-BE49-F238E27FC236}">
                <a16:creationId xmlns:a16="http://schemas.microsoft.com/office/drawing/2014/main" id="{C3CE4BF8-3604-4397-9402-31FE9BCD50A2}"/>
              </a:ext>
            </a:extLst>
          </p:cNvPr>
          <p:cNvPicPr>
            <a:picLocks xmlns:a="http://schemas.openxmlformats.org/drawingml/2006/main" noChangeAspect="1"/>
          </p:cNvPicPr>
          <p:nvPr/>
        </p:nvPicPr>
        <p:blipFill>
          <a:blip xmlns:r="http://schemas.openxmlformats.org/officeDocument/2006/relationships" xmlns:a="http://schemas.openxmlformats.org/drawingml/2006/main" r:embed="Rc47278aa53fd4f89">
            <a:alphaModFix/>
          </a:blip>
          <a:stretch xmlns:a="http://schemas.openxmlformats.org/drawingml/2006/main">
            <a:fillRect l="0" t="0" r="0" b="0"/>
          </a:stretch>
        </p:blipFill>
        <p:spPr>
          <a:xfrm xmlns:a="http://schemas.openxmlformats.org/drawingml/2006/main">
            <a:off x="6140065" y="2799863"/>
            <a:ext cx="2309176" cy="1667474"/>
          </a:xfrm>
          <a:prstGeom xmlns:a="http://schemas.openxmlformats.org/drawingml/2006/main" prst="rect">
            <a:avLst/>
          </a:prstGeom>
          <a:ln xmlns:a="http://schemas.openxmlformats.org/drawingml/2006/main">
            <a:noFill/>
          </a:ln>
        </p:spPr>
      </p:pic>
      <p:pic>
        <p:nvPicPr>
          <p:cNvPr id="79" name="Google Shape;79;p15">
            <a:extLst xmlns:a="http://schemas.openxmlformats.org/drawingml/2006/main">
              <a:ext uri="{FF2B5EF4-FFF2-40B4-BE49-F238E27FC236}">
                <a16:creationId xmlns:a16="http://schemas.microsoft.com/office/drawing/2014/main" id="{1B9E715F-BF04-42D8-98BE-6B96FD411F00}"/>
              </a:ext>
            </a:extLst>
          </p:cNvPr>
          <p:cNvPicPr>
            <a:picLocks xmlns:a="http://schemas.openxmlformats.org/drawingml/2006/main" noChangeAspect="1"/>
          </p:cNvPicPr>
          <p:nvPr/>
        </p:nvPicPr>
        <p:blipFill>
          <a:blip xmlns:r="http://schemas.openxmlformats.org/officeDocument/2006/relationships" xmlns:a="http://schemas.openxmlformats.org/drawingml/2006/main" r:embed="Rde572e3d9ac54a1d">
            <a:alphaModFix/>
          </a:blip>
          <a:stretch xmlns:a="http://schemas.openxmlformats.org/drawingml/2006/main">
            <a:fillRect l="0" t="0" r="0" b="0"/>
          </a:stretch>
        </p:blipFill>
        <p:spPr>
          <a:xfrm xmlns:a="http://schemas.openxmlformats.org/drawingml/2006/main">
            <a:off x="1820800" y="3929375"/>
            <a:ext cx="4279074" cy="1059600"/>
          </a:xfrm>
          <a:prstGeom xmlns:a="http://schemas.openxmlformats.org/drawingml/2006/main" prst="rect">
            <a:avLst/>
          </a:prstGeom>
          <a:ln xmlns:a="http://schemas.openxmlformats.org/drawingml/2006/main">
            <a:noFill/>
          </a:ln>
        </p:spPr>
      </p:pic>
      <p:sp>
        <p:nvSpPr>
          <p:cNvPr id="80" name="">
            <a:extLst xmlns:a="http://schemas.openxmlformats.org/drawingml/2006/main">
              <a:ext uri="{FF2B5EF4-FFF2-40B4-BE49-F238E27FC236}">
                <a16:creationId xmlns:a16="http://schemas.microsoft.com/office/drawing/2014/main" id="{0327C4B6-1F09-481E-8578-EEF60EB54B85}"/>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Problemática</a:t>
            </a:r>
          </a:p>
        </p:txBody>
      </p:sp>
      <p:sp>
        <p:nvSpPr>
          <p:cNvPr id="81" name="">
            <a:extLst xmlns:a="http://schemas.openxmlformats.org/drawingml/2006/main">
              <a:ext uri="{FF2B5EF4-FFF2-40B4-BE49-F238E27FC236}">
                <a16:creationId xmlns:a16="http://schemas.microsoft.com/office/drawing/2014/main" id="{2884A01C-6534-43FB-8292-DAB7BF61606B}"/>
              </a:ext>
            </a:extLst>
          </p:cNvPr>
          <p:cNvSpPr>
            <a:spLocks xmlns:a="http://schemas.openxmlformats.org/drawingml/2006/main" noGrp="1"/>
          </p:cNvSpPr>
          <p:nvPr/>
        </p:nvSpPr>
        <p:spPr>
          <a:xfrm xmlns:a="http://schemas.openxmlformats.org/drawingml/2006/main">
            <a:off x="323850" y="1171575"/>
            <a:ext cx="8096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02729"/>
                </a:solidFill>
              </a:defRPr>
            </a:defPPr>
          </a:lstStyle>
          <a:p xmlns:a="http://schemas.openxmlformats.org/drawingml/2006/main">
            <a:pPr marL="0" indent="0">
              <a:spcBef>
                <a:spcPts val="0"/>
              </a:spcBef>
              <a:spcAft>
                <a:spcPts val="0"/>
              </a:spcAft>
              <a:defRPr sz="2550" b="1">
                <a:solidFill>
                  <a:srgbClr val="202729"/>
                </a:solidFill>
              </a:defRPr>
            </a:pPr>
            <a:r>
              <a:rPr sz="2550" b="1">
                <a:solidFill>
                  <a:srgbClr val="202729"/>
                </a:solidFill>
                <a:latin typeface="Proxima Nova"/>
                <a:ea typeface="Proxima Nova"/>
                <a:cs typeface="Proxima Nova"/>
              </a:rPr>
              <a:t>Se exige experiencia antes de dar</a:t>
            </a:r>
            <a:br>
              <a:rPr sz="2550" b="1">
                <a:solidFill>
                  <a:srgbClr val="202729"/>
                </a:solidFill>
                <a:latin typeface="Proxima Nova"/>
                <a:ea typeface="Proxima Nova"/>
                <a:cs typeface="Proxima Nova"/>
              </a:rPr>
            </a:br>
            <a:r>
              <a:rPr sz="2550" b="1">
                <a:solidFill>
                  <a:srgbClr val="202729"/>
                </a:solidFill>
                <a:latin typeface="Proxima Nova"/>
                <a:ea typeface="Proxima Nova"/>
                <a:cs typeface="Proxima Nova"/>
              </a:rPr>
              <a:t>la primera oportunidad.</a:t>
            </a:r>
          </a:p>
        </p:txBody>
      </p:sp>
      <p:sp>
        <p:nvSpPr>
          <p:cNvPr id="82" name="">
            <a:extLst xmlns:a="http://schemas.openxmlformats.org/drawingml/2006/main">
              <a:ext uri="{FF2B5EF4-FFF2-40B4-BE49-F238E27FC236}">
                <a16:creationId xmlns:a16="http://schemas.microsoft.com/office/drawing/2014/main" id="{8D4F1F8A-C9AF-4D88-A8E3-734652C9316A}"/>
              </a:ext>
            </a:extLst>
          </p:cNvPr>
          <p:cNvSpPr>
            <a:spLocks xmlns:a="http://schemas.openxmlformats.org/drawingml/2006/main" noGrp="1"/>
          </p:cNvSpPr>
          <p:nvPr/>
        </p:nvSpPr>
        <p:spPr>
          <a:xfrm xmlns:a="http://schemas.openxmlformats.org/drawingml/2006/main">
            <a:off x="323850" y="20669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2729"/>
                </a:solidFill>
              </a:defRPr>
            </a:defPPr>
          </a:lstStyle>
          <a:p xmlns:a="http://schemas.openxmlformats.org/drawingml/2006/main">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El CV no siempre muestra lo que un egresado ya sabe construir.</a:t>
            </a:r>
          </a:p>
        </p:txBody>
      </p:sp>
    </p:spTree>
    <p:extLst>
      <p:ext uri="{BB962C8B-B14F-4D97-AF65-F5344CB8AC3E}">
        <p14:creationId xmlns:p14="http://schemas.microsoft.com/office/powerpoint/2010/main" val="17458088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86" name="Google Shape;86;p16">
            <a:extLst xmlns:a="http://schemas.openxmlformats.org/drawingml/2006/main">
              <a:ext uri="{FF2B5EF4-FFF2-40B4-BE49-F238E27FC236}">
                <a16:creationId xmlns:a16="http://schemas.microsoft.com/office/drawing/2014/main" id="{8B5E6436-5AA5-4CC6-8B5C-9821BE68B173}"/>
              </a:ext>
            </a:extLst>
          </p:cNvPr>
          <p:cNvPicPr>
            <a:picLocks xmlns:a="http://schemas.openxmlformats.org/drawingml/2006/main" noChangeAspect="1"/>
          </p:cNvPicPr>
          <p:nvPr/>
        </p:nvPicPr>
        <p:blipFill>
          <a:blip xmlns:r="http://schemas.openxmlformats.org/officeDocument/2006/relationships" xmlns:a="http://schemas.openxmlformats.org/drawingml/2006/main" r:embed="Rc0c506c541c94007">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pic>
        <p:nvPicPr>
          <p:cNvPr id="87" name="Google Shape;87;p16">
            <a:extLst xmlns:a="http://schemas.openxmlformats.org/drawingml/2006/main">
              <a:ext uri="{FF2B5EF4-FFF2-40B4-BE49-F238E27FC236}">
                <a16:creationId xmlns:a16="http://schemas.microsoft.com/office/drawing/2014/main" id="{288D4F1B-3838-4BF3-BD5C-ECEA3C7922C2}"/>
              </a:ext>
            </a:extLst>
          </p:cNvPr>
          <p:cNvPicPr>
            <a:picLocks xmlns:a="http://schemas.openxmlformats.org/drawingml/2006/main" noChangeAspect="1"/>
          </p:cNvPicPr>
          <p:nvPr/>
        </p:nvPicPr>
        <p:blipFill>
          <a:blip xmlns:r="http://schemas.openxmlformats.org/officeDocument/2006/relationships" xmlns:a="http://schemas.openxmlformats.org/drawingml/2006/main" r:embed="R550fe711652a468b">
            <a:alphaModFix/>
          </a:blip>
          <a:stretch xmlns:a="http://schemas.openxmlformats.org/drawingml/2006/main">
            <a:fillRect l="0" t="0" r="0" b="0"/>
          </a:stretch>
        </p:blipFill>
        <p:spPr>
          <a:xfrm xmlns:a="http://schemas.openxmlformats.org/drawingml/2006/main">
            <a:off x="635275" y="1863575"/>
            <a:ext cx="1988925" cy="1994200"/>
          </a:xfrm>
          <a:prstGeom xmlns:a="http://schemas.openxmlformats.org/drawingml/2006/main" prst="rect">
            <a:avLst/>
          </a:prstGeom>
          <a:ln xmlns:a="http://schemas.openxmlformats.org/drawingml/2006/main">
            <a:noFill/>
          </a:ln>
        </p:spPr>
      </p:pic>
      <p:pic>
        <p:nvPicPr>
          <p:cNvPr id="88" name="Google Shape;88;p16">
            <a:extLst xmlns:a="http://schemas.openxmlformats.org/drawingml/2006/main">
              <a:ext uri="{FF2B5EF4-FFF2-40B4-BE49-F238E27FC236}">
                <a16:creationId xmlns:a16="http://schemas.microsoft.com/office/drawing/2014/main" id="{6314AAEA-E079-4691-AF0C-4A1011C68F9E}"/>
              </a:ext>
            </a:extLst>
          </p:cNvPr>
          <p:cNvPicPr>
            <a:picLocks xmlns:a="http://schemas.openxmlformats.org/drawingml/2006/main" noChangeAspect="1"/>
          </p:cNvPicPr>
          <p:nvPr/>
        </p:nvPicPr>
        <p:blipFill>
          <a:blip xmlns:r="http://schemas.openxmlformats.org/officeDocument/2006/relationships" xmlns:a="http://schemas.openxmlformats.org/drawingml/2006/main" r:embed="R0290a0340a5c4a28">
            <a:alphaModFix/>
          </a:blip>
          <a:stretch xmlns:a="http://schemas.openxmlformats.org/drawingml/2006/main">
            <a:fillRect l="0" t="0" r="0" b="0"/>
          </a:stretch>
        </p:blipFill>
        <p:spPr>
          <a:xfrm xmlns:a="http://schemas.openxmlformats.org/drawingml/2006/main">
            <a:off x="3208050" y="1785813"/>
            <a:ext cx="2149700" cy="2149700"/>
          </a:xfrm>
          <a:prstGeom xmlns:a="http://schemas.openxmlformats.org/drawingml/2006/main" prst="rect">
            <a:avLst/>
          </a:prstGeom>
          <a:ln xmlns:a="http://schemas.openxmlformats.org/drawingml/2006/main">
            <a:noFill/>
          </a:ln>
        </p:spPr>
      </p:pic>
      <p:pic>
        <p:nvPicPr>
          <p:cNvPr id="90" name="Google Shape;90;p16">
            <a:extLst xmlns:a="http://schemas.openxmlformats.org/drawingml/2006/main">
              <a:ext uri="{FF2B5EF4-FFF2-40B4-BE49-F238E27FC236}">
                <a16:creationId xmlns:a16="http://schemas.microsoft.com/office/drawing/2014/main" id="{6BAABEEE-770E-4D52-94A9-5126B3572B33}"/>
              </a:ext>
            </a:extLst>
          </p:cNvPr>
          <p:cNvPicPr>
            <a:picLocks xmlns:a="http://schemas.openxmlformats.org/drawingml/2006/main" noChangeAspect="1"/>
          </p:cNvPicPr>
          <p:nvPr/>
        </p:nvPicPr>
        <p:blipFill>
          <a:blip xmlns:r="http://schemas.openxmlformats.org/officeDocument/2006/relationships" xmlns:a="http://schemas.openxmlformats.org/drawingml/2006/main" r:embed="Rf1b1580d55964f2d">
            <a:alphaModFix/>
          </a:blip>
          <a:stretch xmlns:a="http://schemas.openxmlformats.org/drawingml/2006/main">
            <a:fillRect l="0" t="0" r="0" b="0"/>
          </a:stretch>
        </p:blipFill>
        <p:spPr>
          <a:xfrm xmlns:a="http://schemas.openxmlformats.org/drawingml/2006/main">
            <a:off x="5941600" y="1777300"/>
            <a:ext cx="2149700" cy="2166750"/>
          </a:xfrm>
          <a:prstGeom xmlns:a="http://schemas.openxmlformats.org/drawingml/2006/main" prst="rect">
            <a:avLst/>
          </a:prstGeom>
          <a:ln xmlns:a="http://schemas.openxmlformats.org/drawingml/2006/main">
            <a:noFill/>
          </a:ln>
        </p:spPr>
      </p:pic>
      <p:sp>
        <p:nvSpPr>
          <p:cNvPr id="91" name="">
            <a:extLst xmlns:a="http://schemas.openxmlformats.org/drawingml/2006/main">
              <a:ext uri="{FF2B5EF4-FFF2-40B4-BE49-F238E27FC236}">
                <a16:creationId xmlns:a16="http://schemas.microsoft.com/office/drawing/2014/main" id="{0DBF836C-D349-443A-BBAC-FA58F9DC4556}"/>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Links y evidencia</a:t>
            </a:r>
          </a:p>
        </p:txBody>
      </p:sp>
      <p:sp>
        <p:nvSpPr>
          <p:cNvPr id="92" name="">
            <a:extLst xmlns:a="http://schemas.openxmlformats.org/drawingml/2006/main">
              <a:ext uri="{FF2B5EF4-FFF2-40B4-BE49-F238E27FC236}">
                <a16:creationId xmlns:a16="http://schemas.microsoft.com/office/drawing/2014/main" id="{88272552-B1DB-4B5E-8D0A-11560DCE9E8B}"/>
              </a:ext>
            </a:extLst>
          </p:cNvPr>
          <p:cNvSpPr>
            <a:spLocks xmlns:a="http://schemas.openxmlformats.org/drawingml/2006/main" noGrp="1"/>
          </p:cNvSpPr>
          <p:nvPr/>
        </p:nvSpPr>
        <p:spPr>
          <a:xfrm xmlns:a="http://schemas.openxmlformats.org/drawingml/2006/main">
            <a:off x="523875" y="12287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2729"/>
                </a:solidFill>
              </a:defRPr>
            </a:defPPr>
          </a:lstStyle>
          <a:p xmlns:a="http://schemas.openxmlformats.org/drawingml/2006/main">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Diario USACH</a:t>
            </a:r>
          </a:p>
        </p:txBody>
      </p:sp>
      <p:sp>
        <p:nvSpPr>
          <p:cNvPr id="93" name="">
            <a:extLst xmlns:a="http://schemas.openxmlformats.org/drawingml/2006/main">
              <a:ext uri="{FF2B5EF4-FFF2-40B4-BE49-F238E27FC236}">
                <a16:creationId xmlns:a16="http://schemas.microsoft.com/office/drawing/2014/main" id="{66FA2BAC-C6DD-494A-B52D-D69B36A8D0A9}"/>
              </a:ext>
            </a:extLst>
          </p:cNvPr>
          <p:cNvSpPr>
            <a:spLocks xmlns:a="http://schemas.openxmlformats.org/drawingml/2006/main" noGrp="1"/>
          </p:cNvSpPr>
          <p:nvPr/>
        </p:nvSpPr>
        <p:spPr>
          <a:xfrm xmlns:a="http://schemas.openxmlformats.org/drawingml/2006/main">
            <a:off x="3162300" y="1228725"/>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2729"/>
                </a:solidFill>
              </a:defRPr>
            </a:defPPr>
          </a:lstStyle>
          <a:p xmlns:a="http://schemas.openxmlformats.org/drawingml/2006/main">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El Observatodo</a:t>
            </a:r>
          </a:p>
        </p:txBody>
      </p:sp>
      <p:sp>
        <p:nvSpPr>
          <p:cNvPr id="94" name="">
            <a:extLst xmlns:a="http://schemas.openxmlformats.org/drawingml/2006/main">
              <a:ext uri="{FF2B5EF4-FFF2-40B4-BE49-F238E27FC236}">
                <a16:creationId xmlns:a16="http://schemas.microsoft.com/office/drawing/2014/main" id="{E8CF65C3-B033-4B4B-B660-17B02FB03010}"/>
              </a:ext>
            </a:extLst>
          </p:cNvPr>
          <p:cNvSpPr>
            <a:spLocks xmlns:a="http://schemas.openxmlformats.org/drawingml/2006/main" noGrp="1"/>
          </p:cNvSpPr>
          <p:nvPr/>
        </p:nvSpPr>
        <p:spPr>
          <a:xfrm xmlns:a="http://schemas.openxmlformats.org/drawingml/2006/main">
            <a:off x="5943600" y="1228725"/>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2729"/>
                </a:solidFill>
              </a:defRPr>
            </a:defPPr>
          </a:lstStyle>
          <a:p xmlns:a="http://schemas.openxmlformats.org/drawingml/2006/main">
            <a:pPr marL="0" indent="0">
              <a:spcBef>
                <a:spcPts val="0"/>
              </a:spcBef>
              <a:spcAft>
                <a:spcPts val="0"/>
              </a:spcAft>
              <a:defRPr sz="1800" b="0">
                <a:solidFill>
                  <a:srgbClr val="202729"/>
                </a:solidFill>
              </a:defRPr>
            </a:pPr>
            <a:r>
              <a:rPr sz="1800" b="0">
                <a:solidFill>
                  <a:srgbClr val="202729"/>
                </a:solidFill>
                <a:latin typeface="Proxima Nova"/>
                <a:ea typeface="Proxima Nova"/>
                <a:cs typeface="Proxima Nova"/>
              </a:rPr>
              <a:t>OCEC · UDP</a:t>
            </a:r>
          </a:p>
        </p:txBody>
      </p:sp>
      <p:sp>
        <p:nvSpPr>
          <p:cNvPr id="95" name="">
            <a:extLst xmlns:a="http://schemas.openxmlformats.org/drawingml/2006/main">
              <a:ext uri="{FF2B5EF4-FFF2-40B4-BE49-F238E27FC236}">
                <a16:creationId xmlns:a16="http://schemas.microsoft.com/office/drawing/2014/main" id="{EFD728E4-8006-4501-AADE-185105E8FFE1}"/>
              </a:ext>
            </a:extLst>
          </p:cNvPr>
          <p:cNvSpPr>
            <a:spLocks xmlns:a="http://schemas.openxmlformats.org/drawingml/2006/main" noGrp="1"/>
          </p:cNvSpPr>
          <p:nvPr/>
        </p:nvSpPr>
        <p:spPr>
          <a:xfrm xmlns:a="http://schemas.openxmlformats.org/drawingml/2006/main">
            <a:off x="323850" y="4276725"/>
            <a:ext cx="838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Antecedentes del problema · Escanea para revisar las fuentes</a:t>
            </a:r>
          </a:p>
        </p:txBody>
      </p:sp>
    </p:spTree>
    <p:extLst>
      <p:ext uri="{BB962C8B-B14F-4D97-AF65-F5344CB8AC3E}">
        <p14:creationId xmlns:p14="http://schemas.microsoft.com/office/powerpoint/2010/main" val="169608103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98" name="Google Shape;98;p17">
            <a:extLst xmlns:a="http://schemas.openxmlformats.org/drawingml/2006/main">
              <a:ext uri="{FF2B5EF4-FFF2-40B4-BE49-F238E27FC236}">
                <a16:creationId xmlns:a16="http://schemas.microsoft.com/office/drawing/2014/main" id="{EF7FA2C4-61F3-40D3-B56F-4532ED359ABC}"/>
              </a:ext>
            </a:extLst>
          </p:cNvPr>
          <p:cNvPicPr>
            <a:picLocks xmlns:a="http://schemas.openxmlformats.org/drawingml/2006/main" noChangeAspect="1"/>
          </p:cNvPicPr>
          <p:nvPr/>
        </p:nvPicPr>
        <p:blipFill>
          <a:blip xmlns:r="http://schemas.openxmlformats.org/officeDocument/2006/relationships" xmlns:a="http://schemas.openxmlformats.org/drawingml/2006/main" r:embed="R3fb4d04c52b24387">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pic>
        <p:nvPicPr>
          <p:cNvPr id="99" name="Google Shape;99;p17">
            <a:extLst xmlns:a="http://schemas.openxmlformats.org/drawingml/2006/main">
              <a:ext uri="{FF2B5EF4-FFF2-40B4-BE49-F238E27FC236}">
                <a16:creationId xmlns:a16="http://schemas.microsoft.com/office/drawing/2014/main" id="{9C5765D5-1FD4-43FE-AFFC-3722464F5EED}"/>
              </a:ext>
            </a:extLst>
          </p:cNvPr>
          <p:cNvPicPr>
            <a:picLocks xmlns:a="http://schemas.openxmlformats.org/drawingml/2006/main" noChangeAspect="1"/>
          </p:cNvPicPr>
          <p:nvPr/>
        </p:nvPicPr>
        <p:blipFill>
          <a:blip xmlns:r="http://schemas.openxmlformats.org/officeDocument/2006/relationships" xmlns:a="http://schemas.openxmlformats.org/drawingml/2006/main" r:embed="R107538e3fb96493c">
            <a:alphaModFix/>
          </a:blip>
          <a:stretch xmlns:a="http://schemas.openxmlformats.org/drawingml/2006/main">
            <a:fillRect l="0" t="0" r="0" b="0"/>
          </a:stretch>
        </p:blipFill>
        <p:spPr>
          <a:xfrm xmlns:a="http://schemas.openxmlformats.org/drawingml/2006/main">
            <a:off x="6353175" y="1914525"/>
            <a:ext cx="2190750" cy="2190750"/>
          </a:xfrm>
          <a:prstGeom xmlns:a="http://schemas.openxmlformats.org/drawingml/2006/main" prst="rect">
            <a:avLst/>
          </a:prstGeom>
          <a:ln xmlns:a="http://schemas.openxmlformats.org/drawingml/2006/main">
            <a:noFill/>
          </a:ln>
        </p:spPr>
      </p:pic>
      <p:sp>
        <p:nvSpPr>
          <p:cNvPr id="100" name="">
            <a:extLst xmlns:a="http://schemas.openxmlformats.org/drawingml/2006/main">
              <a:ext uri="{FF2B5EF4-FFF2-40B4-BE49-F238E27FC236}">
                <a16:creationId xmlns:a16="http://schemas.microsoft.com/office/drawing/2014/main" id="{F3116054-66FC-46DF-8EB2-3505A87BEDAA}"/>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Solución propuesta</a:t>
            </a:r>
          </a:p>
        </p:txBody>
      </p:sp>
      <p:sp>
        <p:nvSpPr>
          <p:cNvPr id="101" name="">
            <a:extLst xmlns:a="http://schemas.openxmlformats.org/drawingml/2006/main">
              <a:ext uri="{FF2B5EF4-FFF2-40B4-BE49-F238E27FC236}">
                <a16:creationId xmlns:a16="http://schemas.microsoft.com/office/drawing/2014/main" id="{8713D094-BD95-4CBC-97F2-84C691A9DD50}"/>
              </a:ext>
            </a:extLst>
          </p:cNvPr>
          <p:cNvSpPr>
            <a:spLocks xmlns:a="http://schemas.openxmlformats.org/drawingml/2006/main" noGrp="1"/>
          </p:cNvSpPr>
          <p:nvPr/>
        </p:nvSpPr>
        <p:spPr>
          <a:xfrm xmlns:a="http://schemas.openxmlformats.org/drawingml/2006/main">
            <a:off x="323850" y="1343025"/>
            <a:ext cx="542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Demostrar talento</a:t>
            </a:r>
          </a:p>
        </p:txBody>
      </p:sp>
      <p:sp>
        <p:nvSpPr>
          <p:cNvPr id="102" name="">
            <a:extLst xmlns:a="http://schemas.openxmlformats.org/drawingml/2006/main">
              <a:ext uri="{FF2B5EF4-FFF2-40B4-BE49-F238E27FC236}">
                <a16:creationId xmlns:a16="http://schemas.microsoft.com/office/drawing/2014/main" id="{ED8A147E-6DD4-4F5B-AF9A-BEA18258FAA2}"/>
              </a:ext>
            </a:extLst>
          </p:cNvPr>
          <p:cNvSpPr>
            <a:spLocks xmlns:a="http://schemas.openxmlformats.org/drawingml/2006/main" noGrp="1"/>
          </p:cNvSpPr>
          <p:nvPr/>
        </p:nvSpPr>
        <p:spPr>
          <a:xfrm xmlns:a="http://schemas.openxmlformats.org/drawingml/2006/main">
            <a:off x="323850" y="170497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Portafolio con proyectos y certificaciones.</a:t>
            </a:r>
          </a:p>
        </p:txBody>
      </p:sp>
      <p:sp>
        <p:nvSpPr>
          <p:cNvPr id="103" name="">
            <a:extLst xmlns:a="http://schemas.openxmlformats.org/drawingml/2006/main">
              <a:ext uri="{FF2B5EF4-FFF2-40B4-BE49-F238E27FC236}">
                <a16:creationId xmlns:a16="http://schemas.microsoft.com/office/drawing/2014/main" id="{DC0408F4-F5DD-4A42-BBAB-DFAD94D4F6C8}"/>
              </a:ext>
            </a:extLst>
          </p:cNvPr>
          <p:cNvSpPr>
            <a:spLocks xmlns:a="http://schemas.openxmlformats.org/drawingml/2006/main" noGrp="1"/>
          </p:cNvSpPr>
          <p:nvPr/>
        </p:nvSpPr>
        <p:spPr>
          <a:xfrm xmlns:a="http://schemas.openxmlformats.org/drawingml/2006/main">
            <a:off x="323850" y="2409825"/>
            <a:ext cx="542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Conectar con oportunidades</a:t>
            </a:r>
          </a:p>
        </p:txBody>
      </p:sp>
      <p:sp>
        <p:nvSpPr>
          <p:cNvPr id="104" name="">
            <a:extLst xmlns:a="http://schemas.openxmlformats.org/drawingml/2006/main">
              <a:ext uri="{FF2B5EF4-FFF2-40B4-BE49-F238E27FC236}">
                <a16:creationId xmlns:a16="http://schemas.microsoft.com/office/drawing/2014/main" id="{44541768-9FB6-4D5C-B25B-D9E9CB6A8A36}"/>
              </a:ext>
            </a:extLst>
          </p:cNvPr>
          <p:cNvSpPr>
            <a:spLocks xmlns:a="http://schemas.openxmlformats.org/drawingml/2006/main" noGrp="1"/>
          </p:cNvSpPr>
          <p:nvPr/>
        </p:nvSpPr>
        <p:spPr>
          <a:xfrm xmlns:a="http://schemas.openxmlformats.org/drawingml/2006/main">
            <a:off x="323850" y="277177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Ofertas y afinidad según el perfil.</a:t>
            </a:r>
          </a:p>
        </p:txBody>
      </p:sp>
      <p:sp>
        <p:nvSpPr>
          <p:cNvPr id="105" name="">
            <a:extLst xmlns:a="http://schemas.openxmlformats.org/drawingml/2006/main">
              <a:ext uri="{FF2B5EF4-FFF2-40B4-BE49-F238E27FC236}">
                <a16:creationId xmlns:a16="http://schemas.microsoft.com/office/drawing/2014/main" id="{7FA3510A-4CCA-4566-85C2-0F603B06DC06}"/>
              </a:ext>
            </a:extLst>
          </p:cNvPr>
          <p:cNvSpPr>
            <a:spLocks xmlns:a="http://schemas.openxmlformats.org/drawingml/2006/main" noGrp="1"/>
          </p:cNvSpPr>
          <p:nvPr/>
        </p:nvSpPr>
        <p:spPr>
          <a:xfrm xmlns:a="http://schemas.openxmlformats.org/drawingml/2006/main">
            <a:off x="323850" y="3476625"/>
            <a:ext cx="542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Llegar mejor preparado</a:t>
            </a:r>
          </a:p>
        </p:txBody>
      </p:sp>
      <p:sp>
        <p:nvSpPr>
          <p:cNvPr id="106" name="">
            <a:extLst xmlns:a="http://schemas.openxmlformats.org/drawingml/2006/main">
              <a:ext uri="{FF2B5EF4-FFF2-40B4-BE49-F238E27FC236}">
                <a16:creationId xmlns:a16="http://schemas.microsoft.com/office/drawing/2014/main" id="{C3F12669-9479-4DAD-A09E-9A975ADE8AB8}"/>
              </a:ext>
            </a:extLst>
          </p:cNvPr>
          <p:cNvSpPr>
            <a:spLocks xmlns:a="http://schemas.openxmlformats.org/drawingml/2006/main" noGrp="1"/>
          </p:cNvSpPr>
          <p:nvPr/>
        </p:nvSpPr>
        <p:spPr>
          <a:xfrm xmlns:a="http://schemas.openxmlformats.org/drawingml/2006/main">
            <a:off x="323850" y="383857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Revisión de presentación y entrevistas con IA.</a:t>
            </a:r>
          </a:p>
        </p:txBody>
      </p:sp>
    </p:spTree>
    <p:extLst>
      <p:ext uri="{BB962C8B-B14F-4D97-AF65-F5344CB8AC3E}">
        <p14:creationId xmlns:p14="http://schemas.microsoft.com/office/powerpoint/2010/main" val="8135217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6" name="Google Shape;106;p18">
            <a:extLst xmlns:a="http://schemas.openxmlformats.org/drawingml/2006/main">
              <a:ext uri="{FF2B5EF4-FFF2-40B4-BE49-F238E27FC236}">
                <a16:creationId xmlns:a16="http://schemas.microsoft.com/office/drawing/2014/main" id="{96803414-9113-4BAC-896C-C9A5FD0E172E}"/>
              </a:ext>
            </a:extLst>
          </p:cNvPr>
          <p:cNvPicPr>
            <a:picLocks xmlns:a="http://schemas.openxmlformats.org/drawingml/2006/main" noChangeAspect="1"/>
          </p:cNvPicPr>
          <p:nvPr/>
        </p:nvPicPr>
        <p:blipFill>
          <a:blip xmlns:r="http://schemas.openxmlformats.org/officeDocument/2006/relationships" xmlns:a="http://schemas.openxmlformats.org/drawingml/2006/main" r:embed="R9c444fd4300f431a">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pic>
        <p:nvPicPr>
          <p:cNvPr id="107" name="Google Shape;107;p18">
            <a:extLst xmlns:a="http://schemas.openxmlformats.org/drawingml/2006/main">
              <a:ext uri="{FF2B5EF4-FFF2-40B4-BE49-F238E27FC236}">
                <a16:creationId xmlns:a16="http://schemas.microsoft.com/office/drawing/2014/main" id="{73B17A4C-7362-4A29-9035-41CBE3487A0A}"/>
              </a:ext>
            </a:extLst>
          </p:cNvPr>
          <p:cNvPicPr>
            <a:picLocks xmlns:a="http://schemas.openxmlformats.org/drawingml/2006/main" noChangeAspect="1"/>
          </p:cNvPicPr>
          <p:nvPr/>
        </p:nvPicPr>
        <p:blipFill>
          <a:blip xmlns:r="http://schemas.openxmlformats.org/officeDocument/2006/relationships" xmlns:a="http://schemas.openxmlformats.org/drawingml/2006/main" r:embed="R2287a1b71b3d4cc6">
            <a:alphaModFix/>
          </a:blip>
          <a:stretch xmlns:a="http://schemas.openxmlformats.org/drawingml/2006/main">
            <a:fillRect l="0" t="0" r="0" b="0"/>
          </a:stretch>
        </p:blipFill>
        <p:spPr>
          <a:xfrm xmlns:a="http://schemas.openxmlformats.org/drawingml/2006/main">
            <a:off x="6381750" y="2247900"/>
            <a:ext cx="2333625" cy="1619250"/>
          </a:xfrm>
          <a:prstGeom xmlns:a="http://schemas.openxmlformats.org/drawingml/2006/main" prst="rect">
            <a:avLst/>
          </a:prstGeom>
          <a:ln xmlns:a="http://schemas.openxmlformats.org/drawingml/2006/main">
            <a:noFill/>
          </a:ln>
        </p:spPr>
      </p:pic>
      <p:sp>
        <p:nvSpPr>
          <p:cNvPr id="108" name="">
            <a:extLst xmlns:a="http://schemas.openxmlformats.org/drawingml/2006/main">
              <a:ext uri="{FF2B5EF4-FFF2-40B4-BE49-F238E27FC236}">
                <a16:creationId xmlns:a16="http://schemas.microsoft.com/office/drawing/2014/main" id="{7BB7A37D-C16F-43DC-8002-04486B6B67DE}"/>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Público objetivo</a:t>
            </a:r>
          </a:p>
        </p:txBody>
      </p:sp>
      <p:sp>
        <p:nvSpPr>
          <p:cNvPr id="109" name="">
            <a:extLst xmlns:a="http://schemas.openxmlformats.org/drawingml/2006/main">
              <a:ext uri="{FF2B5EF4-FFF2-40B4-BE49-F238E27FC236}">
                <a16:creationId xmlns:a16="http://schemas.microsoft.com/office/drawing/2014/main" id="{149657B5-688A-48EE-9FE4-6893773C8647}"/>
              </a:ext>
            </a:extLst>
          </p:cNvPr>
          <p:cNvSpPr>
            <a:spLocks xmlns:a="http://schemas.openxmlformats.org/drawingml/2006/main" noGrp="1"/>
          </p:cNvSpPr>
          <p:nvPr/>
        </p:nvSpPr>
        <p:spPr>
          <a:xfrm xmlns:a="http://schemas.openxmlformats.org/drawingml/2006/main">
            <a:off x="323850" y="1333500"/>
            <a:ext cx="552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Egresados</a:t>
            </a:r>
          </a:p>
        </p:txBody>
      </p:sp>
      <p:sp>
        <p:nvSpPr>
          <p:cNvPr id="110" name="">
            <a:extLst xmlns:a="http://schemas.openxmlformats.org/drawingml/2006/main">
              <a:ext uri="{FF2B5EF4-FFF2-40B4-BE49-F238E27FC236}">
                <a16:creationId xmlns:a16="http://schemas.microsoft.com/office/drawing/2014/main" id="{C56CFEFB-636F-45BB-9467-D7B78EFB25ED}"/>
              </a:ext>
            </a:extLst>
          </p:cNvPr>
          <p:cNvSpPr>
            <a:spLocks xmlns:a="http://schemas.openxmlformats.org/drawingml/2006/main" noGrp="1"/>
          </p:cNvSpPr>
          <p:nvPr/>
        </p:nvSpPr>
        <p:spPr>
          <a:xfrm xmlns:a="http://schemas.openxmlformats.org/drawingml/2006/main">
            <a:off x="323850" y="16954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Primer empleo y capacidades por demostrar.</a:t>
            </a:r>
          </a:p>
        </p:txBody>
      </p:sp>
      <p:sp>
        <p:nvSpPr>
          <p:cNvPr id="111" name="">
            <a:extLst xmlns:a="http://schemas.openxmlformats.org/drawingml/2006/main">
              <a:ext uri="{FF2B5EF4-FFF2-40B4-BE49-F238E27FC236}">
                <a16:creationId xmlns:a16="http://schemas.microsoft.com/office/drawing/2014/main" id="{CC6C99E2-15B3-41D4-8BC5-A40B1E373728}"/>
              </a:ext>
            </a:extLst>
          </p:cNvPr>
          <p:cNvSpPr>
            <a:spLocks xmlns:a="http://schemas.openxmlformats.org/drawingml/2006/main" noGrp="1"/>
          </p:cNvSpPr>
          <p:nvPr/>
        </p:nvSpPr>
        <p:spPr>
          <a:xfrm xmlns:a="http://schemas.openxmlformats.org/drawingml/2006/main">
            <a:off x="323850" y="2390775"/>
            <a:ext cx="552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Empresas</a:t>
            </a:r>
          </a:p>
        </p:txBody>
      </p:sp>
      <p:sp>
        <p:nvSpPr>
          <p:cNvPr id="112" name="">
            <a:extLst xmlns:a="http://schemas.openxmlformats.org/drawingml/2006/main">
              <a:ext uri="{FF2B5EF4-FFF2-40B4-BE49-F238E27FC236}">
                <a16:creationId xmlns:a16="http://schemas.microsoft.com/office/drawing/2014/main" id="{304DC776-B2E8-462E-99E3-F62479904165}"/>
              </a:ext>
            </a:extLst>
          </p:cNvPr>
          <p:cNvSpPr>
            <a:spLocks xmlns:a="http://schemas.openxmlformats.org/drawingml/2006/main" noGrp="1"/>
          </p:cNvSpPr>
          <p:nvPr/>
        </p:nvSpPr>
        <p:spPr>
          <a:xfrm xmlns:a="http://schemas.openxmlformats.org/drawingml/2006/main">
            <a:off x="323850" y="275272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Talento inicial con evidencia para evaluar.</a:t>
            </a:r>
          </a:p>
        </p:txBody>
      </p:sp>
      <p:sp>
        <p:nvSpPr>
          <p:cNvPr id="113" name="">
            <a:extLst xmlns:a="http://schemas.openxmlformats.org/drawingml/2006/main">
              <a:ext uri="{FF2B5EF4-FFF2-40B4-BE49-F238E27FC236}">
                <a16:creationId xmlns:a16="http://schemas.microsoft.com/office/drawing/2014/main" id="{9F7C0191-F3AD-4BB2-BFA3-324C5C1C4445}"/>
              </a:ext>
            </a:extLst>
          </p:cNvPr>
          <p:cNvSpPr>
            <a:spLocks xmlns:a="http://schemas.openxmlformats.org/drawingml/2006/main" noGrp="1"/>
          </p:cNvSpPr>
          <p:nvPr/>
        </p:nvSpPr>
        <p:spPr>
          <a:xfrm xmlns:a="http://schemas.openxmlformats.org/drawingml/2006/main">
            <a:off x="323850" y="3448050"/>
            <a:ext cx="552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Instituciones · a futuro</a:t>
            </a:r>
          </a:p>
        </p:txBody>
      </p:sp>
      <p:sp>
        <p:nvSpPr>
          <p:cNvPr id="114" name="">
            <a:extLst xmlns:a="http://schemas.openxmlformats.org/drawingml/2006/main">
              <a:ext uri="{FF2B5EF4-FFF2-40B4-BE49-F238E27FC236}">
                <a16:creationId xmlns:a16="http://schemas.microsoft.com/office/drawing/2014/main" id="{E4B5A758-B2ED-47E3-A255-75A78ECD340A}"/>
              </a:ext>
            </a:extLst>
          </p:cNvPr>
          <p:cNvSpPr>
            <a:spLocks xmlns:a="http://schemas.openxmlformats.org/drawingml/2006/main" noGrp="1"/>
          </p:cNvSpPr>
          <p:nvPr/>
        </p:nvSpPr>
        <p:spPr>
          <a:xfrm xmlns:a="http://schemas.openxmlformats.org/drawingml/2006/main">
            <a:off x="323850" y="381000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Posibles alianzas de formación y empleabilidad.</a:t>
            </a:r>
          </a:p>
        </p:txBody>
      </p:sp>
    </p:spTree>
    <p:extLst>
      <p:ext uri="{BB962C8B-B14F-4D97-AF65-F5344CB8AC3E}">
        <p14:creationId xmlns:p14="http://schemas.microsoft.com/office/powerpoint/2010/main" val="2850159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14" name="Google Shape;114;p19">
            <a:extLst xmlns:a="http://schemas.openxmlformats.org/drawingml/2006/main">
              <a:ext uri="{FF2B5EF4-FFF2-40B4-BE49-F238E27FC236}">
                <a16:creationId xmlns:a16="http://schemas.microsoft.com/office/drawing/2014/main" id="{E62AA963-8B31-43E5-8D99-C3AF746CB92A}"/>
              </a:ext>
            </a:extLst>
          </p:cNvPr>
          <p:cNvPicPr>
            <a:picLocks xmlns:a="http://schemas.openxmlformats.org/drawingml/2006/main" noChangeAspect="1"/>
          </p:cNvPicPr>
          <p:nvPr/>
        </p:nvPicPr>
        <p:blipFill>
          <a:blip xmlns:r="http://schemas.openxmlformats.org/officeDocument/2006/relationships" xmlns:a="http://schemas.openxmlformats.org/drawingml/2006/main" r:embed="Rb49dff5e0c99415a">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pic>
        <p:nvPicPr>
          <p:cNvPr id="115" name="Google Shape;115;p19">
            <a:extLst xmlns:a="http://schemas.openxmlformats.org/drawingml/2006/main">
              <a:ext uri="{FF2B5EF4-FFF2-40B4-BE49-F238E27FC236}">
                <a16:creationId xmlns:a16="http://schemas.microsoft.com/office/drawing/2014/main" id="{3E360920-D687-4AFE-BD25-042A723F7823}"/>
              </a:ext>
            </a:extLst>
          </p:cNvPr>
          <p:cNvPicPr>
            <a:picLocks xmlns:a="http://schemas.openxmlformats.org/drawingml/2006/main" noChangeAspect="1"/>
          </p:cNvPicPr>
          <p:nvPr/>
        </p:nvPicPr>
        <p:blipFill>
          <a:blip xmlns:r="http://schemas.openxmlformats.org/officeDocument/2006/relationships" xmlns:a="http://schemas.openxmlformats.org/drawingml/2006/main" r:embed="Rac8907a3ae7b4786">
            <a:alphaModFix/>
          </a:blip>
          <a:stretch xmlns:a="http://schemas.openxmlformats.org/drawingml/2006/main">
            <a:fillRect l="0" t="0" r="0" b="0"/>
          </a:stretch>
        </p:blipFill>
        <p:spPr>
          <a:xfrm xmlns:a="http://schemas.openxmlformats.org/drawingml/2006/main">
            <a:off x="3714750" y="2286000"/>
            <a:ext cx="1752600" cy="1752600"/>
          </a:xfrm>
          <a:prstGeom xmlns:a="http://schemas.openxmlformats.org/drawingml/2006/main" prst="rect">
            <a:avLst/>
          </a:prstGeom>
          <a:ln xmlns:a="http://schemas.openxmlformats.org/drawingml/2006/main">
            <a:noFill/>
          </a:ln>
        </p:spPr>
      </p:pic>
      <p:sp>
        <p:nvSpPr>
          <p:cNvPr id="116" name="">
            <a:extLst xmlns:a="http://schemas.openxmlformats.org/drawingml/2006/main">
              <a:ext uri="{FF2B5EF4-FFF2-40B4-BE49-F238E27FC236}">
                <a16:creationId xmlns:a16="http://schemas.microsoft.com/office/drawing/2014/main" id="{4E36AC1C-F155-43AC-8195-17BBA36B2BA6}"/>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Competencias e intereses</a:t>
            </a:r>
          </a:p>
        </p:txBody>
      </p:sp>
      <p:sp>
        <p:nvSpPr>
          <p:cNvPr id="117" name="">
            <a:extLst xmlns:a="http://schemas.openxmlformats.org/drawingml/2006/main">
              <a:ext uri="{FF2B5EF4-FFF2-40B4-BE49-F238E27FC236}">
                <a16:creationId xmlns:a16="http://schemas.microsoft.com/office/drawing/2014/main" id="{97A38A37-DDB2-4359-955B-EA9BBAA0D8CC}"/>
              </a:ext>
            </a:extLst>
          </p:cNvPr>
          <p:cNvSpPr>
            <a:spLocks xmlns:a="http://schemas.openxmlformats.org/drawingml/2006/main" noGrp="1"/>
          </p:cNvSpPr>
          <p:nvPr/>
        </p:nvSpPr>
        <p:spPr>
          <a:xfrm xmlns:a="http://schemas.openxmlformats.org/drawingml/2006/main">
            <a:off x="323850" y="13620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327251"/>
                </a:solidFill>
              </a:defRPr>
            </a:defPPr>
          </a:lstStyle>
          <a:p xmlns:a="http://schemas.openxmlformats.org/drawingml/2006/main">
            <a:pPr marL="0" indent="0">
              <a:spcBef>
                <a:spcPts val="0"/>
              </a:spcBef>
              <a:spcAft>
                <a:spcPts val="0"/>
              </a:spcAft>
              <a:defRPr sz="2100" b="1">
                <a:solidFill>
                  <a:srgbClr val="327251"/>
                </a:solidFill>
              </a:defRPr>
            </a:pPr>
            <a:r>
              <a:rPr sz="2100" b="1">
                <a:solidFill>
                  <a:srgbClr val="327251"/>
                </a:solidFill>
                <a:latin typeface="Proxima Nova"/>
                <a:ea typeface="Proxima Nova"/>
                <a:cs typeface="Proxima Nova"/>
              </a:rPr>
              <a:t>Lo que construimos</a:t>
            </a:r>
          </a:p>
        </p:txBody>
      </p:sp>
      <p:sp>
        <p:nvSpPr>
          <p:cNvPr id="118" name="">
            <a:extLst xmlns:a="http://schemas.openxmlformats.org/drawingml/2006/main">
              <a:ext uri="{FF2B5EF4-FFF2-40B4-BE49-F238E27FC236}">
                <a16:creationId xmlns:a16="http://schemas.microsoft.com/office/drawing/2014/main" id="{0472BD25-82B1-4041-9B85-8E79CBCD3C04}"/>
              </a:ext>
            </a:extLst>
          </p:cNvPr>
          <p:cNvSpPr>
            <a:spLocks xmlns:a="http://schemas.openxmlformats.org/drawingml/2006/main" noGrp="1"/>
          </p:cNvSpPr>
          <p:nvPr/>
        </p:nvSpPr>
        <p:spPr>
          <a:xfrm xmlns:a="http://schemas.openxmlformats.org/drawingml/2006/main">
            <a:off x="323850" y="1895475"/>
            <a:ext cx="3143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02729"/>
                </a:solidFill>
              </a:defRPr>
            </a:defPPr>
          </a:lstStyle>
          <a:p xmlns:a="http://schemas.openxmlformats.org/drawingml/2006/main">
            <a:pPr marL="0" indent="0">
              <a:spcBef>
                <a:spcPts val="0"/>
              </a:spcBef>
              <a:spcAft>
                <a:spcPts val="0"/>
              </a:spcAft>
              <a:defRPr sz="1875" b="0">
                <a:solidFill>
                  <a:srgbClr val="202729"/>
                </a:solidFill>
              </a:defRPr>
            </a:pPr>
            <a:r>
              <a:rPr sz="1875" b="0">
                <a:solidFill>
                  <a:srgbClr val="202729"/>
                </a:solidFill>
                <a:latin typeface="Proxima Nova"/>
                <a:ea typeface="Proxima Nova"/>
                <a:cs typeface="Proxima Nova"/>
              </a:rPr>
              <a:t>Desarrollo web</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Bases de datos</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Seguridad y arquitectura</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Integración de IA</a:t>
            </a:r>
          </a:p>
        </p:txBody>
      </p:sp>
      <p:sp>
        <p:nvSpPr>
          <p:cNvPr id="119" name="">
            <a:extLst xmlns:a="http://schemas.openxmlformats.org/drawingml/2006/main">
              <a:ext uri="{FF2B5EF4-FFF2-40B4-BE49-F238E27FC236}">
                <a16:creationId xmlns:a16="http://schemas.microsoft.com/office/drawing/2014/main" id="{6377DED2-1B5D-47E1-AF2E-A316324A8651}"/>
              </a:ext>
            </a:extLst>
          </p:cNvPr>
          <p:cNvSpPr>
            <a:spLocks xmlns:a="http://schemas.openxmlformats.org/drawingml/2006/main" noGrp="1"/>
          </p:cNvSpPr>
          <p:nvPr/>
        </p:nvSpPr>
        <p:spPr>
          <a:xfrm xmlns:a="http://schemas.openxmlformats.org/drawingml/2006/main">
            <a:off x="5810250" y="1362075"/>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327251"/>
                </a:solidFill>
              </a:defRPr>
            </a:defPPr>
          </a:lstStyle>
          <a:p xmlns:a="http://schemas.openxmlformats.org/drawingml/2006/main">
            <a:pPr marL="0" indent="0">
              <a:spcBef>
                <a:spcPts val="0"/>
              </a:spcBef>
              <a:spcAft>
                <a:spcPts val="0"/>
              </a:spcAft>
              <a:defRPr sz="2100" b="1">
                <a:solidFill>
                  <a:srgbClr val="327251"/>
                </a:solidFill>
              </a:defRPr>
            </a:pPr>
            <a:r>
              <a:rPr sz="2100" b="1">
                <a:solidFill>
                  <a:srgbClr val="327251"/>
                </a:solidFill>
                <a:latin typeface="Proxima Nova"/>
                <a:ea typeface="Proxima Nova"/>
                <a:cs typeface="Proxima Nova"/>
              </a:rPr>
              <a:t>Por qué nos importa</a:t>
            </a:r>
          </a:p>
        </p:txBody>
      </p:sp>
      <p:sp>
        <p:nvSpPr>
          <p:cNvPr id="120" name="">
            <a:extLst xmlns:a="http://schemas.openxmlformats.org/drawingml/2006/main">
              <a:ext uri="{FF2B5EF4-FFF2-40B4-BE49-F238E27FC236}">
                <a16:creationId xmlns:a16="http://schemas.microsoft.com/office/drawing/2014/main" id="{4B2F9BF9-388F-492E-A91B-3F52D5178DB6}"/>
              </a:ext>
            </a:extLst>
          </p:cNvPr>
          <p:cNvSpPr>
            <a:spLocks xmlns:a="http://schemas.openxmlformats.org/drawingml/2006/main" noGrp="1"/>
          </p:cNvSpPr>
          <p:nvPr/>
        </p:nvSpPr>
        <p:spPr>
          <a:xfrm xmlns:a="http://schemas.openxmlformats.org/drawingml/2006/main">
            <a:off x="5810250" y="1914525"/>
            <a:ext cx="295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02729"/>
                </a:solidFill>
              </a:defRPr>
            </a:defPPr>
          </a:lstStyle>
          <a:p xmlns:a="http://schemas.openxmlformats.org/drawingml/2006/main">
            <a:pPr marL="0" indent="0">
              <a:spcBef>
                <a:spcPts val="0"/>
              </a:spcBef>
              <a:spcAft>
                <a:spcPts val="0"/>
              </a:spcAft>
              <a:defRPr sz="1875" b="0">
                <a:solidFill>
                  <a:srgbClr val="202729"/>
                </a:solidFill>
              </a:defRPr>
            </a:pPr>
            <a:r>
              <a:rPr sz="1875" b="0">
                <a:solidFill>
                  <a:srgbClr val="202729"/>
                </a:solidFill>
                <a:latin typeface="Proxima Nova"/>
                <a:ea typeface="Proxima Nova"/>
                <a:cs typeface="Proxima Nova"/>
              </a:rPr>
              <a:t>También estamos buscando</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nuestra primera oportunidad.</a:t>
            </a:r>
            <a:br>
              <a:rPr sz="1875" b="0">
                <a:solidFill>
                  <a:srgbClr val="202729"/>
                </a:solidFill>
                <a:latin typeface="Proxima Nova"/>
                <a:ea typeface="Proxima Nova"/>
                <a:cs typeface="Proxima Nova"/>
              </a:rPr>
            </a:b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Diseñamos desde un</a:t>
            </a:r>
            <a:br>
              <a:rPr sz="1875" b="0">
                <a:solidFill>
                  <a:srgbClr val="202729"/>
                </a:solidFill>
                <a:latin typeface="Proxima Nova"/>
                <a:ea typeface="Proxima Nova"/>
                <a:cs typeface="Proxima Nova"/>
              </a:rPr>
            </a:br>
            <a:r>
              <a:rPr sz="1875" b="0">
                <a:solidFill>
                  <a:srgbClr val="202729"/>
                </a:solidFill>
                <a:latin typeface="Proxima Nova"/>
                <a:ea typeface="Proxima Nova"/>
                <a:cs typeface="Proxima Nova"/>
              </a:rPr>
              <a:t>problema que conocemos.</a:t>
            </a:r>
          </a:p>
        </p:txBody>
      </p:sp>
    </p:spTree>
    <p:extLst>
      <p:ext uri="{BB962C8B-B14F-4D97-AF65-F5344CB8AC3E}">
        <p14:creationId xmlns:p14="http://schemas.microsoft.com/office/powerpoint/2010/main" val="2715300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23" name="Google Shape;123;p20">
            <a:extLst xmlns:a="http://schemas.openxmlformats.org/drawingml/2006/main">
              <a:ext uri="{FF2B5EF4-FFF2-40B4-BE49-F238E27FC236}">
                <a16:creationId xmlns:a16="http://schemas.microsoft.com/office/drawing/2014/main" id="{DBD68FE3-0DFD-4604-94BB-7DF470E2E3F9}"/>
              </a:ext>
            </a:extLst>
          </p:cNvPr>
          <p:cNvPicPr>
            <a:picLocks xmlns:a="http://schemas.openxmlformats.org/drawingml/2006/main" noChangeAspect="1"/>
          </p:cNvPicPr>
          <p:nvPr/>
        </p:nvPicPr>
        <p:blipFill>
          <a:blip xmlns:r="http://schemas.openxmlformats.org/officeDocument/2006/relationships" xmlns:a="http://schemas.openxmlformats.org/drawingml/2006/main" r:embed="R918050a7991e4692">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pic>
        <p:nvPicPr>
          <p:cNvPr id="124" name="Google Shape;124;p20">
            <a:extLst xmlns:a="http://schemas.openxmlformats.org/drawingml/2006/main">
              <a:ext uri="{FF2B5EF4-FFF2-40B4-BE49-F238E27FC236}">
                <a16:creationId xmlns:a16="http://schemas.microsoft.com/office/drawing/2014/main" id="{F9FF1F45-C69E-4118-9E61-A6F2BCE9A108}"/>
              </a:ext>
            </a:extLst>
          </p:cNvPr>
          <p:cNvPicPr>
            <a:picLocks xmlns:a="http://schemas.openxmlformats.org/drawingml/2006/main" noChangeAspect="1"/>
          </p:cNvPicPr>
          <p:nvPr/>
        </p:nvPicPr>
        <p:blipFill>
          <a:blip xmlns:r="http://schemas.openxmlformats.org/officeDocument/2006/relationships" xmlns:a="http://schemas.openxmlformats.org/drawingml/2006/main" r:embed="Rafa4e742dd8045c0">
            <a:alphaModFix/>
          </a:blip>
          <a:stretch xmlns:a="http://schemas.openxmlformats.org/drawingml/2006/main">
            <a:fillRect l="0" t="0" r="0" b="0"/>
          </a:stretch>
        </p:blipFill>
        <p:spPr>
          <a:xfrm xmlns:a="http://schemas.openxmlformats.org/drawingml/2006/main">
            <a:off x="5124450" y="2171700"/>
            <a:ext cx="3667125" cy="2333625"/>
          </a:xfrm>
          <a:prstGeom xmlns:a="http://schemas.openxmlformats.org/drawingml/2006/main" prst="rect">
            <a:avLst/>
          </a:prstGeom>
          <a:ln xmlns:a="http://schemas.openxmlformats.org/drawingml/2006/main">
            <a:noFill/>
          </a:ln>
        </p:spPr>
      </p:pic>
      <p:sp>
        <p:nvSpPr>
          <p:cNvPr id="125" name="">
            <a:extLst xmlns:a="http://schemas.openxmlformats.org/drawingml/2006/main">
              <a:ext uri="{FF2B5EF4-FFF2-40B4-BE49-F238E27FC236}">
                <a16:creationId xmlns:a16="http://schemas.microsoft.com/office/drawing/2014/main" id="{638D6DA7-E85D-4A42-B285-F361C577146A}"/>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Metodología de desarrollo</a:t>
            </a:r>
          </a:p>
        </p:txBody>
      </p:sp>
      <p:sp>
        <p:nvSpPr>
          <p:cNvPr id="126" name="">
            <a:extLst xmlns:a="http://schemas.openxmlformats.org/drawingml/2006/main">
              <a:ext uri="{FF2B5EF4-FFF2-40B4-BE49-F238E27FC236}">
                <a16:creationId xmlns:a16="http://schemas.microsoft.com/office/drawing/2014/main" id="{1794DE08-EB13-43E1-9023-64A1AD6DFECF}"/>
              </a:ext>
            </a:extLst>
          </p:cNvPr>
          <p:cNvSpPr>
            <a:spLocks xmlns:a="http://schemas.openxmlformats.org/drawingml/2006/main" noGrp="1"/>
          </p:cNvSpPr>
          <p:nvPr/>
        </p:nvSpPr>
        <p:spPr>
          <a:xfrm xmlns:a="http://schemas.openxmlformats.org/drawingml/2006/main">
            <a:off x="323850" y="1238250"/>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27251"/>
                </a:solidFill>
              </a:defRPr>
            </a:defPPr>
          </a:lstStyle>
          <a:p xmlns:a="http://schemas.openxmlformats.org/drawingml/2006/main">
            <a:pPr marL="0" indent="0">
              <a:spcBef>
                <a:spcPts val="0"/>
              </a:spcBef>
              <a:spcAft>
                <a:spcPts val="0"/>
              </a:spcAft>
              <a:defRPr sz="2175" b="1">
                <a:solidFill>
                  <a:srgbClr val="327251"/>
                </a:solidFill>
              </a:defRPr>
            </a:pPr>
            <a:r>
              <a:rPr sz="2175" b="1">
                <a:solidFill>
                  <a:srgbClr val="327251"/>
                </a:solidFill>
                <a:latin typeface="Proxima Nova"/>
                <a:ea typeface="Proxima Nova"/>
                <a:cs typeface="Proxima Nova"/>
              </a:rPr>
              <a:t>Scrum: construir, probar y mejorar.</a:t>
            </a:r>
          </a:p>
        </p:txBody>
      </p:sp>
      <p:sp>
        <p:nvSpPr>
          <p:cNvPr id="127" name="">
            <a:extLst xmlns:a="http://schemas.openxmlformats.org/drawingml/2006/main">
              <a:ext uri="{FF2B5EF4-FFF2-40B4-BE49-F238E27FC236}">
                <a16:creationId xmlns:a16="http://schemas.microsoft.com/office/drawing/2014/main" id="{B342AA90-D4C9-4350-B770-630FC9F96B2C}"/>
              </a:ext>
            </a:extLst>
          </p:cNvPr>
          <p:cNvSpPr>
            <a:spLocks xmlns:a="http://schemas.openxmlformats.org/drawingml/2006/main" noGrp="1"/>
          </p:cNvSpPr>
          <p:nvPr/>
        </p:nvSpPr>
        <p:spPr>
          <a:xfrm xmlns:a="http://schemas.openxmlformats.org/drawingml/2006/main">
            <a:off x="323850" y="1933575"/>
            <a:ext cx="4476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2729"/>
                </a:solidFill>
              </a:defRPr>
            </a:defPPr>
          </a:lstStyle>
          <a:p xmlns:a="http://schemas.openxmlformats.org/drawingml/2006/main">
            <a:pPr marL="0" indent="0">
              <a:spcBef>
                <a:spcPts val="0"/>
              </a:spcBef>
              <a:spcAft>
                <a:spcPts val="0"/>
              </a:spcAft>
              <a:defRPr sz="1725" b="0">
                <a:solidFill>
                  <a:srgbClr val="202729"/>
                </a:solidFill>
              </a:defRPr>
            </a:pPr>
            <a:r>
              <a:rPr sz="1725" b="0">
                <a:solidFill>
                  <a:srgbClr val="202729"/>
                </a:solidFill>
                <a:latin typeface="Proxima Nova"/>
                <a:ea typeface="Proxima Nova"/>
                <a:cs typeface="Proxima Nova"/>
              </a:rPr>
              <a:t>Roberto Orrego</a:t>
            </a:r>
            <a:br>
              <a:rPr sz="1725" b="0">
                <a:solidFill>
                  <a:srgbClr val="202729"/>
                </a:solidFill>
                <a:latin typeface="Proxima Nova"/>
                <a:ea typeface="Proxima Nova"/>
                <a:cs typeface="Proxima Nova"/>
              </a:rPr>
            </a:br>
            <a:r>
              <a:rPr sz="1725" b="0">
                <a:solidFill>
                  <a:srgbClr val="202729"/>
                </a:solidFill>
                <a:latin typeface="Proxima Nova"/>
                <a:ea typeface="Proxima Nova"/>
                <a:cs typeface="Proxima Nova"/>
              </a:rPr>
              <a:t>Desarrollo · Scrum Master</a:t>
            </a:r>
            <a:br>
              <a:rPr sz="1725" b="0">
                <a:solidFill>
                  <a:srgbClr val="202729"/>
                </a:solidFill>
                <a:latin typeface="Proxima Nova"/>
                <a:ea typeface="Proxima Nova"/>
                <a:cs typeface="Proxima Nova"/>
              </a:rPr>
            </a:br>
            <a:br>
              <a:rPr sz="1725" b="0">
                <a:solidFill>
                  <a:srgbClr val="202729"/>
                </a:solidFill>
                <a:latin typeface="Proxima Nova"/>
                <a:ea typeface="Proxima Nova"/>
                <a:cs typeface="Proxima Nova"/>
              </a:rPr>
            </a:br>
            <a:r>
              <a:rPr sz="1725" b="0">
                <a:solidFill>
                  <a:srgbClr val="202729"/>
                </a:solidFill>
                <a:latin typeface="Proxima Nova"/>
                <a:ea typeface="Proxima Nova"/>
                <a:cs typeface="Proxima Nova"/>
              </a:rPr>
              <a:t>Cristobal Lara</a:t>
            </a:r>
            <a:br>
              <a:rPr sz="1725" b="0">
                <a:solidFill>
                  <a:srgbClr val="202729"/>
                </a:solidFill>
                <a:latin typeface="Proxima Nova"/>
                <a:ea typeface="Proxima Nova"/>
                <a:cs typeface="Proxima Nova"/>
              </a:rPr>
            </a:br>
            <a:r>
              <a:rPr sz="1725" b="0">
                <a:solidFill>
                  <a:srgbClr val="202729"/>
                </a:solidFill>
                <a:latin typeface="Proxima Nova"/>
                <a:ea typeface="Proxima Nova"/>
                <a:cs typeface="Proxima Nova"/>
              </a:rPr>
              <a:t>Desarrollo · Ciberseguridad</a:t>
            </a:r>
            <a:br>
              <a:rPr sz="1725" b="0">
                <a:solidFill>
                  <a:srgbClr val="202729"/>
                </a:solidFill>
                <a:latin typeface="Proxima Nova"/>
                <a:ea typeface="Proxima Nova"/>
                <a:cs typeface="Proxima Nova"/>
              </a:rPr>
            </a:br>
            <a:br>
              <a:rPr sz="1725" b="0">
                <a:solidFill>
                  <a:srgbClr val="202729"/>
                </a:solidFill>
                <a:latin typeface="Proxima Nova"/>
                <a:ea typeface="Proxima Nova"/>
                <a:cs typeface="Proxima Nova"/>
              </a:rPr>
            </a:br>
            <a:r>
              <a:rPr sz="1725" b="0">
                <a:solidFill>
                  <a:srgbClr val="202729"/>
                </a:solidFill>
                <a:latin typeface="Proxima Nova"/>
                <a:ea typeface="Proxima Nova"/>
                <a:cs typeface="Proxima Nova"/>
              </a:rPr>
              <a:t>Matías Werner</a:t>
            </a:r>
            <a:br>
              <a:rPr sz="1725" b="0">
                <a:solidFill>
                  <a:srgbClr val="202729"/>
                </a:solidFill>
                <a:latin typeface="Proxima Nova"/>
                <a:ea typeface="Proxima Nova"/>
                <a:cs typeface="Proxima Nova"/>
              </a:rPr>
            </a:br>
            <a:r>
              <a:rPr sz="1725" b="0">
                <a:solidFill>
                  <a:srgbClr val="202729"/>
                </a:solidFill>
                <a:latin typeface="Proxima Nova"/>
                <a:ea typeface="Proxima Nova"/>
                <a:cs typeface="Proxima Nova"/>
              </a:rPr>
              <a:t>Desarrollo · Módulo IA</a:t>
            </a:r>
          </a:p>
        </p:txBody>
      </p:sp>
    </p:spTree>
    <p:extLst>
      <p:ext uri="{BB962C8B-B14F-4D97-AF65-F5344CB8AC3E}">
        <p14:creationId xmlns:p14="http://schemas.microsoft.com/office/powerpoint/2010/main" val="10446785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10DE6C-47E8-4BCB-A172-75D84A81A24F}"/>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Sprints · del concepto al MVP</a:t>
            </a:r>
          </a:p>
        </p:txBody>
      </p:sp>
      <p:sp>
        <p:nvSpPr>
          <p:cNvPr id="2" name="">
            <a:extLst xmlns:a="http://schemas.openxmlformats.org/drawingml/2006/main">
              <a:ext uri="{FF2B5EF4-FFF2-40B4-BE49-F238E27FC236}">
                <a16:creationId xmlns:a16="http://schemas.microsoft.com/office/drawing/2014/main" id="{CF2CA4BA-58AE-44EE-A3FA-0D9B242BF498}"/>
              </a:ext>
            </a:extLst>
          </p:cNvPr>
          <p:cNvSpPr>
            <a:spLocks xmlns:a="http://schemas.openxmlformats.org/drawingml/2006/main" noGrp="1"/>
          </p:cNvSpPr>
          <p:nvPr/>
        </p:nvSpPr>
        <p:spPr>
          <a:xfrm xmlns:a="http://schemas.openxmlformats.org/drawingml/2006/main">
            <a:off x="323850" y="1190625"/>
            <a:ext cx="838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1–3 · Base del proyecto</a:t>
            </a:r>
          </a:p>
        </p:txBody>
      </p:sp>
      <p:sp>
        <p:nvSpPr>
          <p:cNvPr id="3" name="">
            <a:extLst xmlns:a="http://schemas.openxmlformats.org/drawingml/2006/main">
              <a:ext uri="{FF2B5EF4-FFF2-40B4-BE49-F238E27FC236}">
                <a16:creationId xmlns:a16="http://schemas.microsoft.com/office/drawing/2014/main" id="{62091538-D5F6-4520-9A01-4CDF6C18559D}"/>
              </a:ext>
            </a:extLst>
          </p:cNvPr>
          <p:cNvSpPr>
            <a:spLocks xmlns:a="http://schemas.openxmlformats.org/drawingml/2006/main" noGrp="1"/>
          </p:cNvSpPr>
          <p:nvPr/>
        </p:nvSpPr>
        <p:spPr>
          <a:xfrm xmlns:a="http://schemas.openxmlformats.org/drawingml/2006/main">
            <a:off x="323850" y="15525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Definición, diseño, cuentas y base de datos.</a:t>
            </a:r>
          </a:p>
        </p:txBody>
      </p:sp>
      <p:sp>
        <p:nvSpPr>
          <p:cNvPr id="4" name="">
            <a:extLst xmlns:a="http://schemas.openxmlformats.org/drawingml/2006/main">
              <a:ext uri="{FF2B5EF4-FFF2-40B4-BE49-F238E27FC236}">
                <a16:creationId xmlns:a16="http://schemas.microsoft.com/office/drawing/2014/main" id="{E2FE816B-8F7F-4953-B149-87D3D283B771}"/>
              </a:ext>
            </a:extLst>
          </p:cNvPr>
          <p:cNvSpPr>
            <a:spLocks xmlns:a="http://schemas.openxmlformats.org/drawingml/2006/main" noGrp="1"/>
          </p:cNvSpPr>
          <p:nvPr/>
        </p:nvSpPr>
        <p:spPr>
          <a:xfrm xmlns:a="http://schemas.openxmlformats.org/drawingml/2006/main">
            <a:off x="323850" y="1990725"/>
            <a:ext cx="838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4–6 · Recorrido funcional</a:t>
            </a:r>
          </a:p>
        </p:txBody>
      </p:sp>
      <p:sp>
        <p:nvSpPr>
          <p:cNvPr id="5" name="">
            <a:extLst xmlns:a="http://schemas.openxmlformats.org/drawingml/2006/main">
              <a:ext uri="{FF2B5EF4-FFF2-40B4-BE49-F238E27FC236}">
                <a16:creationId xmlns:a16="http://schemas.microsoft.com/office/drawing/2014/main" id="{557DE093-A964-4932-8FE3-866D019E1F74}"/>
              </a:ext>
            </a:extLst>
          </p:cNvPr>
          <p:cNvSpPr>
            <a:spLocks xmlns:a="http://schemas.openxmlformats.org/drawingml/2006/main" noGrp="1"/>
          </p:cNvSpPr>
          <p:nvPr/>
        </p:nvSpPr>
        <p:spPr>
          <a:xfrm xmlns:a="http://schemas.openxmlformats.org/drawingml/2006/main">
            <a:off x="323850" y="23526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Hubs, ofertas, portafolio y postulaciones.</a:t>
            </a:r>
          </a:p>
        </p:txBody>
      </p:sp>
      <p:sp>
        <p:nvSpPr>
          <p:cNvPr id="6" name="">
            <a:extLst xmlns:a="http://schemas.openxmlformats.org/drawingml/2006/main">
              <a:ext uri="{FF2B5EF4-FFF2-40B4-BE49-F238E27FC236}">
                <a16:creationId xmlns:a16="http://schemas.microsoft.com/office/drawing/2014/main" id="{B0D5323C-DB7C-454D-A63C-2D97C443083F}"/>
              </a:ext>
            </a:extLst>
          </p:cNvPr>
          <p:cNvSpPr>
            <a:spLocks xmlns:a="http://schemas.openxmlformats.org/drawingml/2006/main" noGrp="1"/>
          </p:cNvSpPr>
          <p:nvPr/>
        </p:nvSpPr>
        <p:spPr>
          <a:xfrm xmlns:a="http://schemas.openxmlformats.org/drawingml/2006/main">
            <a:off x="323850" y="2790825"/>
            <a:ext cx="838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7 · Orientación con IA</a:t>
            </a:r>
          </a:p>
        </p:txBody>
      </p:sp>
      <p:sp>
        <p:nvSpPr>
          <p:cNvPr id="7" name="">
            <a:extLst xmlns:a="http://schemas.openxmlformats.org/drawingml/2006/main">
              <a:ext uri="{FF2B5EF4-FFF2-40B4-BE49-F238E27FC236}">
                <a16:creationId xmlns:a16="http://schemas.microsoft.com/office/drawing/2014/main" id="{33D3F4DA-06BC-4C47-A4B7-2434162C75C9}"/>
              </a:ext>
            </a:extLst>
          </p:cNvPr>
          <p:cNvSpPr>
            <a:spLocks xmlns:a="http://schemas.openxmlformats.org/drawingml/2006/main" noGrp="1"/>
          </p:cNvSpPr>
          <p:nvPr/>
        </p:nvSpPr>
        <p:spPr>
          <a:xfrm xmlns:a="http://schemas.openxmlformats.org/drawingml/2006/main">
            <a:off x="323850" y="31527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Gemini, entrevista diaria y preparación por oferta.</a:t>
            </a:r>
          </a:p>
        </p:txBody>
      </p:sp>
      <p:sp>
        <p:nvSpPr>
          <p:cNvPr id="8" name="">
            <a:extLst xmlns:a="http://schemas.openxmlformats.org/drawingml/2006/main">
              <a:ext uri="{FF2B5EF4-FFF2-40B4-BE49-F238E27FC236}">
                <a16:creationId xmlns:a16="http://schemas.microsoft.com/office/drawing/2014/main" id="{E79D1BB1-DBBC-4406-A8BF-F58275D645F0}"/>
              </a:ext>
            </a:extLst>
          </p:cNvPr>
          <p:cNvSpPr>
            <a:spLocks xmlns:a="http://schemas.openxmlformats.org/drawingml/2006/main" noGrp="1"/>
          </p:cNvSpPr>
          <p:nvPr/>
        </p:nvSpPr>
        <p:spPr>
          <a:xfrm xmlns:a="http://schemas.openxmlformats.org/drawingml/2006/main">
            <a:off x="323850" y="3590925"/>
            <a:ext cx="838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8–11 · Próximas etapas</a:t>
            </a:r>
          </a:p>
        </p:txBody>
      </p:sp>
      <p:sp>
        <p:nvSpPr>
          <p:cNvPr id="9" name="">
            <a:extLst xmlns:a="http://schemas.openxmlformats.org/drawingml/2006/main">
              <a:ext uri="{FF2B5EF4-FFF2-40B4-BE49-F238E27FC236}">
                <a16:creationId xmlns:a16="http://schemas.microsoft.com/office/drawing/2014/main" id="{DD5CDD1C-C80D-42CE-B1B8-25F6AF248749}"/>
              </a:ext>
            </a:extLst>
          </p:cNvPr>
          <p:cNvSpPr>
            <a:spLocks xmlns:a="http://schemas.openxmlformats.org/drawingml/2006/main" noGrp="1"/>
          </p:cNvSpPr>
          <p:nvPr/>
        </p:nvSpPr>
        <p:spPr>
          <a:xfrm xmlns:a="http://schemas.openxmlformats.org/drawingml/2006/main">
            <a:off x="323850" y="39528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Seguimiento, carga, auditoría y entrega final.</a:t>
            </a:r>
          </a:p>
        </p:txBody>
      </p:sp>
      <p:sp>
        <p:nvSpPr>
          <p:cNvPr id="10" name="">
            <a:extLst xmlns:a="http://schemas.openxmlformats.org/drawingml/2006/main">
              <a:ext uri="{FF2B5EF4-FFF2-40B4-BE49-F238E27FC236}">
                <a16:creationId xmlns:a16="http://schemas.microsoft.com/office/drawing/2014/main" id="{78D6C04E-92C3-47CB-A7CE-3FF97EC44408}"/>
              </a:ext>
            </a:extLst>
          </p:cNvPr>
          <p:cNvSpPr>
            <a:spLocks xmlns:a="http://schemas.openxmlformats.org/drawingml/2006/main" noGrp="1"/>
          </p:cNvSpPr>
          <p:nvPr/>
        </p:nvSpPr>
        <p:spPr>
          <a:xfrm xmlns:a="http://schemas.openxmlformats.org/drawingml/2006/main">
            <a:off x="323850" y="456247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327251"/>
                </a:solidFill>
              </a:defRPr>
            </a:defPPr>
          </a:lstStyle>
          <a:p xmlns:a="http://schemas.openxmlformats.org/drawingml/2006/main">
            <a:pPr marL="0" indent="0">
              <a:spcBef>
                <a:spcPts val="0"/>
              </a:spcBef>
              <a:spcAft>
                <a:spcPts val="0"/>
              </a:spcAft>
              <a:defRPr sz="1575" b="1">
                <a:solidFill>
                  <a:srgbClr val="327251"/>
                </a:solidFill>
              </a:defRPr>
            </a:pPr>
            <a:r>
              <a:rPr sz="1575" b="1">
                <a:solidFill>
                  <a:srgbClr val="327251"/>
                </a:solidFill>
                <a:latin typeface="Proxima Nova"/>
                <a:ea typeface="Proxima Nova"/>
                <a:cs typeface="Proxima Nova"/>
              </a:rPr>
              <a:t>Ya disponible: despliegue en Vercel y datos en Neon.</a:t>
            </a:r>
          </a:p>
        </p:txBody>
      </p:sp>
    </p:spTree>
    <p:extLst>
      <p:ext uri="{BB962C8B-B14F-4D97-AF65-F5344CB8AC3E}">
        <p14:creationId xmlns:p14="http://schemas.microsoft.com/office/powerpoint/2010/main" val="45385252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7" name="Google Shape;137;p22">
            <a:extLst xmlns:a="http://schemas.openxmlformats.org/drawingml/2006/main">
              <a:ext uri="{FF2B5EF4-FFF2-40B4-BE49-F238E27FC236}">
                <a16:creationId xmlns:a16="http://schemas.microsoft.com/office/drawing/2014/main" id="{DFA64A3A-B367-4683-A564-89A8FF0C84E8}"/>
              </a:ext>
            </a:extLst>
          </p:cNvPr>
          <p:cNvPicPr>
            <a:picLocks xmlns:a="http://schemas.openxmlformats.org/drawingml/2006/main" noChangeAspect="1"/>
          </p:cNvPicPr>
          <p:nvPr/>
        </p:nvPicPr>
        <p:blipFill>
          <a:blip xmlns:r="http://schemas.openxmlformats.org/officeDocument/2006/relationships" xmlns:a="http://schemas.openxmlformats.org/drawingml/2006/main" r:embed="Rcf8c62dd5c41465b">
            <a:alphaModFix/>
          </a:blip>
          <a:stretch xmlns:a="http://schemas.openxmlformats.org/drawingml/2006/main">
            <a:fillRect l="0" t="0" r="0" b="0"/>
          </a:stretch>
        </p:blipFill>
        <p:spPr>
          <a:xfrm xmlns:a="http://schemas.openxmlformats.org/drawingml/2006/main">
            <a:off x="0" y="-3"/>
            <a:ext cx="1789064" cy="445025"/>
          </a:xfrm>
          <a:prstGeom xmlns:a="http://schemas.openxmlformats.org/drawingml/2006/main" prst="rect">
            <a:avLst/>
          </a:prstGeom>
          <a:ln xmlns:a="http://schemas.openxmlformats.org/drawingml/2006/main">
            <a:noFill/>
          </a:ln>
        </p:spPr>
      </p:pic>
      <p:sp>
        <p:nvSpPr>
          <p:cNvPr id="139" name="">
            <a:extLst xmlns:a="http://schemas.openxmlformats.org/drawingml/2006/main">
              <a:ext uri="{FF2B5EF4-FFF2-40B4-BE49-F238E27FC236}">
                <a16:creationId xmlns:a16="http://schemas.microsoft.com/office/drawing/2014/main" id="{2B40D234-2A73-44D5-AE6B-D191048B4B86}"/>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Mapa tecnológico</a:t>
            </a:r>
          </a:p>
        </p:txBody>
      </p:sp>
      <p:sp>
        <p:nvSpPr>
          <p:cNvPr id="140" name="">
            <a:extLst xmlns:a="http://schemas.openxmlformats.org/drawingml/2006/main">
              <a:ext uri="{FF2B5EF4-FFF2-40B4-BE49-F238E27FC236}">
                <a16:creationId xmlns:a16="http://schemas.microsoft.com/office/drawing/2014/main" id="{BF830F84-5DF0-4926-9904-2B5D7F74297F}"/>
              </a:ext>
            </a:extLst>
          </p:cNvPr>
          <p:cNvSpPr>
            <a:spLocks xmlns:a="http://schemas.openxmlformats.org/drawingml/2006/main" noGrp="1"/>
          </p:cNvSpPr>
          <p:nvPr/>
        </p:nvSpPr>
        <p:spPr>
          <a:xfrm xmlns:a="http://schemas.openxmlformats.org/drawingml/2006/main">
            <a:off x="323850" y="125730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Interfaz</a:t>
            </a:r>
          </a:p>
        </p:txBody>
      </p:sp>
      <p:sp>
        <p:nvSpPr>
          <p:cNvPr id="141" name="">
            <a:extLst xmlns:a="http://schemas.openxmlformats.org/drawingml/2006/main">
              <a:ext uri="{FF2B5EF4-FFF2-40B4-BE49-F238E27FC236}">
                <a16:creationId xmlns:a16="http://schemas.microsoft.com/office/drawing/2014/main" id="{11E12A00-9835-473B-973F-B0FAEF1AF3C7}"/>
              </a:ext>
            </a:extLst>
          </p:cNvPr>
          <p:cNvSpPr>
            <a:spLocks xmlns:a="http://schemas.openxmlformats.org/drawingml/2006/main" noGrp="1"/>
          </p:cNvSpPr>
          <p:nvPr/>
        </p:nvSpPr>
        <p:spPr>
          <a:xfrm xmlns:a="http://schemas.openxmlformats.org/drawingml/2006/main">
            <a:off x="323850" y="15716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02729"/>
                </a:solidFill>
              </a:defRPr>
            </a:defPPr>
          </a:lstStyle>
          <a:p xmlns:a="http://schemas.openxmlformats.org/drawingml/2006/main">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React · JavaScript · CSS</a:t>
            </a:r>
          </a:p>
        </p:txBody>
      </p:sp>
      <p:sp>
        <p:nvSpPr>
          <p:cNvPr id="142" name="">
            <a:extLst xmlns:a="http://schemas.openxmlformats.org/drawingml/2006/main">
              <a:ext uri="{FF2B5EF4-FFF2-40B4-BE49-F238E27FC236}">
                <a16:creationId xmlns:a16="http://schemas.microsoft.com/office/drawing/2014/main" id="{40C95D23-588D-43E2-B9C0-0BD8C202D757}"/>
              </a:ext>
            </a:extLst>
          </p:cNvPr>
          <p:cNvSpPr>
            <a:spLocks xmlns:a="http://schemas.openxmlformats.org/drawingml/2006/main" noGrp="1"/>
          </p:cNvSpPr>
          <p:nvPr/>
        </p:nvSpPr>
        <p:spPr>
          <a:xfrm xmlns:a="http://schemas.openxmlformats.org/drawingml/2006/main">
            <a:off x="323850" y="196215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Navegación y formularios</a:t>
            </a:r>
          </a:p>
        </p:txBody>
      </p:sp>
      <p:sp>
        <p:nvSpPr>
          <p:cNvPr id="143" name="">
            <a:extLst xmlns:a="http://schemas.openxmlformats.org/drawingml/2006/main">
              <a:ext uri="{FF2B5EF4-FFF2-40B4-BE49-F238E27FC236}">
                <a16:creationId xmlns:a16="http://schemas.microsoft.com/office/drawing/2014/main" id="{6008E86E-02DE-410C-B70B-F3A7BE9E90A0}"/>
              </a:ext>
            </a:extLst>
          </p:cNvPr>
          <p:cNvSpPr>
            <a:spLocks xmlns:a="http://schemas.openxmlformats.org/drawingml/2006/main" noGrp="1"/>
          </p:cNvSpPr>
          <p:nvPr/>
        </p:nvSpPr>
        <p:spPr>
          <a:xfrm xmlns:a="http://schemas.openxmlformats.org/drawingml/2006/main">
            <a:off x="4762500" y="125730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API</a:t>
            </a:r>
          </a:p>
        </p:txBody>
      </p:sp>
      <p:sp>
        <p:nvSpPr>
          <p:cNvPr id="144" name="">
            <a:extLst xmlns:a="http://schemas.openxmlformats.org/drawingml/2006/main">
              <a:ext uri="{FF2B5EF4-FFF2-40B4-BE49-F238E27FC236}">
                <a16:creationId xmlns:a16="http://schemas.microsoft.com/office/drawing/2014/main" id="{0FDF36BE-8554-42C1-81F8-238D873136D4}"/>
              </a:ext>
            </a:extLst>
          </p:cNvPr>
          <p:cNvSpPr>
            <a:spLocks xmlns:a="http://schemas.openxmlformats.org/drawingml/2006/main" noGrp="1"/>
          </p:cNvSpPr>
          <p:nvPr/>
        </p:nvSpPr>
        <p:spPr>
          <a:xfrm xmlns:a="http://schemas.openxmlformats.org/drawingml/2006/main">
            <a:off x="4762500" y="15716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02729"/>
                </a:solidFill>
              </a:defRPr>
            </a:defPPr>
          </a:lstStyle>
          <a:p xmlns:a="http://schemas.openxmlformats.org/drawingml/2006/main">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Python · FastAPI · SQLAlchemy</a:t>
            </a:r>
          </a:p>
        </p:txBody>
      </p:sp>
      <p:sp>
        <p:nvSpPr>
          <p:cNvPr id="145" name="">
            <a:extLst xmlns:a="http://schemas.openxmlformats.org/drawingml/2006/main">
              <a:ext uri="{FF2B5EF4-FFF2-40B4-BE49-F238E27FC236}">
                <a16:creationId xmlns:a16="http://schemas.microsoft.com/office/drawing/2014/main" id="{79858DB8-7A05-4B43-826D-0AB094C14811}"/>
              </a:ext>
            </a:extLst>
          </p:cNvPr>
          <p:cNvSpPr>
            <a:spLocks xmlns:a="http://schemas.openxmlformats.org/drawingml/2006/main" noGrp="1"/>
          </p:cNvSpPr>
          <p:nvPr/>
        </p:nvSpPr>
        <p:spPr>
          <a:xfrm xmlns:a="http://schemas.openxmlformats.org/drawingml/2006/main">
            <a:off x="4762500" y="196215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Reglas, permisos y datos</a:t>
            </a:r>
          </a:p>
        </p:txBody>
      </p:sp>
      <p:sp>
        <p:nvSpPr>
          <p:cNvPr id="146" name="">
            <a:extLst xmlns:a="http://schemas.openxmlformats.org/drawingml/2006/main">
              <a:ext uri="{FF2B5EF4-FFF2-40B4-BE49-F238E27FC236}">
                <a16:creationId xmlns:a16="http://schemas.microsoft.com/office/drawing/2014/main" id="{7F786607-E647-4944-96CD-14763BDAB22F}"/>
              </a:ext>
            </a:extLst>
          </p:cNvPr>
          <p:cNvSpPr>
            <a:spLocks xmlns:a="http://schemas.openxmlformats.org/drawingml/2006/main" noGrp="1"/>
          </p:cNvSpPr>
          <p:nvPr/>
        </p:nvSpPr>
        <p:spPr>
          <a:xfrm xmlns:a="http://schemas.openxmlformats.org/drawingml/2006/main">
            <a:off x="323850" y="243840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Persistencia</a:t>
            </a:r>
          </a:p>
        </p:txBody>
      </p:sp>
      <p:sp>
        <p:nvSpPr>
          <p:cNvPr id="147" name="">
            <a:extLst xmlns:a="http://schemas.openxmlformats.org/drawingml/2006/main">
              <a:ext uri="{FF2B5EF4-FFF2-40B4-BE49-F238E27FC236}">
                <a16:creationId xmlns:a16="http://schemas.microsoft.com/office/drawing/2014/main" id="{F9B46049-8076-4ADE-93F9-EBA9EC1082BE}"/>
              </a:ext>
            </a:extLst>
          </p:cNvPr>
          <p:cNvSpPr>
            <a:spLocks xmlns:a="http://schemas.openxmlformats.org/drawingml/2006/main" noGrp="1"/>
          </p:cNvSpPr>
          <p:nvPr/>
        </p:nvSpPr>
        <p:spPr>
          <a:xfrm xmlns:a="http://schemas.openxmlformats.org/drawingml/2006/main">
            <a:off x="323850" y="27527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02729"/>
                </a:solidFill>
              </a:defRPr>
            </a:defPPr>
          </a:lstStyle>
          <a:p xmlns:a="http://schemas.openxmlformats.org/drawingml/2006/main">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PostgreSQL · Neon · Alembic</a:t>
            </a:r>
          </a:p>
        </p:txBody>
      </p:sp>
      <p:sp>
        <p:nvSpPr>
          <p:cNvPr id="148" name="">
            <a:extLst xmlns:a="http://schemas.openxmlformats.org/drawingml/2006/main">
              <a:ext uri="{FF2B5EF4-FFF2-40B4-BE49-F238E27FC236}">
                <a16:creationId xmlns:a16="http://schemas.microsoft.com/office/drawing/2014/main" id="{D2D78A9E-83E8-4950-B6D9-A6149EA473EA}"/>
              </a:ext>
            </a:extLst>
          </p:cNvPr>
          <p:cNvSpPr>
            <a:spLocks xmlns:a="http://schemas.openxmlformats.org/drawingml/2006/main" noGrp="1"/>
          </p:cNvSpPr>
          <p:nvPr/>
        </p:nvSpPr>
        <p:spPr>
          <a:xfrm xmlns:a="http://schemas.openxmlformats.org/drawingml/2006/main">
            <a:off x="323850" y="314325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Datos y migraciones</a:t>
            </a:r>
          </a:p>
        </p:txBody>
      </p:sp>
      <p:sp>
        <p:nvSpPr>
          <p:cNvPr id="149" name="">
            <a:extLst xmlns:a="http://schemas.openxmlformats.org/drawingml/2006/main">
              <a:ext uri="{FF2B5EF4-FFF2-40B4-BE49-F238E27FC236}">
                <a16:creationId xmlns:a16="http://schemas.microsoft.com/office/drawing/2014/main" id="{953D9C24-3691-42FB-8BD7-66FAD42BCCFB}"/>
              </a:ext>
            </a:extLst>
          </p:cNvPr>
          <p:cNvSpPr>
            <a:spLocks xmlns:a="http://schemas.openxmlformats.org/drawingml/2006/main" noGrp="1"/>
          </p:cNvSpPr>
          <p:nvPr/>
        </p:nvSpPr>
        <p:spPr>
          <a:xfrm xmlns:a="http://schemas.openxmlformats.org/drawingml/2006/main">
            <a:off x="4762500" y="243840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Orientación IA</a:t>
            </a:r>
          </a:p>
        </p:txBody>
      </p:sp>
      <p:sp>
        <p:nvSpPr>
          <p:cNvPr id="150" name="">
            <a:extLst xmlns:a="http://schemas.openxmlformats.org/drawingml/2006/main">
              <a:ext uri="{FF2B5EF4-FFF2-40B4-BE49-F238E27FC236}">
                <a16:creationId xmlns:a16="http://schemas.microsoft.com/office/drawing/2014/main" id="{B45594A5-7D53-4871-A36A-71C499EBA3BD}"/>
              </a:ext>
            </a:extLst>
          </p:cNvPr>
          <p:cNvSpPr>
            <a:spLocks xmlns:a="http://schemas.openxmlformats.org/drawingml/2006/main" noGrp="1"/>
          </p:cNvSpPr>
          <p:nvPr/>
        </p:nvSpPr>
        <p:spPr>
          <a:xfrm xmlns:a="http://schemas.openxmlformats.org/drawingml/2006/main">
            <a:off x="4762500" y="27527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02729"/>
                </a:solidFill>
              </a:defRPr>
            </a:defPPr>
          </a:lstStyle>
          <a:p xmlns:a="http://schemas.openxmlformats.org/drawingml/2006/main">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Google Gemini</a:t>
            </a:r>
          </a:p>
        </p:txBody>
      </p:sp>
      <p:sp>
        <p:nvSpPr>
          <p:cNvPr id="151" name="">
            <a:extLst xmlns:a="http://schemas.openxmlformats.org/drawingml/2006/main">
              <a:ext uri="{FF2B5EF4-FFF2-40B4-BE49-F238E27FC236}">
                <a16:creationId xmlns:a16="http://schemas.microsoft.com/office/drawing/2014/main" id="{7B887E62-E3AB-4F4B-A696-FA7378ABF700}"/>
              </a:ext>
            </a:extLst>
          </p:cNvPr>
          <p:cNvSpPr>
            <a:spLocks xmlns:a="http://schemas.openxmlformats.org/drawingml/2006/main" noGrp="1"/>
          </p:cNvSpPr>
          <p:nvPr/>
        </p:nvSpPr>
        <p:spPr>
          <a:xfrm xmlns:a="http://schemas.openxmlformats.org/drawingml/2006/main">
            <a:off x="4762500" y="314325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Preparación del egresado</a:t>
            </a:r>
          </a:p>
        </p:txBody>
      </p:sp>
      <p:sp>
        <p:nvSpPr>
          <p:cNvPr id="152" name="">
            <a:extLst xmlns:a="http://schemas.openxmlformats.org/drawingml/2006/main">
              <a:ext uri="{FF2B5EF4-FFF2-40B4-BE49-F238E27FC236}">
                <a16:creationId xmlns:a16="http://schemas.microsoft.com/office/drawing/2014/main" id="{77BC7129-2805-4A87-96BB-29C9772A9884}"/>
              </a:ext>
            </a:extLst>
          </p:cNvPr>
          <p:cNvSpPr>
            <a:spLocks xmlns:a="http://schemas.openxmlformats.org/drawingml/2006/main" noGrp="1"/>
          </p:cNvSpPr>
          <p:nvPr/>
        </p:nvSpPr>
        <p:spPr>
          <a:xfrm xmlns:a="http://schemas.openxmlformats.org/drawingml/2006/main">
            <a:off x="323850" y="361950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Archivos</a:t>
            </a:r>
          </a:p>
        </p:txBody>
      </p:sp>
      <p:sp>
        <p:nvSpPr>
          <p:cNvPr id="153" name="">
            <a:extLst xmlns:a="http://schemas.openxmlformats.org/drawingml/2006/main">
              <a:ext uri="{FF2B5EF4-FFF2-40B4-BE49-F238E27FC236}">
                <a16:creationId xmlns:a16="http://schemas.microsoft.com/office/drawing/2014/main" id="{E5F08A93-EBA8-4D06-B5D0-EE902DCC854B}"/>
              </a:ext>
            </a:extLst>
          </p:cNvPr>
          <p:cNvSpPr>
            <a:spLocks xmlns:a="http://schemas.openxmlformats.org/drawingml/2006/main" noGrp="1"/>
          </p:cNvSpPr>
          <p:nvPr/>
        </p:nvSpPr>
        <p:spPr>
          <a:xfrm xmlns:a="http://schemas.openxmlformats.org/drawingml/2006/main">
            <a:off x="323850" y="39338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02729"/>
                </a:solidFill>
              </a:defRPr>
            </a:defPPr>
          </a:lstStyle>
          <a:p xmlns:a="http://schemas.openxmlformats.org/drawingml/2006/main">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Vercel Blob</a:t>
            </a:r>
          </a:p>
        </p:txBody>
      </p:sp>
      <p:sp>
        <p:nvSpPr>
          <p:cNvPr id="154" name="">
            <a:extLst xmlns:a="http://schemas.openxmlformats.org/drawingml/2006/main">
              <a:ext uri="{FF2B5EF4-FFF2-40B4-BE49-F238E27FC236}">
                <a16:creationId xmlns:a16="http://schemas.microsoft.com/office/drawing/2014/main" id="{462AF25F-EB05-4FCF-9E73-10DD8AE3E179}"/>
              </a:ext>
            </a:extLst>
          </p:cNvPr>
          <p:cNvSpPr>
            <a:spLocks xmlns:a="http://schemas.openxmlformats.org/drawingml/2006/main" noGrp="1"/>
          </p:cNvSpPr>
          <p:nvPr/>
        </p:nvSpPr>
        <p:spPr>
          <a:xfrm xmlns:a="http://schemas.openxmlformats.org/drawingml/2006/main">
            <a:off x="323850" y="432435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Fotos, videos y documentos</a:t>
            </a:r>
          </a:p>
        </p:txBody>
      </p:sp>
      <p:sp>
        <p:nvSpPr>
          <p:cNvPr id="155" name="">
            <a:extLst xmlns:a="http://schemas.openxmlformats.org/drawingml/2006/main">
              <a:ext uri="{FF2B5EF4-FFF2-40B4-BE49-F238E27FC236}">
                <a16:creationId xmlns:a16="http://schemas.microsoft.com/office/drawing/2014/main" id="{C94E3817-91DE-4809-9F2D-AF1D8BE2FFBB}"/>
              </a:ext>
            </a:extLst>
          </p:cNvPr>
          <p:cNvSpPr>
            <a:spLocks xmlns:a="http://schemas.openxmlformats.org/drawingml/2006/main" noGrp="1"/>
          </p:cNvSpPr>
          <p:nvPr/>
        </p:nvSpPr>
        <p:spPr>
          <a:xfrm xmlns:a="http://schemas.openxmlformats.org/drawingml/2006/main">
            <a:off x="4762500" y="361950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Entrega y calidad</a:t>
            </a:r>
          </a:p>
        </p:txBody>
      </p:sp>
      <p:sp>
        <p:nvSpPr>
          <p:cNvPr id="156" name="">
            <a:extLst xmlns:a="http://schemas.openxmlformats.org/drawingml/2006/main">
              <a:ext uri="{FF2B5EF4-FFF2-40B4-BE49-F238E27FC236}">
                <a16:creationId xmlns:a16="http://schemas.microsoft.com/office/drawing/2014/main" id="{03673D2B-C90A-4F65-B608-0878B7F543D1}"/>
              </a:ext>
            </a:extLst>
          </p:cNvPr>
          <p:cNvSpPr>
            <a:spLocks xmlns:a="http://schemas.openxmlformats.org/drawingml/2006/main" noGrp="1"/>
          </p:cNvSpPr>
          <p:nvPr/>
        </p:nvSpPr>
        <p:spPr>
          <a:xfrm xmlns:a="http://schemas.openxmlformats.org/drawingml/2006/main">
            <a:off x="4762500" y="39338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02729"/>
                </a:solidFill>
              </a:defRPr>
            </a:defPPr>
          </a:lstStyle>
          <a:p xmlns:a="http://schemas.openxmlformats.org/drawingml/2006/main">
            <a:pPr marL="0" indent="0">
              <a:spcBef>
                <a:spcPts val="0"/>
              </a:spcBef>
              <a:spcAft>
                <a:spcPts val="0"/>
              </a:spcAft>
              <a:defRPr sz="1875" b="1">
                <a:solidFill>
                  <a:srgbClr val="202729"/>
                </a:solidFill>
              </a:defRPr>
            </a:pPr>
            <a:r>
              <a:rPr sz="1875" b="1">
                <a:solidFill>
                  <a:srgbClr val="202729"/>
                </a:solidFill>
                <a:latin typeface="Proxima Nova"/>
                <a:ea typeface="Proxima Nova"/>
                <a:cs typeface="Proxima Nova"/>
              </a:rPr>
              <a:t>Vercel · GitHub · unittest</a:t>
            </a:r>
          </a:p>
        </p:txBody>
      </p:sp>
      <p:sp>
        <p:nvSpPr>
          <p:cNvPr id="157" name="">
            <a:extLst xmlns:a="http://schemas.openxmlformats.org/drawingml/2006/main">
              <a:ext uri="{FF2B5EF4-FFF2-40B4-BE49-F238E27FC236}">
                <a16:creationId xmlns:a16="http://schemas.microsoft.com/office/drawing/2014/main" id="{6469B642-6524-4E12-80D1-F9B3744CD6B8}"/>
              </a:ext>
            </a:extLst>
          </p:cNvPr>
          <p:cNvSpPr>
            <a:spLocks xmlns:a="http://schemas.openxmlformats.org/drawingml/2006/main" noGrp="1"/>
          </p:cNvSpPr>
          <p:nvPr/>
        </p:nvSpPr>
        <p:spPr>
          <a:xfrm xmlns:a="http://schemas.openxmlformats.org/drawingml/2006/main">
            <a:off x="4762500" y="4324350"/>
            <a:ext cx="3905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16161"/>
                </a:solidFill>
              </a:defRPr>
            </a:defPPr>
          </a:lstStyle>
          <a:p xmlns:a="http://schemas.openxmlformats.org/drawingml/2006/main">
            <a:pPr marL="0" indent="0">
              <a:spcBef>
                <a:spcPts val="0"/>
              </a:spcBef>
              <a:spcAft>
                <a:spcPts val="0"/>
              </a:spcAft>
              <a:defRPr sz="1575" b="0">
                <a:solidFill>
                  <a:srgbClr val="616161"/>
                </a:solidFill>
              </a:defRPr>
            </a:pPr>
            <a:r>
              <a:rPr sz="1575" b="0">
                <a:solidFill>
                  <a:srgbClr val="616161"/>
                </a:solidFill>
                <a:latin typeface="Proxima Nova"/>
                <a:ea typeface="Proxima Nova"/>
                <a:cs typeface="Proxima Nova"/>
              </a:rPr>
              <a:t>Despliegue y verificación</a:t>
            </a:r>
          </a:p>
        </p:txBody>
      </p:sp>
    </p:spTree>
    <p:extLst>
      <p:ext uri="{BB962C8B-B14F-4D97-AF65-F5344CB8AC3E}">
        <p14:creationId xmlns:p14="http://schemas.microsoft.com/office/powerpoint/2010/main" val="12856421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C6D37847-C9A3-42B9-8238-D3772536AC8B}"/>
              </a:ext>
            </a:extLst>
          </p:cNvPr>
          <p:cNvCxnSpPr>
            <a:stCxn xmlns:a="http://schemas.openxmlformats.org/drawingml/2006/main" id="7" idx="3"/>
            <a:endCxn xmlns:a="http://schemas.openxmlformats.org/drawingml/2006/main" id="8" idx="1"/>
          </p:cNvCxnSpPr>
          <p:nvPr/>
        </p:nvCxnSpPr>
        <p:spPr>
          <a:xfrm xmlns:a="http://schemas.openxmlformats.org/drawingml/2006/main">
            <a:off x="5295900" y="4114800"/>
            <a:ext cx="1400175" cy="0"/>
          </a:xfrm>
          <a:prstGeom xmlns:a="http://schemas.openxmlformats.org/drawingml/2006/main" prst="straightConnector1">
            <a:avLst/>
          </a:prstGeom>
          <a:ln xmlns:a="http://schemas.openxmlformats.org/drawingml/2006/main" w="19050">
            <a:solidFill>
              <a:srgbClr val="327251"/>
            </a:solidFill>
            <a:tailEnd type="triangle" w="sm" len="sm"/>
          </a:ln>
        </p:spPr>
      </p:cxnSp>
      <p:cxnSp>
        <p:nvCxnSpPr>
          <p:cNvPr id="12" name="">
            <a:extLst xmlns:a="http://schemas.openxmlformats.org/drawingml/2006/main">
              <a:ext uri="{FF2B5EF4-FFF2-40B4-BE49-F238E27FC236}">
                <a16:creationId xmlns:a16="http://schemas.microsoft.com/office/drawing/2014/main" id="{E66AAF27-B1CF-4C3D-AEE5-3F701D3E5177}"/>
              </a:ext>
            </a:extLst>
          </p:cNvPr>
          <p:cNvCxnSpPr>
            <a:stCxn xmlns:a="http://schemas.openxmlformats.org/drawingml/2006/main" id="3" idx="2"/>
            <a:endCxn xmlns:a="http://schemas.openxmlformats.org/drawingml/2006/main" id="7" idx="1"/>
          </p:cNvCxnSpPr>
          <p:nvPr/>
        </p:nvCxnSpPr>
        <p:spPr>
          <a:xfrm xmlns:a="http://schemas.openxmlformats.org/drawingml/2006/main">
            <a:off x="1228725" y="3162300"/>
            <a:ext cx="1981200" cy="952500"/>
          </a:xfrm>
          <a:prstGeom xmlns:a="http://schemas.openxmlformats.org/drawingml/2006/main" prst="bentConnector5">
            <a:avLst>
              <a:gd name="adj1" fmla="val 0"/>
              <a:gd name="adj2" fmla="val 24000"/>
              <a:gd name="adj3" fmla="val 88462"/>
            </a:avLst>
          </a:prstGeom>
          <a:ln xmlns:a="http://schemas.openxmlformats.org/drawingml/2006/main" w="19050">
            <a:solidFill>
              <a:srgbClr val="327251"/>
            </a:solidFill>
            <a:tailEnd type="triangle" w="sm" len="sm"/>
          </a:ln>
        </p:spPr>
      </p:cxnSp>
      <p:cxnSp>
        <p:nvCxnSpPr>
          <p:cNvPr id="11" name="">
            <a:extLst xmlns:a="http://schemas.openxmlformats.org/drawingml/2006/main">
              <a:ext uri="{FF2B5EF4-FFF2-40B4-BE49-F238E27FC236}">
                <a16:creationId xmlns:a16="http://schemas.microsoft.com/office/drawing/2014/main" id="{663FAEA1-4CC3-48FF-8E8A-D50E98BBBE17}"/>
              </a:ext>
            </a:extLst>
          </p:cNvPr>
          <p:cNvCxnSpPr>
            <a:stCxn xmlns:a="http://schemas.openxmlformats.org/drawingml/2006/main" id="4" idx="3"/>
            <a:endCxn xmlns:a="http://schemas.openxmlformats.org/drawingml/2006/main" id="6" idx="1"/>
          </p:cNvCxnSpPr>
          <p:nvPr/>
        </p:nvCxnSpPr>
        <p:spPr>
          <a:xfrm xmlns:a="http://schemas.openxmlformats.org/drawingml/2006/main">
            <a:off x="5295900" y="2662238"/>
            <a:ext cx="1400175" cy="257175"/>
          </a:xfrm>
          <a:prstGeom xmlns:a="http://schemas.openxmlformats.org/drawingml/2006/main" prst="bentConnector3">
            <a:avLst>
              <a:gd name="adj1" fmla="val 50000"/>
            </a:avLst>
          </a:prstGeom>
          <a:ln xmlns:a="http://schemas.openxmlformats.org/drawingml/2006/main" w="19050">
            <a:solidFill>
              <a:srgbClr val="327251"/>
            </a:solidFill>
            <a:tailEnd type="triangle" w="sm" len="sm"/>
          </a:ln>
        </p:spPr>
      </p:cxnSp>
      <p:cxnSp>
        <p:nvCxnSpPr>
          <p:cNvPr id="10" name="">
            <a:extLst xmlns:a="http://schemas.openxmlformats.org/drawingml/2006/main">
              <a:ext uri="{FF2B5EF4-FFF2-40B4-BE49-F238E27FC236}">
                <a16:creationId xmlns:a16="http://schemas.microsoft.com/office/drawing/2014/main" id="{B6089478-D485-4C08-B6F6-E015CA351EB8}"/>
              </a:ext>
            </a:extLst>
          </p:cNvPr>
          <p:cNvCxnSpPr>
            <a:stCxn xmlns:a="http://schemas.openxmlformats.org/drawingml/2006/main" id="4" idx="3"/>
            <a:endCxn xmlns:a="http://schemas.openxmlformats.org/drawingml/2006/main" id="5" idx="1"/>
          </p:cNvCxnSpPr>
          <p:nvPr/>
        </p:nvCxnSpPr>
        <p:spPr>
          <a:xfrm xmlns:a="http://schemas.openxmlformats.org/drawingml/2006/main" flipV="1">
            <a:off x="5295900" y="1709738"/>
            <a:ext cx="1400175" cy="952500"/>
          </a:xfrm>
          <a:prstGeom xmlns:a="http://schemas.openxmlformats.org/drawingml/2006/main" prst="bentConnector3">
            <a:avLst>
              <a:gd name="adj1" fmla="val 50000"/>
            </a:avLst>
          </a:prstGeom>
          <a:ln xmlns:a="http://schemas.openxmlformats.org/drawingml/2006/main" w="19050">
            <a:solidFill>
              <a:srgbClr val="327251"/>
            </a:solidFill>
            <a:tailEnd type="triangle" w="sm" len="sm"/>
          </a:ln>
        </p:spPr>
      </p:cxnSp>
      <p:cxnSp>
        <p:nvCxnSpPr>
          <p:cNvPr id="9" name="">
            <a:extLst xmlns:a="http://schemas.openxmlformats.org/drawingml/2006/main">
              <a:ext uri="{FF2B5EF4-FFF2-40B4-BE49-F238E27FC236}">
                <a16:creationId xmlns:a16="http://schemas.microsoft.com/office/drawing/2014/main" id="{BCE5ED3C-6124-424E-9C01-2422C0CF151D}"/>
              </a:ext>
            </a:extLst>
          </p:cNvPr>
          <p:cNvCxnSpPr>
            <a:stCxn xmlns:a="http://schemas.openxmlformats.org/drawingml/2006/main" id="3" idx="3"/>
            <a:endCxn xmlns:a="http://schemas.openxmlformats.org/drawingml/2006/main" id="4" idx="1"/>
          </p:cNvCxnSpPr>
          <p:nvPr/>
        </p:nvCxnSpPr>
        <p:spPr>
          <a:xfrm xmlns:a="http://schemas.openxmlformats.org/drawingml/2006/main">
            <a:off x="2124075" y="2662238"/>
            <a:ext cx="1085850" cy="0"/>
          </a:xfrm>
          <a:prstGeom xmlns:a="http://schemas.openxmlformats.org/drawingml/2006/main" prst="straightConnector1">
            <a:avLst/>
          </a:prstGeom>
          <a:ln xmlns:a="http://schemas.openxmlformats.org/drawingml/2006/main" w="19050">
            <a:solidFill>
              <a:srgbClr val="327251"/>
            </a:solidFill>
            <a:tailEnd type="triangle" w="sm" len="sm"/>
          </a:ln>
        </p:spPr>
      </p:cxnSp>
      <p:pic>
        <p:nvPicPr>
          <p:cNvPr id="19" name="">
            <a:extLst xmlns:a="http://schemas.openxmlformats.org/drawingml/2006/main">
              <a:ext uri="{FF2B5EF4-FFF2-40B4-BE49-F238E27FC236}">
                <a16:creationId xmlns:a16="http://schemas.microsoft.com/office/drawing/2014/main" id="{846322F1-5D6E-4A08-BA8E-269D8EF8E93B}"/>
              </a:ext>
            </a:extLst>
          </p:cNvPr>
          <p:cNvPicPr>
            <a:picLocks xmlns:a="http://schemas.openxmlformats.org/drawingml/2006/main" noChangeAspect="1"/>
          </p:cNvPicPr>
          <p:nvPr/>
        </p:nvPicPr>
        <p:blipFill>
          <a:blip xmlns:r="http://schemas.openxmlformats.org/officeDocument/2006/relationships" xmlns:a="http://schemas.openxmlformats.org/drawingml/2006/main" r:embed="R8982cc3759544af1"/>
          <a:stretch xmlns:a="http://schemas.openxmlformats.org/drawingml/2006/main"/>
        </p:blipFill>
        <p:spPr>
          <a:xfrm xmlns:a="http://schemas.openxmlformats.org/drawingml/2006/main">
            <a:off x="52" y="0"/>
            <a:ext cx="1788977" cy="4450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6B553F-9653-4BAC-A107-E736FD305FD3}"/>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Arquitectura de BranchIT</a:t>
            </a:r>
          </a:p>
        </p:txBody>
      </p:sp>
      <p:sp>
        <p:nvSpPr>
          <p:cNvPr id="3" name="">
            <a:extLst xmlns:a="http://schemas.openxmlformats.org/drawingml/2006/main">
              <a:ext uri="{FF2B5EF4-FFF2-40B4-BE49-F238E27FC236}">
                <a16:creationId xmlns:a16="http://schemas.microsoft.com/office/drawing/2014/main" id="{DD0DE6BE-9400-4AEB-90D0-EC6659AF8537}"/>
              </a:ext>
            </a:extLst>
          </p:cNvPr>
          <p:cNvSpPr>
            <a:spLocks xmlns:a="http://schemas.openxmlformats.org/drawingml/2006/main" noGrp="1"/>
          </p:cNvSpPr>
          <p:nvPr/>
        </p:nvSpPr>
        <p:spPr>
          <a:xfrm xmlns:a="http://schemas.openxmlformats.org/drawingml/2006/main">
            <a:off x="333375" y="2162175"/>
            <a:ext cx="1790700" cy="1000125"/>
          </a:xfrm>
          <a:prstGeom xmlns:a="http://schemas.openxmlformats.org/drawingml/2006/main" prst="rect">
            <a:avLst/>
          </a:prstGeom>
          <a:solidFill xmlns:a="http://schemas.openxmlformats.org/drawingml/2006/main">
            <a:srgbClr val="ECF7F0"/>
          </a:solidFill>
          <a:ln xmlns:a="http://schemas.openxmlformats.org/drawingml/2006/main" w="14288">
            <a:solidFill>
              <a:srgbClr val="4BA173"/>
            </a:solidFill>
          </a:ln>
        </p:spPr>
        <p:txBody>
          <a:bodyPr xmlns:a="http://schemas.openxmlformats.org/drawingml/2006/main" lIns="85725" tIns="85725" rIns="85725" bIns="85725" anchor="ctr"/>
          <a:lstStyle xmlns:a="http://schemas.openxmlformats.org/drawingml/2006/main">
            <a:defPPr algn="ctr">
              <a:defRPr sz="1575">
                <a:solidFill>
                  <a:srgbClr val="202729"/>
                </a:solidFill>
              </a:defRPr>
            </a:defPPr>
          </a:lstStyle>
          <a:p xmlns:a="http://schemas.openxmlformats.org/drawingml/2006/main">
            <a:pPr algn="ctr">
              <a:defRPr sz="1575">
                <a:solidFill>
                  <a:srgbClr val="202729"/>
                </a:solidFill>
              </a:defRPr>
            </a:pPr>
            <a:r>
              <a:rPr sz="1575">
                <a:solidFill>
                  <a:srgbClr val="202729"/>
                </a:solidFill>
              </a:rPr>
              <a:t>Web React</a:t>
            </a:r>
          </a:p>
          <a:p xmlns:a="http://schemas.openxmlformats.org/drawingml/2006/main">
            <a:pPr algn="ctr">
              <a:defRPr sz="1575">
                <a:solidFill>
                  <a:srgbClr val="202729"/>
                </a:solidFill>
              </a:defRPr>
            </a:pPr>
            <a:r>
              <a:rPr sz="1575">
                <a:solidFill>
                  <a:srgbClr val="202729"/>
                </a:solidFill>
              </a:rPr>
              <a:t>Egresado / empresa</a:t>
            </a:r>
          </a:p>
        </p:txBody>
      </p:sp>
      <p:sp>
        <p:nvSpPr>
          <p:cNvPr id="4" name="">
            <a:extLst xmlns:a="http://schemas.openxmlformats.org/drawingml/2006/main">
              <a:ext uri="{FF2B5EF4-FFF2-40B4-BE49-F238E27FC236}">
                <a16:creationId xmlns:a16="http://schemas.microsoft.com/office/drawing/2014/main" id="{6C3C45F5-8AD3-42A5-AA4C-4FBDE11190DA}"/>
              </a:ext>
            </a:extLst>
          </p:cNvPr>
          <p:cNvSpPr>
            <a:spLocks xmlns:a="http://schemas.openxmlformats.org/drawingml/2006/main" noGrp="1"/>
          </p:cNvSpPr>
          <p:nvPr/>
        </p:nvSpPr>
        <p:spPr>
          <a:xfrm xmlns:a="http://schemas.openxmlformats.org/drawingml/2006/main">
            <a:off x="3209925" y="2162175"/>
            <a:ext cx="2085975" cy="1000125"/>
          </a:xfrm>
          <a:prstGeom xmlns:a="http://schemas.openxmlformats.org/drawingml/2006/main" prst="rect">
            <a:avLst/>
          </a:prstGeom>
          <a:solidFill xmlns:a="http://schemas.openxmlformats.org/drawingml/2006/main">
            <a:srgbClr val="ECF7F0"/>
          </a:solidFill>
          <a:ln xmlns:a="http://schemas.openxmlformats.org/drawingml/2006/main" w="14288">
            <a:solidFill>
              <a:srgbClr val="4BA173"/>
            </a:solidFill>
          </a:ln>
        </p:spPr>
        <p:txBody>
          <a:bodyPr xmlns:a="http://schemas.openxmlformats.org/drawingml/2006/main" lIns="85725" tIns="85725" rIns="85725" bIns="85725" anchor="ctr"/>
          <a:lstStyle xmlns:a="http://schemas.openxmlformats.org/drawingml/2006/main">
            <a:defPPr algn="ctr">
              <a:defRPr sz="1575">
                <a:solidFill>
                  <a:srgbClr val="202729"/>
                </a:solidFill>
              </a:defRPr>
            </a:defPPr>
          </a:lstStyle>
          <a:p xmlns:a="http://schemas.openxmlformats.org/drawingml/2006/main">
            <a:pPr algn="ctr">
              <a:defRPr sz="1575">
                <a:solidFill>
                  <a:srgbClr val="202729"/>
                </a:solidFill>
              </a:defRPr>
            </a:pPr>
            <a:r>
              <a:rPr sz="1575">
                <a:solidFill>
                  <a:srgbClr val="202729"/>
                </a:solidFill>
              </a:rPr>
              <a:t>API FastAPI</a:t>
            </a:r>
          </a:p>
          <a:p xmlns:a="http://schemas.openxmlformats.org/drawingml/2006/main">
            <a:pPr algn="ctr">
              <a:defRPr sz="1575">
                <a:solidFill>
                  <a:srgbClr val="202729"/>
                </a:solidFill>
              </a:defRPr>
            </a:pPr>
            <a:r>
              <a:rPr sz="1575">
                <a:solidFill>
                  <a:srgbClr val="202729"/>
                </a:solidFill>
              </a:rPr>
              <a:t>Permisos y reglas</a:t>
            </a:r>
          </a:p>
        </p:txBody>
      </p:sp>
      <p:sp>
        <p:nvSpPr>
          <p:cNvPr id="5" name="">
            <a:extLst xmlns:a="http://schemas.openxmlformats.org/drawingml/2006/main">
              <a:ext uri="{FF2B5EF4-FFF2-40B4-BE49-F238E27FC236}">
                <a16:creationId xmlns:a16="http://schemas.microsoft.com/office/drawing/2014/main" id="{CD712735-2FDF-4B42-B053-8C60376BAC63}"/>
              </a:ext>
            </a:extLst>
          </p:cNvPr>
          <p:cNvSpPr>
            <a:spLocks xmlns:a="http://schemas.openxmlformats.org/drawingml/2006/main" noGrp="1"/>
          </p:cNvSpPr>
          <p:nvPr/>
        </p:nvSpPr>
        <p:spPr>
          <a:xfrm xmlns:a="http://schemas.openxmlformats.org/drawingml/2006/main">
            <a:off x="6696075" y="1266825"/>
            <a:ext cx="2095500" cy="885825"/>
          </a:xfrm>
          <a:prstGeom xmlns:a="http://schemas.openxmlformats.org/drawingml/2006/main" prst="rect">
            <a:avLst/>
          </a:prstGeom>
          <a:solidFill xmlns:a="http://schemas.openxmlformats.org/drawingml/2006/main">
            <a:srgbClr val="ECF7F0"/>
          </a:solidFill>
          <a:ln xmlns:a="http://schemas.openxmlformats.org/drawingml/2006/main" w="14288">
            <a:solidFill>
              <a:srgbClr val="4BA173"/>
            </a:solidFill>
          </a:ln>
        </p:spPr>
        <p:txBody>
          <a:bodyPr xmlns:a="http://schemas.openxmlformats.org/drawingml/2006/main" lIns="85725" tIns="85725" rIns="85725" bIns="85725" anchor="ctr"/>
          <a:lstStyle xmlns:a="http://schemas.openxmlformats.org/drawingml/2006/main">
            <a:defPPr algn="ctr">
              <a:defRPr sz="1575">
                <a:solidFill>
                  <a:srgbClr val="202729"/>
                </a:solidFill>
              </a:defRPr>
            </a:defPPr>
          </a:lstStyle>
          <a:p xmlns:a="http://schemas.openxmlformats.org/drawingml/2006/main">
            <a:pPr algn="ctr">
              <a:defRPr sz="1575">
                <a:solidFill>
                  <a:srgbClr val="202729"/>
                </a:solidFill>
              </a:defRPr>
            </a:pPr>
            <a:r>
              <a:rPr sz="1575">
                <a:solidFill>
                  <a:srgbClr val="202729"/>
                </a:solidFill>
              </a:rPr>
              <a:t>Neon · PostgreSQL</a:t>
            </a:r>
          </a:p>
          <a:p xmlns:a="http://schemas.openxmlformats.org/drawingml/2006/main">
            <a:pPr algn="ctr">
              <a:defRPr sz="1575">
                <a:solidFill>
                  <a:srgbClr val="202729"/>
                </a:solidFill>
              </a:defRPr>
            </a:pPr>
            <a:r>
              <a:rPr sz="1575">
                <a:solidFill>
                  <a:srgbClr val="202729"/>
                </a:solidFill>
              </a:rPr>
              <a:t>Datos del proyecto</a:t>
            </a:r>
          </a:p>
        </p:txBody>
      </p:sp>
      <p:sp>
        <p:nvSpPr>
          <p:cNvPr id="6" name="">
            <a:extLst xmlns:a="http://schemas.openxmlformats.org/drawingml/2006/main">
              <a:ext uri="{FF2B5EF4-FFF2-40B4-BE49-F238E27FC236}">
                <a16:creationId xmlns:a16="http://schemas.microsoft.com/office/drawing/2014/main" id="{EAF24689-F959-484C-8E21-48E11A062A8D}"/>
              </a:ext>
            </a:extLst>
          </p:cNvPr>
          <p:cNvSpPr>
            <a:spLocks xmlns:a="http://schemas.openxmlformats.org/drawingml/2006/main" noGrp="1"/>
          </p:cNvSpPr>
          <p:nvPr/>
        </p:nvSpPr>
        <p:spPr>
          <a:xfrm xmlns:a="http://schemas.openxmlformats.org/drawingml/2006/main">
            <a:off x="6696075" y="2476500"/>
            <a:ext cx="2095500" cy="885825"/>
          </a:xfrm>
          <a:prstGeom xmlns:a="http://schemas.openxmlformats.org/drawingml/2006/main" prst="rect">
            <a:avLst/>
          </a:prstGeom>
          <a:solidFill xmlns:a="http://schemas.openxmlformats.org/drawingml/2006/main">
            <a:srgbClr val="ECF7F0"/>
          </a:solidFill>
          <a:ln xmlns:a="http://schemas.openxmlformats.org/drawingml/2006/main" w="14288">
            <a:solidFill>
              <a:srgbClr val="4BA173"/>
            </a:solidFill>
          </a:ln>
        </p:spPr>
        <p:txBody>
          <a:bodyPr xmlns:a="http://schemas.openxmlformats.org/drawingml/2006/main" lIns="85725" tIns="85725" rIns="85725" bIns="85725" anchor="ctr"/>
          <a:lstStyle xmlns:a="http://schemas.openxmlformats.org/drawingml/2006/main">
            <a:defPPr algn="ctr">
              <a:defRPr sz="1575">
                <a:solidFill>
                  <a:srgbClr val="202729"/>
                </a:solidFill>
              </a:defRPr>
            </a:defPPr>
          </a:lstStyle>
          <a:p xmlns:a="http://schemas.openxmlformats.org/drawingml/2006/main">
            <a:pPr algn="ctr">
              <a:defRPr sz="1575">
                <a:solidFill>
                  <a:srgbClr val="202729"/>
                </a:solidFill>
              </a:defRPr>
            </a:pPr>
            <a:r>
              <a:rPr sz="1575">
                <a:solidFill>
                  <a:srgbClr val="202729"/>
                </a:solidFill>
              </a:rPr>
              <a:t>Google Gemini</a:t>
            </a:r>
          </a:p>
          <a:p xmlns:a="http://schemas.openxmlformats.org/drawingml/2006/main">
            <a:pPr algn="ctr">
              <a:defRPr sz="1575">
                <a:solidFill>
                  <a:srgbClr val="202729"/>
                </a:solidFill>
              </a:defRPr>
            </a:pPr>
            <a:r>
              <a:rPr sz="1575">
                <a:solidFill>
                  <a:srgbClr val="202729"/>
                </a:solidFill>
              </a:rPr>
              <a:t>Orientación con IA</a:t>
            </a:r>
          </a:p>
        </p:txBody>
      </p:sp>
      <p:sp>
        <p:nvSpPr>
          <p:cNvPr id="7" name="">
            <a:extLst xmlns:a="http://schemas.openxmlformats.org/drawingml/2006/main">
              <a:ext uri="{FF2B5EF4-FFF2-40B4-BE49-F238E27FC236}">
                <a16:creationId xmlns:a16="http://schemas.microsoft.com/office/drawing/2014/main" id="{67FC401B-8E2E-4F77-BEF5-933323E467BD}"/>
              </a:ext>
            </a:extLst>
          </p:cNvPr>
          <p:cNvSpPr>
            <a:spLocks xmlns:a="http://schemas.openxmlformats.org/drawingml/2006/main" noGrp="1"/>
          </p:cNvSpPr>
          <p:nvPr/>
        </p:nvSpPr>
        <p:spPr>
          <a:xfrm xmlns:a="http://schemas.openxmlformats.org/drawingml/2006/main">
            <a:off x="3209925" y="3724275"/>
            <a:ext cx="2085975" cy="781050"/>
          </a:xfrm>
          <a:prstGeom xmlns:a="http://schemas.openxmlformats.org/drawingml/2006/main" prst="rect">
            <a:avLst/>
          </a:prstGeom>
          <a:solidFill xmlns:a="http://schemas.openxmlformats.org/drawingml/2006/main">
            <a:srgbClr val="ECF7F0"/>
          </a:solidFill>
          <a:ln xmlns:a="http://schemas.openxmlformats.org/drawingml/2006/main" w="14288">
            <a:solidFill>
              <a:srgbClr val="4BA173"/>
            </a:solidFill>
          </a:ln>
        </p:spPr>
        <p:txBody>
          <a:bodyPr xmlns:a="http://schemas.openxmlformats.org/drawingml/2006/main" lIns="85725" tIns="85725" rIns="85725" bIns="85725" anchor="ctr"/>
          <a:lstStyle xmlns:a="http://schemas.openxmlformats.org/drawingml/2006/main">
            <a:defPPr algn="ctr">
              <a:defRPr sz="1575">
                <a:solidFill>
                  <a:srgbClr val="202729"/>
                </a:solidFill>
              </a:defRPr>
            </a:defPPr>
          </a:lstStyle>
          <a:p xmlns:a="http://schemas.openxmlformats.org/drawingml/2006/main">
            <a:pPr algn="ctr">
              <a:defRPr sz="1575">
                <a:solidFill>
                  <a:srgbClr val="202729"/>
                </a:solidFill>
              </a:defRPr>
            </a:pPr>
            <a:r>
              <a:rPr sz="1575">
                <a:solidFill>
                  <a:srgbClr val="202729"/>
                </a:solidFill>
              </a:rPr>
              <a:t>Funciones de archivos</a:t>
            </a:r>
          </a:p>
          <a:p xmlns:a="http://schemas.openxmlformats.org/drawingml/2006/main">
            <a:pPr algn="ctr">
              <a:defRPr sz="1575">
                <a:solidFill>
                  <a:srgbClr val="202729"/>
                </a:solidFill>
              </a:defRPr>
            </a:pPr>
            <a:r>
              <a:rPr sz="1575">
                <a:solidFill>
                  <a:srgbClr val="202729"/>
                </a:solidFill>
              </a:rPr>
              <a:t>JavaScript</a:t>
            </a:r>
          </a:p>
        </p:txBody>
      </p:sp>
      <p:sp>
        <p:nvSpPr>
          <p:cNvPr id="8" name="">
            <a:extLst xmlns:a="http://schemas.openxmlformats.org/drawingml/2006/main">
              <a:ext uri="{FF2B5EF4-FFF2-40B4-BE49-F238E27FC236}">
                <a16:creationId xmlns:a16="http://schemas.microsoft.com/office/drawing/2014/main" id="{D3D7D7B2-FED0-49B5-9105-1CA30B6C373A}"/>
              </a:ext>
            </a:extLst>
          </p:cNvPr>
          <p:cNvSpPr>
            <a:spLocks xmlns:a="http://schemas.openxmlformats.org/drawingml/2006/main" noGrp="1"/>
          </p:cNvSpPr>
          <p:nvPr/>
        </p:nvSpPr>
        <p:spPr>
          <a:xfrm xmlns:a="http://schemas.openxmlformats.org/drawingml/2006/main">
            <a:off x="6696075" y="3724275"/>
            <a:ext cx="2095500" cy="781050"/>
          </a:xfrm>
          <a:prstGeom xmlns:a="http://schemas.openxmlformats.org/drawingml/2006/main" prst="rect">
            <a:avLst/>
          </a:prstGeom>
          <a:solidFill xmlns:a="http://schemas.openxmlformats.org/drawingml/2006/main">
            <a:srgbClr val="ECF7F0"/>
          </a:solidFill>
          <a:ln xmlns:a="http://schemas.openxmlformats.org/drawingml/2006/main" w="14288">
            <a:solidFill>
              <a:srgbClr val="4BA173"/>
            </a:solidFill>
          </a:ln>
        </p:spPr>
        <p:txBody>
          <a:bodyPr xmlns:a="http://schemas.openxmlformats.org/drawingml/2006/main" lIns="85725" tIns="85725" rIns="85725" bIns="85725" anchor="ctr"/>
          <a:lstStyle xmlns:a="http://schemas.openxmlformats.org/drawingml/2006/main">
            <a:defPPr algn="ctr">
              <a:defRPr sz="1575">
                <a:solidFill>
                  <a:srgbClr val="202729"/>
                </a:solidFill>
              </a:defRPr>
            </a:defPPr>
          </a:lstStyle>
          <a:p xmlns:a="http://schemas.openxmlformats.org/drawingml/2006/main">
            <a:pPr algn="ctr">
              <a:defRPr sz="1575">
                <a:solidFill>
                  <a:srgbClr val="202729"/>
                </a:solidFill>
              </a:defRPr>
            </a:pPr>
            <a:r>
              <a:rPr sz="1575">
                <a:solidFill>
                  <a:srgbClr val="202729"/>
                </a:solidFill>
              </a:rPr>
              <a:t>Vercel Blob</a:t>
            </a:r>
          </a:p>
          <a:p xmlns:a="http://schemas.openxmlformats.org/drawingml/2006/main">
            <a:pPr algn="ctr">
              <a:defRPr sz="1575">
                <a:solidFill>
                  <a:srgbClr val="202729"/>
                </a:solidFill>
              </a:defRPr>
            </a:pPr>
            <a:r>
              <a:rPr sz="1575">
                <a:solidFill>
                  <a:srgbClr val="202729"/>
                </a:solidFill>
              </a:rPr>
              <a:t>Fotos y documentos</a:t>
            </a:r>
          </a:p>
        </p:txBody>
      </p:sp>
      <p:sp>
        <p:nvSpPr>
          <p:cNvPr id="14" name="">
            <a:extLst xmlns:a="http://schemas.openxmlformats.org/drawingml/2006/main">
              <a:ext uri="{FF2B5EF4-FFF2-40B4-BE49-F238E27FC236}">
                <a16:creationId xmlns:a16="http://schemas.microsoft.com/office/drawing/2014/main" id="{84C6279E-4806-4A23-AB03-DF45D20590C7}"/>
              </a:ext>
            </a:extLst>
          </p:cNvPr>
          <p:cNvSpPr>
            <a:spLocks xmlns:a="http://schemas.openxmlformats.org/drawingml/2006/main" noGrp="1"/>
          </p:cNvSpPr>
          <p:nvPr/>
        </p:nvSpPr>
        <p:spPr>
          <a:xfrm xmlns:a="http://schemas.openxmlformats.org/drawingml/2006/main">
            <a:off x="2324100" y="23336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327251"/>
                </a:solidFill>
              </a:defRPr>
            </a:defPPr>
          </a:lstStyle>
          <a:p xmlns:a="http://schemas.openxmlformats.org/drawingml/2006/main">
            <a:pPr marL="0" indent="0">
              <a:spcBef>
                <a:spcPts val="0"/>
              </a:spcBef>
              <a:spcAft>
                <a:spcPts val="0"/>
              </a:spcAft>
              <a:defRPr sz="1350" b="0">
                <a:solidFill>
                  <a:srgbClr val="327251"/>
                </a:solidFill>
              </a:defRPr>
            </a:pPr>
            <a:r>
              <a:rPr sz="1350" b="0">
                <a:solidFill>
                  <a:srgbClr val="327251"/>
                </a:solidFill>
                <a:latin typeface="Proxima Nova"/>
                <a:ea typeface="Proxima Nova"/>
                <a:cs typeface="Proxima Nova"/>
              </a:rPr>
              <a:t>HTTPS</a:t>
            </a:r>
          </a:p>
        </p:txBody>
      </p:sp>
      <p:sp>
        <p:nvSpPr>
          <p:cNvPr id="15" name="">
            <a:extLst xmlns:a="http://schemas.openxmlformats.org/drawingml/2006/main">
              <a:ext uri="{FF2B5EF4-FFF2-40B4-BE49-F238E27FC236}">
                <a16:creationId xmlns:a16="http://schemas.microsoft.com/office/drawing/2014/main" id="{421F54DD-E02F-4CF1-A8BE-3DEE65EA926A}"/>
              </a:ext>
            </a:extLst>
          </p:cNvPr>
          <p:cNvSpPr>
            <a:spLocks xmlns:a="http://schemas.openxmlformats.org/drawingml/2006/main" noGrp="1"/>
          </p:cNvSpPr>
          <p:nvPr/>
        </p:nvSpPr>
        <p:spPr>
          <a:xfrm xmlns:a="http://schemas.openxmlformats.org/drawingml/2006/main">
            <a:off x="6096000" y="14192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327251"/>
                </a:solidFill>
              </a:defRPr>
            </a:defPPr>
          </a:lstStyle>
          <a:p xmlns:a="http://schemas.openxmlformats.org/drawingml/2006/main">
            <a:pPr marL="0" indent="0">
              <a:spcBef>
                <a:spcPts val="0"/>
              </a:spcBef>
              <a:spcAft>
                <a:spcPts val="0"/>
              </a:spcAft>
              <a:defRPr sz="1350" b="0">
                <a:solidFill>
                  <a:srgbClr val="327251"/>
                </a:solidFill>
              </a:defRPr>
            </a:pPr>
            <a:r>
              <a:rPr sz="1350" b="0">
                <a:solidFill>
                  <a:srgbClr val="327251"/>
                </a:solidFill>
                <a:latin typeface="Proxima Nova"/>
                <a:ea typeface="Proxima Nova"/>
                <a:cs typeface="Proxima Nova"/>
              </a:rPr>
              <a:t>SQL</a:t>
            </a:r>
          </a:p>
        </p:txBody>
      </p:sp>
      <p:sp>
        <p:nvSpPr>
          <p:cNvPr id="16" name="">
            <a:extLst xmlns:a="http://schemas.openxmlformats.org/drawingml/2006/main">
              <a:ext uri="{FF2B5EF4-FFF2-40B4-BE49-F238E27FC236}">
                <a16:creationId xmlns:a16="http://schemas.microsoft.com/office/drawing/2014/main" id="{D636738B-B47D-4C62-B239-9B1B5BE92F36}"/>
              </a:ext>
            </a:extLst>
          </p:cNvPr>
          <p:cNvSpPr>
            <a:spLocks xmlns:a="http://schemas.openxmlformats.org/drawingml/2006/main" noGrp="1"/>
          </p:cNvSpPr>
          <p:nvPr/>
        </p:nvSpPr>
        <p:spPr>
          <a:xfrm xmlns:a="http://schemas.openxmlformats.org/drawingml/2006/main">
            <a:off x="609600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327251"/>
                </a:solidFill>
              </a:defRPr>
            </a:defPPr>
          </a:lstStyle>
          <a:p xmlns:a="http://schemas.openxmlformats.org/drawingml/2006/main">
            <a:pPr marL="0" indent="0">
              <a:spcBef>
                <a:spcPts val="0"/>
              </a:spcBef>
              <a:spcAft>
                <a:spcPts val="0"/>
              </a:spcAft>
              <a:defRPr sz="1350" b="0">
                <a:solidFill>
                  <a:srgbClr val="327251"/>
                </a:solidFill>
              </a:defRPr>
            </a:pPr>
            <a:r>
              <a:rPr sz="1350" b="0">
                <a:solidFill>
                  <a:srgbClr val="327251"/>
                </a:solidFill>
                <a:latin typeface="Proxima Nova"/>
                <a:ea typeface="Proxima Nova"/>
                <a:cs typeface="Proxima Nova"/>
              </a:rPr>
              <a:t>API</a:t>
            </a:r>
          </a:p>
        </p:txBody>
      </p:sp>
      <p:sp>
        <p:nvSpPr>
          <p:cNvPr id="17" name="">
            <a:extLst xmlns:a="http://schemas.openxmlformats.org/drawingml/2006/main">
              <a:ext uri="{FF2B5EF4-FFF2-40B4-BE49-F238E27FC236}">
                <a16:creationId xmlns:a16="http://schemas.microsoft.com/office/drawing/2014/main" id="{14A8127C-CF45-4AA5-ACDA-BD30077C90FD}"/>
              </a:ext>
            </a:extLst>
          </p:cNvPr>
          <p:cNvSpPr>
            <a:spLocks xmlns:a="http://schemas.openxmlformats.org/drawingml/2006/main" noGrp="1"/>
          </p:cNvSpPr>
          <p:nvPr/>
        </p:nvSpPr>
        <p:spPr>
          <a:xfrm xmlns:a="http://schemas.openxmlformats.org/drawingml/2006/main">
            <a:off x="333375" y="1057275"/>
            <a:ext cx="8477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Vercel aloja la web, la API y las funciones de archivos.</a:t>
            </a:r>
          </a:p>
        </p:txBody>
      </p:sp>
      <p:sp>
        <p:nvSpPr>
          <p:cNvPr id="18" name="">
            <a:extLst xmlns:a="http://schemas.openxmlformats.org/drawingml/2006/main">
              <a:ext uri="{FF2B5EF4-FFF2-40B4-BE49-F238E27FC236}">
                <a16:creationId xmlns:a16="http://schemas.microsoft.com/office/drawing/2014/main" id="{9E5C010C-A1CF-479A-9A1C-7AD0E60C4EED}"/>
              </a:ext>
            </a:extLst>
          </p:cNvPr>
          <p:cNvSpPr>
            <a:spLocks xmlns:a="http://schemas.openxmlformats.org/drawingml/2006/main" noGrp="1"/>
          </p:cNvSpPr>
          <p:nvPr/>
        </p:nvSpPr>
        <p:spPr>
          <a:xfrm xmlns:a="http://schemas.openxmlformats.org/drawingml/2006/main">
            <a:off x="333375" y="4686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616161"/>
                </a:solidFill>
              </a:defRPr>
            </a:defPPr>
          </a:lstStyle>
          <a:p xmlns:a="http://schemas.openxmlformats.org/drawingml/2006/main">
            <a:pPr marL="0" indent="0">
              <a:spcBef>
                <a:spcPts val="0"/>
              </a:spcBef>
              <a:spcAft>
                <a:spcPts val="0"/>
              </a:spcAft>
              <a:defRPr sz="1425" b="0">
                <a:solidFill>
                  <a:srgbClr val="616161"/>
                </a:solidFill>
              </a:defRPr>
            </a:pPr>
            <a:r>
              <a:rPr sz="1425" b="0">
                <a:solidFill>
                  <a:srgbClr val="616161"/>
                </a:solidFill>
                <a:latin typeface="Proxima Nova"/>
                <a:ea typeface="Proxima Nova"/>
                <a:cs typeface="Proxima Nova"/>
              </a:rPr>
              <a:t>Claves privadas y validación de permisos en los servidores.</a:t>
            </a:r>
          </a:p>
        </p:txBody>
      </p:sp>
    </p:spTree>
    <p:extLst>
      <p:ext uri="{BB962C8B-B14F-4D97-AF65-F5344CB8AC3E}">
        <p14:creationId xmlns:p14="http://schemas.microsoft.com/office/powerpoint/2010/main" val="162778245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45" name="Google Shape;145;p23">
            <a:extLst xmlns:a="http://schemas.openxmlformats.org/drawingml/2006/main">
              <a:ext uri="{FF2B5EF4-FFF2-40B4-BE49-F238E27FC236}">
                <a16:creationId xmlns:a16="http://schemas.microsoft.com/office/drawing/2014/main" id="{6AB519B9-92CE-4E14-A78E-3E66F0485EBC}"/>
              </a:ext>
            </a:extLst>
          </p:cNvPr>
          <p:cNvPicPr>
            <a:picLocks xmlns:a="http://schemas.openxmlformats.org/drawingml/2006/main" noChangeAspect="1"/>
          </p:cNvPicPr>
          <p:nvPr/>
        </p:nvPicPr>
        <p:blipFill>
          <a:blip xmlns:r="http://schemas.openxmlformats.org/officeDocument/2006/relationships" xmlns:a="http://schemas.openxmlformats.org/drawingml/2006/main" r:embed="R56146c4736734974">
            <a:alphaModFix/>
          </a:blip>
          <a:stretch xmlns:a="http://schemas.openxmlformats.org/drawingml/2006/main">
            <a:fillRect l="0" t="0" r="0" b="0"/>
          </a:stretch>
        </p:blipFill>
        <p:spPr>
          <a:xfrm xmlns:a="http://schemas.openxmlformats.org/drawingml/2006/main">
            <a:off x="6334125" y="1981200"/>
            <a:ext cx="2428875" cy="2428875"/>
          </a:xfrm>
          <a:prstGeom xmlns:a="http://schemas.openxmlformats.org/drawingml/2006/main" prst="rect">
            <a:avLst/>
          </a:prstGeom>
          <a:ln xmlns:a="http://schemas.openxmlformats.org/drawingml/2006/main">
            <a:noFill/>
          </a:ln>
        </p:spPr>
      </p:pic>
      <p:sp>
        <p:nvSpPr>
          <p:cNvPr id="146" name="">
            <a:extLst xmlns:a="http://schemas.openxmlformats.org/drawingml/2006/main">
              <a:ext uri="{FF2B5EF4-FFF2-40B4-BE49-F238E27FC236}">
                <a16:creationId xmlns:a16="http://schemas.microsoft.com/office/drawing/2014/main" id="{F77614E8-1DFC-4974-86C1-2F957BD146E5}"/>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Riesgos y cómo abordarlos</a:t>
            </a:r>
          </a:p>
        </p:txBody>
      </p:sp>
      <p:sp>
        <p:nvSpPr>
          <p:cNvPr id="147" name="">
            <a:extLst xmlns:a="http://schemas.openxmlformats.org/drawingml/2006/main">
              <a:ext uri="{FF2B5EF4-FFF2-40B4-BE49-F238E27FC236}">
                <a16:creationId xmlns:a16="http://schemas.microsoft.com/office/drawing/2014/main" id="{345EB580-FBF2-48A1-AB5A-F407438C70D5}"/>
              </a:ext>
            </a:extLst>
          </p:cNvPr>
          <p:cNvSpPr>
            <a:spLocks xmlns:a="http://schemas.openxmlformats.org/drawingml/2006/main" noGrp="1"/>
          </p:cNvSpPr>
          <p:nvPr/>
        </p:nvSpPr>
        <p:spPr>
          <a:xfrm xmlns:a="http://schemas.openxmlformats.org/drawingml/2006/main">
            <a:off x="323850" y="1266825"/>
            <a:ext cx="581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Adopción</a:t>
            </a:r>
          </a:p>
        </p:txBody>
      </p:sp>
      <p:sp>
        <p:nvSpPr>
          <p:cNvPr id="148" name="">
            <a:extLst xmlns:a="http://schemas.openxmlformats.org/drawingml/2006/main">
              <a:ext uri="{FF2B5EF4-FFF2-40B4-BE49-F238E27FC236}">
                <a16:creationId xmlns:a16="http://schemas.microsoft.com/office/drawing/2014/main" id="{D43427F3-6858-4D1D-8E9B-D459E4965BDB}"/>
              </a:ext>
            </a:extLst>
          </p:cNvPr>
          <p:cNvSpPr>
            <a:spLocks xmlns:a="http://schemas.openxmlformats.org/drawingml/2006/main" noGrp="1"/>
          </p:cNvSpPr>
          <p:nvPr/>
        </p:nvSpPr>
        <p:spPr>
          <a:xfrm xmlns:a="http://schemas.openxmlformats.org/drawingml/2006/main">
            <a:off x="323850" y="162877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Validar con egresados y empresas.</a:t>
            </a:r>
          </a:p>
        </p:txBody>
      </p:sp>
      <p:sp>
        <p:nvSpPr>
          <p:cNvPr id="149" name="">
            <a:extLst xmlns:a="http://schemas.openxmlformats.org/drawingml/2006/main">
              <a:ext uri="{FF2B5EF4-FFF2-40B4-BE49-F238E27FC236}">
                <a16:creationId xmlns:a16="http://schemas.microsoft.com/office/drawing/2014/main" id="{736D41A5-1FA2-474C-B069-0305318762A8}"/>
              </a:ext>
            </a:extLst>
          </p:cNvPr>
          <p:cNvSpPr>
            <a:spLocks xmlns:a="http://schemas.openxmlformats.org/drawingml/2006/main" noGrp="1"/>
          </p:cNvSpPr>
          <p:nvPr/>
        </p:nvSpPr>
        <p:spPr>
          <a:xfrm xmlns:a="http://schemas.openxmlformats.org/drawingml/2006/main">
            <a:off x="323850" y="2085975"/>
            <a:ext cx="581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Costo y cuotas de IA</a:t>
            </a:r>
          </a:p>
        </p:txBody>
      </p:sp>
      <p:sp>
        <p:nvSpPr>
          <p:cNvPr id="150" name="">
            <a:extLst xmlns:a="http://schemas.openxmlformats.org/drawingml/2006/main">
              <a:ext uri="{FF2B5EF4-FFF2-40B4-BE49-F238E27FC236}">
                <a16:creationId xmlns:a16="http://schemas.microsoft.com/office/drawing/2014/main" id="{276FBBB2-FE67-4AB2-BDAE-994E6EAB7C5D}"/>
              </a:ext>
            </a:extLst>
          </p:cNvPr>
          <p:cNvSpPr>
            <a:spLocks xmlns:a="http://schemas.openxmlformats.org/drawingml/2006/main" noGrp="1"/>
          </p:cNvSpPr>
          <p:nvPr/>
        </p:nvSpPr>
        <p:spPr>
          <a:xfrm xmlns:a="http://schemas.openxmlformats.org/drawingml/2006/main">
            <a:off x="323850" y="24479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Una práctica diaria; revisar límites del proveedor.</a:t>
            </a:r>
          </a:p>
        </p:txBody>
      </p:sp>
      <p:sp>
        <p:nvSpPr>
          <p:cNvPr id="151" name="">
            <a:extLst xmlns:a="http://schemas.openxmlformats.org/drawingml/2006/main">
              <a:ext uri="{FF2B5EF4-FFF2-40B4-BE49-F238E27FC236}">
                <a16:creationId xmlns:a16="http://schemas.microsoft.com/office/drawing/2014/main" id="{9C205339-2A83-4858-A004-FAA5BA91733E}"/>
              </a:ext>
            </a:extLst>
          </p:cNvPr>
          <p:cNvSpPr>
            <a:spLocks xmlns:a="http://schemas.openxmlformats.org/drawingml/2006/main" noGrp="1"/>
          </p:cNvSpPr>
          <p:nvPr/>
        </p:nvSpPr>
        <p:spPr>
          <a:xfrm xmlns:a="http://schemas.openxmlformats.org/drawingml/2006/main">
            <a:off x="323850" y="2905125"/>
            <a:ext cx="581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Alcance y capacidad del equipo</a:t>
            </a:r>
          </a:p>
        </p:txBody>
      </p:sp>
      <p:sp>
        <p:nvSpPr>
          <p:cNvPr id="152" name="">
            <a:extLst xmlns:a="http://schemas.openxmlformats.org/drawingml/2006/main">
              <a:ext uri="{FF2B5EF4-FFF2-40B4-BE49-F238E27FC236}">
                <a16:creationId xmlns:a16="http://schemas.microsoft.com/office/drawing/2014/main" id="{299DDBFD-5AC2-4471-BFAA-4E1DD190B338}"/>
              </a:ext>
            </a:extLst>
          </p:cNvPr>
          <p:cNvSpPr>
            <a:spLocks xmlns:a="http://schemas.openxmlformats.org/drawingml/2006/main" noGrp="1"/>
          </p:cNvSpPr>
          <p:nvPr/>
        </p:nvSpPr>
        <p:spPr>
          <a:xfrm xmlns:a="http://schemas.openxmlformats.org/drawingml/2006/main">
            <a:off x="323850" y="326707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Priorizar el MVP y entregas breves.</a:t>
            </a:r>
          </a:p>
        </p:txBody>
      </p:sp>
      <p:sp>
        <p:nvSpPr>
          <p:cNvPr id="153" name="">
            <a:extLst xmlns:a="http://schemas.openxmlformats.org/drawingml/2006/main">
              <a:ext uri="{FF2B5EF4-FFF2-40B4-BE49-F238E27FC236}">
                <a16:creationId xmlns:a16="http://schemas.microsoft.com/office/drawing/2014/main" id="{30B35108-EC58-4C7F-9D13-8CEA6259934D}"/>
              </a:ext>
            </a:extLst>
          </p:cNvPr>
          <p:cNvSpPr>
            <a:spLocks xmlns:a="http://schemas.openxmlformats.org/drawingml/2006/main" noGrp="1"/>
          </p:cNvSpPr>
          <p:nvPr/>
        </p:nvSpPr>
        <p:spPr>
          <a:xfrm xmlns:a="http://schemas.openxmlformats.org/drawingml/2006/main">
            <a:off x="323850" y="3724275"/>
            <a:ext cx="581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Privacidad y calidad</a:t>
            </a:r>
          </a:p>
        </p:txBody>
      </p:sp>
      <p:sp>
        <p:nvSpPr>
          <p:cNvPr id="154" name="">
            <a:extLst xmlns:a="http://schemas.openxmlformats.org/drawingml/2006/main">
              <a:ext uri="{FF2B5EF4-FFF2-40B4-BE49-F238E27FC236}">
                <a16:creationId xmlns:a16="http://schemas.microsoft.com/office/drawing/2014/main" id="{C69E079C-AB47-46BC-954D-F7C87AA0DC2E}"/>
              </a:ext>
            </a:extLst>
          </p:cNvPr>
          <p:cNvSpPr>
            <a:spLocks xmlns:a="http://schemas.openxmlformats.org/drawingml/2006/main" noGrp="1"/>
          </p:cNvSpPr>
          <p:nvPr/>
        </p:nvSpPr>
        <p:spPr>
          <a:xfrm xmlns:a="http://schemas.openxmlformats.org/drawingml/2006/main">
            <a:off x="323850" y="40862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Permisos, cifrado y pruebas; auditoría pendiente.</a:t>
            </a:r>
          </a:p>
        </p:txBody>
      </p:sp>
    </p:spTree>
    <p:extLst>
      <p:ext uri="{BB962C8B-B14F-4D97-AF65-F5344CB8AC3E}">
        <p14:creationId xmlns:p14="http://schemas.microsoft.com/office/powerpoint/2010/main" val="5792528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52" name="Google Shape;152;p24">
            <a:extLst xmlns:a="http://schemas.openxmlformats.org/drawingml/2006/main">
              <a:ext uri="{FF2B5EF4-FFF2-40B4-BE49-F238E27FC236}">
                <a16:creationId xmlns:a16="http://schemas.microsoft.com/office/drawing/2014/main" id="{1F2E242D-9ED9-4706-A882-A8865DB7828A}"/>
              </a:ext>
            </a:extLst>
          </p:cNvPr>
          <p:cNvPicPr>
            <a:picLocks xmlns:a="http://schemas.openxmlformats.org/drawingml/2006/main" noChangeAspect="1"/>
          </p:cNvPicPr>
          <p:nvPr/>
        </p:nvPicPr>
        <p:blipFill>
          <a:blip xmlns:r="http://schemas.openxmlformats.org/officeDocument/2006/relationships" xmlns:a="http://schemas.openxmlformats.org/drawingml/2006/main" r:embed="Rdc455ca4830b4be3">
            <a:alphaModFix/>
          </a:blip>
          <a:stretch xmlns:a="http://schemas.openxmlformats.org/drawingml/2006/main">
            <a:fillRect l="0" t="0" r="0" b="0"/>
          </a:stretch>
        </p:blipFill>
        <p:spPr>
          <a:xfrm xmlns:a="http://schemas.openxmlformats.org/drawingml/2006/main">
            <a:off x="6429375" y="3086100"/>
            <a:ext cx="1714500" cy="1714500"/>
          </a:xfrm>
          <a:prstGeom xmlns:a="http://schemas.openxmlformats.org/drawingml/2006/main" prst="rect">
            <a:avLst/>
          </a:prstGeom>
          <a:ln xmlns:a="http://schemas.openxmlformats.org/drawingml/2006/main">
            <a:noFill/>
          </a:ln>
        </p:spPr>
      </p:pic>
      <p:sp>
        <p:nvSpPr>
          <p:cNvPr id="153" name="">
            <a:extLst xmlns:a="http://schemas.openxmlformats.org/drawingml/2006/main">
              <a:ext uri="{FF2B5EF4-FFF2-40B4-BE49-F238E27FC236}">
                <a16:creationId xmlns:a16="http://schemas.microsoft.com/office/drawing/2014/main" id="{AFFA6A2E-61C7-42EA-848F-516AB2663C9B}"/>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Modelo de negocio</a:t>
            </a:r>
          </a:p>
        </p:txBody>
      </p:sp>
      <p:sp>
        <p:nvSpPr>
          <p:cNvPr id="154" name="">
            <a:extLst xmlns:a="http://schemas.openxmlformats.org/drawingml/2006/main">
              <a:ext uri="{FF2B5EF4-FFF2-40B4-BE49-F238E27FC236}">
                <a16:creationId xmlns:a16="http://schemas.microsoft.com/office/drawing/2014/main" id="{72F65A18-2E06-4007-BD22-FF9541ED76A6}"/>
              </a:ext>
            </a:extLst>
          </p:cNvPr>
          <p:cNvSpPr>
            <a:spLocks xmlns:a="http://schemas.openxmlformats.org/drawingml/2006/main" noGrp="1"/>
          </p:cNvSpPr>
          <p:nvPr/>
        </p:nvSpPr>
        <p:spPr>
          <a:xfrm xmlns:a="http://schemas.openxmlformats.org/drawingml/2006/main">
            <a:off x="323850" y="1304925"/>
            <a:ext cx="828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27251"/>
                </a:solidFill>
              </a:defRPr>
            </a:defPPr>
          </a:lstStyle>
          <a:p xmlns:a="http://schemas.openxmlformats.org/drawingml/2006/main">
            <a:pPr marL="0" indent="0">
              <a:spcBef>
                <a:spcPts val="0"/>
              </a:spcBef>
              <a:spcAft>
                <a:spcPts val="0"/>
              </a:spcAft>
              <a:defRPr sz="2700" b="1">
                <a:solidFill>
                  <a:srgbClr val="327251"/>
                </a:solidFill>
              </a:defRPr>
            </a:pPr>
            <a:r>
              <a:rPr sz="2700" b="1">
                <a:solidFill>
                  <a:srgbClr val="327251"/>
                </a:solidFill>
                <a:latin typeface="Proxima Nova"/>
                <a:ea typeface="Proxima Nova"/>
                <a:cs typeface="Proxima Nova"/>
              </a:rPr>
              <a:t>Acceso esencial gratuito.</a:t>
            </a:r>
          </a:p>
        </p:txBody>
      </p:sp>
      <p:sp>
        <p:nvSpPr>
          <p:cNvPr id="155" name="">
            <a:extLst xmlns:a="http://schemas.openxmlformats.org/drawingml/2006/main">
              <a:ext uri="{FF2B5EF4-FFF2-40B4-BE49-F238E27FC236}">
                <a16:creationId xmlns:a16="http://schemas.microsoft.com/office/drawing/2014/main" id="{3D8CE572-1C9D-4BAC-B455-1D1504D05093}"/>
              </a:ext>
            </a:extLst>
          </p:cNvPr>
          <p:cNvSpPr>
            <a:spLocks xmlns:a="http://schemas.openxmlformats.org/drawingml/2006/main" noGrp="1"/>
          </p:cNvSpPr>
          <p:nvPr/>
        </p:nvSpPr>
        <p:spPr>
          <a:xfrm xmlns:a="http://schemas.openxmlformats.org/drawingml/2006/main">
            <a:off x="323850" y="2028825"/>
            <a:ext cx="8286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02729"/>
                </a:solidFill>
              </a:defRPr>
            </a:defPPr>
          </a:lstStyle>
          <a:p xmlns:a="http://schemas.openxmlformats.org/drawingml/2006/main">
            <a:pPr marL="0" indent="0">
              <a:spcBef>
                <a:spcPts val="0"/>
              </a:spcBef>
              <a:spcAft>
                <a:spcPts val="0"/>
              </a:spcAft>
              <a:defRPr sz="2175" b="0">
                <a:solidFill>
                  <a:srgbClr val="202729"/>
                </a:solidFill>
              </a:defRPr>
            </a:pPr>
            <a:r>
              <a:rPr sz="2175" b="0">
                <a:solidFill>
                  <a:srgbClr val="202729"/>
                </a:solidFill>
                <a:latin typeface="Proxima Nova"/>
                <a:ea typeface="Proxima Nova"/>
                <a:cs typeface="Proxima Nova"/>
              </a:rPr>
              <a:t>Un futuro plan Premium podría sumar</a:t>
            </a:r>
            <a:br>
              <a:rPr sz="2175" b="0">
                <a:solidFill>
                  <a:srgbClr val="202729"/>
                </a:solidFill>
                <a:latin typeface="Proxima Nova"/>
                <a:ea typeface="Proxima Nova"/>
                <a:cs typeface="Proxima Nova"/>
              </a:rPr>
            </a:br>
            <a:r>
              <a:rPr sz="2175" b="0">
                <a:solidFill>
                  <a:srgbClr val="202729"/>
                </a:solidFill>
                <a:latin typeface="Proxima Nova"/>
                <a:ea typeface="Proxima Nova"/>
                <a:cs typeface="Proxima Nova"/>
              </a:rPr>
              <a:t>herramientas de apoyo a la búsqueda.</a:t>
            </a:r>
          </a:p>
        </p:txBody>
      </p:sp>
      <p:sp>
        <p:nvSpPr>
          <p:cNvPr id="156" name="">
            <a:extLst xmlns:a="http://schemas.openxmlformats.org/drawingml/2006/main">
              <a:ext uri="{FF2B5EF4-FFF2-40B4-BE49-F238E27FC236}">
                <a16:creationId xmlns:a16="http://schemas.microsoft.com/office/drawing/2014/main" id="{4F068A37-B6E8-47FF-A9BA-1B0EE7FE288B}"/>
              </a:ext>
            </a:extLst>
          </p:cNvPr>
          <p:cNvSpPr>
            <a:spLocks xmlns:a="http://schemas.openxmlformats.org/drawingml/2006/main" noGrp="1"/>
          </p:cNvSpPr>
          <p:nvPr/>
        </p:nvSpPr>
        <p:spPr>
          <a:xfrm xmlns:a="http://schemas.openxmlformats.org/drawingml/2006/main">
            <a:off x="323850" y="30289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16161"/>
                </a:solidFill>
              </a:defRPr>
            </a:defPPr>
          </a:lstStyle>
          <a:p xmlns:a="http://schemas.openxmlformats.org/drawingml/2006/main">
            <a:pPr marL="0" indent="0">
              <a:spcBef>
                <a:spcPts val="0"/>
              </a:spcBef>
              <a:spcAft>
                <a:spcPts val="0"/>
              </a:spcAft>
              <a:defRPr sz="1800" b="0">
                <a:solidFill>
                  <a:srgbClr val="616161"/>
                </a:solidFill>
              </a:defRPr>
            </a:pPr>
            <a:r>
              <a:rPr sz="1800" b="0">
                <a:solidFill>
                  <a:srgbClr val="616161"/>
                </a:solidFill>
                <a:latin typeface="Proxima Nova"/>
                <a:ea typeface="Proxima Nova"/>
                <a:cs typeface="Proxima Nova"/>
              </a:rPr>
              <a:t>Hipótesis por validar con egresados y empresas.</a:t>
            </a:r>
          </a:p>
        </p:txBody>
      </p:sp>
    </p:spTree>
    <p:extLst>
      <p:ext uri="{BB962C8B-B14F-4D97-AF65-F5344CB8AC3E}">
        <p14:creationId xmlns:p14="http://schemas.microsoft.com/office/powerpoint/2010/main" val="123857741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8" name="Google Shape;158;p25">
            <a:extLst xmlns:a="http://schemas.openxmlformats.org/drawingml/2006/main">
              <a:ext uri="{FF2B5EF4-FFF2-40B4-BE49-F238E27FC236}">
                <a16:creationId xmlns:a16="http://schemas.microsoft.com/office/drawing/2014/main" id="{163F8696-4812-4A21-B7CB-0BC58A050629}"/>
              </a:ext>
            </a:extLst>
          </p:cNvPr>
          <p:cNvPicPr>
            <a:picLocks xmlns:a="http://schemas.openxmlformats.org/drawingml/2006/main" noChangeAspect="1"/>
          </p:cNvPicPr>
          <p:nvPr/>
        </p:nvPicPr>
        <p:blipFill>
          <a:blip xmlns:r="http://schemas.openxmlformats.org/officeDocument/2006/relationships" xmlns:a="http://schemas.openxmlformats.org/drawingml/2006/main" r:embed="Rffb0b8c1de2344b6">
            <a:alphaModFix/>
          </a:blip>
          <a:stretch xmlns:a="http://schemas.openxmlformats.org/drawingml/2006/main">
            <a:fillRect l="0" t="0" r="0" b="0"/>
          </a:stretch>
        </p:blipFill>
        <p:spPr>
          <a:xfrm xmlns:a="http://schemas.openxmlformats.org/drawingml/2006/main">
            <a:off x="323850" y="1457325"/>
            <a:ext cx="4095750" cy="2686050"/>
          </a:xfrm>
          <a:prstGeom xmlns:a="http://schemas.openxmlformats.org/drawingml/2006/main" prst="rect">
            <a:avLst/>
          </a:prstGeom>
          <a:ln xmlns:a="http://schemas.openxmlformats.org/drawingml/2006/main">
            <a:noFill/>
          </a:ln>
        </p:spPr>
      </p:pic>
      <p:pic>
        <p:nvPicPr>
          <p:cNvPr id="159" name="Google Shape;159;p25">
            <a:extLst xmlns:a="http://schemas.openxmlformats.org/drawingml/2006/main">
              <a:ext uri="{FF2B5EF4-FFF2-40B4-BE49-F238E27FC236}">
                <a16:creationId xmlns:a16="http://schemas.microsoft.com/office/drawing/2014/main" id="{C0171494-0A7E-42B6-88BD-050842C1B322}"/>
              </a:ext>
            </a:extLst>
          </p:cNvPr>
          <p:cNvPicPr>
            <a:picLocks xmlns:a="http://schemas.openxmlformats.org/drawingml/2006/main" noChangeAspect="1"/>
          </p:cNvPicPr>
          <p:nvPr/>
        </p:nvPicPr>
        <p:blipFill>
          <a:blip xmlns:r="http://schemas.openxmlformats.org/officeDocument/2006/relationships" xmlns:a="http://schemas.openxmlformats.org/drawingml/2006/main" r:embed="R8365f9e18d1c4835">
            <a:alphaModFix/>
          </a:blip>
          <a:stretch xmlns:a="http://schemas.openxmlformats.org/drawingml/2006/main">
            <a:fillRect l="0" t="0" r="0" b="0"/>
          </a:stretch>
        </p:blipFill>
        <p:spPr>
          <a:xfrm xmlns:a="http://schemas.openxmlformats.org/drawingml/2006/main">
            <a:off x="4724400" y="1457325"/>
            <a:ext cx="4095750" cy="2686050"/>
          </a:xfrm>
          <a:prstGeom xmlns:a="http://schemas.openxmlformats.org/drawingml/2006/main" prst="rect">
            <a:avLst/>
          </a:prstGeom>
          <a:ln xmlns:a="http://schemas.openxmlformats.org/drawingml/2006/main">
            <a:noFill/>
          </a:ln>
        </p:spPr>
      </p:pic>
      <p:sp>
        <p:nvSpPr>
          <p:cNvPr id="160" name="">
            <a:extLst xmlns:a="http://schemas.openxmlformats.org/drawingml/2006/main">
              <a:ext uri="{FF2B5EF4-FFF2-40B4-BE49-F238E27FC236}">
                <a16:creationId xmlns:a16="http://schemas.microsoft.com/office/drawing/2014/main" id="{70F94CB0-7EAB-4CFA-965B-B7A74B3EEAF5}"/>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Mockup de referencia</a:t>
            </a:r>
          </a:p>
        </p:txBody>
      </p:sp>
      <p:sp>
        <p:nvSpPr>
          <p:cNvPr id="161" name="">
            <a:extLst xmlns:a="http://schemas.openxmlformats.org/drawingml/2006/main">
              <a:ext uri="{FF2B5EF4-FFF2-40B4-BE49-F238E27FC236}">
                <a16:creationId xmlns:a16="http://schemas.microsoft.com/office/drawing/2014/main" id="{A25D390E-82F5-4C04-A45C-95D55A870B8A}"/>
              </a:ext>
            </a:extLst>
          </p:cNvPr>
          <p:cNvSpPr>
            <a:spLocks xmlns:a="http://schemas.openxmlformats.org/drawingml/2006/main" noGrp="1"/>
          </p:cNvSpPr>
          <p:nvPr/>
        </p:nvSpPr>
        <p:spPr>
          <a:xfrm xmlns:a="http://schemas.openxmlformats.org/drawingml/2006/main">
            <a:off x="323850" y="11430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Diseño inicial</a:t>
            </a:r>
          </a:p>
        </p:txBody>
      </p:sp>
      <p:sp>
        <p:nvSpPr>
          <p:cNvPr id="162" name="">
            <a:extLst xmlns:a="http://schemas.openxmlformats.org/drawingml/2006/main">
              <a:ext uri="{FF2B5EF4-FFF2-40B4-BE49-F238E27FC236}">
                <a16:creationId xmlns:a16="http://schemas.microsoft.com/office/drawing/2014/main" id="{CEC82602-9A67-4006-88B0-F491CE5B7512}"/>
              </a:ext>
            </a:extLst>
          </p:cNvPr>
          <p:cNvSpPr>
            <a:spLocks xmlns:a="http://schemas.openxmlformats.org/drawingml/2006/main" noGrp="1"/>
          </p:cNvSpPr>
          <p:nvPr/>
        </p:nvSpPr>
        <p:spPr>
          <a:xfrm xmlns:a="http://schemas.openxmlformats.org/drawingml/2006/main">
            <a:off x="4724400" y="11430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327251"/>
                </a:solidFill>
              </a:defRPr>
            </a:defPPr>
          </a:lstStyle>
          <a:p xmlns:a="http://schemas.openxmlformats.org/drawingml/2006/main">
            <a:pPr marL="0" indent="0">
              <a:spcBef>
                <a:spcPts val="0"/>
              </a:spcBef>
              <a:spcAft>
                <a:spcPts val="0"/>
              </a:spcAft>
              <a:defRPr sz="1650" b="1">
                <a:solidFill>
                  <a:srgbClr val="327251"/>
                </a:solidFill>
              </a:defRPr>
            </a:pPr>
            <a:r>
              <a:rPr sz="1650" b="1">
                <a:solidFill>
                  <a:srgbClr val="327251"/>
                </a:solidFill>
                <a:latin typeface="Proxima Nova"/>
                <a:ea typeface="Proxima Nova"/>
                <a:cs typeface="Proxima Nova"/>
              </a:rPr>
              <a:t>Portafolio y árbol profesional</a:t>
            </a:r>
          </a:p>
        </p:txBody>
      </p:sp>
      <p:sp>
        <p:nvSpPr>
          <p:cNvPr id="163" name="">
            <a:extLst xmlns:a="http://schemas.openxmlformats.org/drawingml/2006/main">
              <a:ext uri="{FF2B5EF4-FFF2-40B4-BE49-F238E27FC236}">
                <a16:creationId xmlns:a16="http://schemas.microsoft.com/office/drawing/2014/main" id="{E48CA9A5-19A8-48BE-98F9-328EB40A5805}"/>
              </a:ext>
            </a:extLst>
          </p:cNvPr>
          <p:cNvSpPr>
            <a:spLocks xmlns:a="http://schemas.openxmlformats.org/drawingml/2006/main" noGrp="1"/>
          </p:cNvSpPr>
          <p:nvPr/>
        </p:nvSpPr>
        <p:spPr>
          <a:xfrm xmlns:a="http://schemas.openxmlformats.org/drawingml/2006/main">
            <a:off x="323850" y="4391025"/>
            <a:ext cx="847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2729"/>
                </a:solidFill>
              </a:defRPr>
            </a:defPPr>
          </a:lstStyle>
          <a:p xmlns:a="http://schemas.openxmlformats.org/drawingml/2006/main">
            <a:pPr marL="0" indent="0">
              <a:spcBef>
                <a:spcPts val="0"/>
              </a:spcBef>
              <a:spcAft>
                <a:spcPts val="0"/>
              </a:spcAft>
              <a:defRPr sz="1725" b="0">
                <a:solidFill>
                  <a:srgbClr val="202729"/>
                </a:solidFill>
              </a:defRPr>
            </a:pPr>
            <a:r>
              <a:rPr sz="1725" b="0">
                <a:solidFill>
                  <a:srgbClr val="202729"/>
                </a:solidFill>
                <a:latin typeface="Proxima Nova"/>
                <a:ea typeface="Proxima Nova"/>
                <a:cs typeface="Proxima Nova"/>
              </a:rPr>
              <a:t>Punto de partida visual para la evolución del producto.</a:t>
            </a:r>
          </a:p>
        </p:txBody>
      </p:sp>
    </p:spTree>
    <p:extLst>
      <p:ext uri="{BB962C8B-B14F-4D97-AF65-F5344CB8AC3E}">
        <p14:creationId xmlns:p14="http://schemas.microsoft.com/office/powerpoint/2010/main" val="203262909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D339BE2-9CDB-479A-8048-7CEB71E74336}"/>
              </a:ext>
            </a:extLst>
          </p:cNvPr>
          <p:cNvPicPr>
            <a:picLocks xmlns:a="http://schemas.openxmlformats.org/drawingml/2006/main" noChangeAspect="1"/>
          </p:cNvPicPr>
          <p:nvPr/>
        </p:nvPicPr>
        <p:blipFill>
          <a:blip xmlns:r="http://schemas.openxmlformats.org/officeDocument/2006/relationships" xmlns:a="http://schemas.openxmlformats.org/drawingml/2006/main" r:embed="R241cc87d26604128"/>
          <a:stretch xmlns:a="http://schemas.openxmlformats.org/drawingml/2006/main"/>
        </p:blipFill>
        <p:spPr>
          <a:xfrm xmlns:a="http://schemas.openxmlformats.org/drawingml/2006/main">
            <a:off x="52" y="0"/>
            <a:ext cx="1788977" cy="4450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8970ED-4D09-484C-A94F-7E2B5204ED0F}"/>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Avances · el egresado muestra su talento</a:t>
            </a:r>
          </a:p>
        </p:txBody>
      </p:sp>
      <p:pic>
        <p:nvPicPr>
          <p:cNvPr id="3" name="">
            <a:extLst xmlns:a="http://schemas.openxmlformats.org/drawingml/2006/main">
              <a:ext uri="{FF2B5EF4-FFF2-40B4-BE49-F238E27FC236}">
                <a16:creationId xmlns:a16="http://schemas.microsoft.com/office/drawing/2014/main" id="{45DC3401-BB41-4991-A61C-E6A8162F1A3F}"/>
              </a:ext>
            </a:extLst>
          </p:cNvPr>
          <p:cNvPicPr>
            <a:picLocks xmlns:a="http://schemas.openxmlformats.org/drawingml/2006/main" noChangeAspect="1"/>
          </p:cNvPicPr>
          <p:nvPr/>
        </p:nvPicPr>
        <p:blipFill>
          <a:blip xmlns:r="http://schemas.openxmlformats.org/officeDocument/2006/relationships" xmlns:a="http://schemas.openxmlformats.org/drawingml/2006/main" r:embed="Raa35c5dab0cd4649"/>
          <a:stretch xmlns:a="http://schemas.openxmlformats.org/drawingml/2006/main"/>
        </p:blipFill>
        <p:spPr>
          <a:xfrm xmlns:a="http://schemas.openxmlformats.org/drawingml/2006/main">
            <a:off x="323850" y="1324483"/>
            <a:ext cx="5667375" cy="318985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5A954DE-CBAB-4A36-8F92-B07ABD4E1740}"/>
              </a:ext>
            </a:extLst>
          </p:cNvPr>
          <p:cNvSpPr>
            <a:spLocks xmlns:a="http://schemas.openxmlformats.org/drawingml/2006/main" noGrp="1"/>
          </p:cNvSpPr>
          <p:nvPr/>
        </p:nvSpPr>
        <p:spPr>
          <a:xfrm xmlns:a="http://schemas.openxmlformats.org/drawingml/2006/main">
            <a:off x="6257925" y="1457325"/>
            <a:ext cx="2647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Portafolio compartible</a:t>
            </a:r>
          </a:p>
        </p:txBody>
      </p:sp>
      <p:sp>
        <p:nvSpPr>
          <p:cNvPr id="5" name="">
            <a:extLst xmlns:a="http://schemas.openxmlformats.org/drawingml/2006/main">
              <a:ext uri="{FF2B5EF4-FFF2-40B4-BE49-F238E27FC236}">
                <a16:creationId xmlns:a16="http://schemas.microsoft.com/office/drawing/2014/main" id="{54032081-648A-4C55-B270-F14A795CBA1F}"/>
              </a:ext>
            </a:extLst>
          </p:cNvPr>
          <p:cNvSpPr>
            <a:spLocks xmlns:a="http://schemas.openxmlformats.org/drawingml/2006/main" noGrp="1"/>
          </p:cNvSpPr>
          <p:nvPr/>
        </p:nvSpPr>
        <p:spPr>
          <a:xfrm xmlns:a="http://schemas.openxmlformats.org/drawingml/2006/main">
            <a:off x="6257925" y="1819275"/>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Proyectos y certificaciones.</a:t>
            </a:r>
          </a:p>
        </p:txBody>
      </p:sp>
      <p:sp>
        <p:nvSpPr>
          <p:cNvPr id="6" name="">
            <a:extLst xmlns:a="http://schemas.openxmlformats.org/drawingml/2006/main">
              <a:ext uri="{FF2B5EF4-FFF2-40B4-BE49-F238E27FC236}">
                <a16:creationId xmlns:a16="http://schemas.microsoft.com/office/drawing/2014/main" id="{52A1D23D-9A0A-4622-BD15-A3307A972ADE}"/>
              </a:ext>
            </a:extLst>
          </p:cNvPr>
          <p:cNvSpPr>
            <a:spLocks xmlns:a="http://schemas.openxmlformats.org/drawingml/2006/main" noGrp="1"/>
          </p:cNvSpPr>
          <p:nvPr/>
        </p:nvSpPr>
        <p:spPr>
          <a:xfrm xmlns:a="http://schemas.openxmlformats.org/drawingml/2006/main">
            <a:off x="6257925" y="2419350"/>
            <a:ext cx="2647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Perfil con evidencia</a:t>
            </a:r>
          </a:p>
        </p:txBody>
      </p:sp>
      <p:sp>
        <p:nvSpPr>
          <p:cNvPr id="7" name="">
            <a:extLst xmlns:a="http://schemas.openxmlformats.org/drawingml/2006/main">
              <a:ext uri="{FF2B5EF4-FFF2-40B4-BE49-F238E27FC236}">
                <a16:creationId xmlns:a16="http://schemas.microsoft.com/office/drawing/2014/main" id="{F28128E8-B46F-4FCD-A10A-AFEAE95B85A8}"/>
              </a:ext>
            </a:extLst>
          </p:cNvPr>
          <p:cNvSpPr>
            <a:spLocks xmlns:a="http://schemas.openxmlformats.org/drawingml/2006/main" noGrp="1"/>
          </p:cNvSpPr>
          <p:nvPr/>
        </p:nvSpPr>
        <p:spPr>
          <a:xfrm xmlns:a="http://schemas.openxmlformats.org/drawingml/2006/main">
            <a:off x="6257925" y="2781300"/>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Archivos, videos y experiencia.</a:t>
            </a:r>
          </a:p>
        </p:txBody>
      </p:sp>
      <p:sp>
        <p:nvSpPr>
          <p:cNvPr id="8" name="">
            <a:extLst xmlns:a="http://schemas.openxmlformats.org/drawingml/2006/main">
              <a:ext uri="{FF2B5EF4-FFF2-40B4-BE49-F238E27FC236}">
                <a16:creationId xmlns:a16="http://schemas.microsoft.com/office/drawing/2014/main" id="{D10D21D4-7093-4108-A36C-B7380F1BE4E1}"/>
              </a:ext>
            </a:extLst>
          </p:cNvPr>
          <p:cNvSpPr>
            <a:spLocks xmlns:a="http://schemas.openxmlformats.org/drawingml/2006/main" noGrp="1"/>
          </p:cNvSpPr>
          <p:nvPr/>
        </p:nvSpPr>
        <p:spPr>
          <a:xfrm xmlns:a="http://schemas.openxmlformats.org/drawingml/2006/main">
            <a:off x="6257925" y="3381375"/>
            <a:ext cx="2647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327251"/>
                </a:solidFill>
              </a:defRPr>
            </a:defPPr>
          </a:lstStyle>
          <a:p xmlns:a="http://schemas.openxmlformats.org/drawingml/2006/main">
            <a:pPr marL="0" indent="0">
              <a:spcBef>
                <a:spcPts val="0"/>
              </a:spcBef>
              <a:spcAft>
                <a:spcPts val="0"/>
              </a:spcAft>
              <a:defRPr sz="2025" b="1">
                <a:solidFill>
                  <a:srgbClr val="327251"/>
                </a:solidFill>
              </a:defRPr>
            </a:pPr>
            <a:r>
              <a:rPr sz="2025" b="1">
                <a:solidFill>
                  <a:srgbClr val="327251"/>
                </a:solidFill>
                <a:latin typeface="Proxima Nova"/>
                <a:ea typeface="Proxima Nova"/>
                <a:cs typeface="Proxima Nova"/>
              </a:rPr>
              <a:t>Más control</a:t>
            </a:r>
          </a:p>
        </p:txBody>
      </p:sp>
      <p:sp>
        <p:nvSpPr>
          <p:cNvPr id="9" name="">
            <a:extLst xmlns:a="http://schemas.openxmlformats.org/drawingml/2006/main">
              <a:ext uri="{FF2B5EF4-FFF2-40B4-BE49-F238E27FC236}">
                <a16:creationId xmlns:a16="http://schemas.microsoft.com/office/drawing/2014/main" id="{00ABE72B-20B1-4CBA-90FA-5E9FC3CC7050}"/>
              </a:ext>
            </a:extLst>
          </p:cNvPr>
          <p:cNvSpPr>
            <a:spLocks xmlns:a="http://schemas.openxmlformats.org/drawingml/2006/main" noGrp="1"/>
          </p:cNvSpPr>
          <p:nvPr/>
        </p:nvSpPr>
        <p:spPr>
          <a:xfrm xmlns:a="http://schemas.openxmlformats.org/drawingml/2006/main">
            <a:off x="6257925" y="3743325"/>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202729"/>
                </a:solidFill>
              </a:defRPr>
            </a:defPPr>
          </a:lstStyle>
          <a:p xmlns:a="http://schemas.openxmlformats.org/drawingml/2006/main">
            <a:pPr marL="0" indent="0">
              <a:spcBef>
                <a:spcPts val="0"/>
              </a:spcBef>
              <a:spcAft>
                <a:spcPts val="0"/>
              </a:spcAft>
              <a:defRPr sz="1650" b="0">
                <a:solidFill>
                  <a:srgbClr val="202729"/>
                </a:solidFill>
              </a:defRPr>
            </a:pPr>
            <a:r>
              <a:rPr sz="1650" b="0">
                <a:solidFill>
                  <a:srgbClr val="202729"/>
                </a:solidFill>
                <a:latin typeface="Proxima Nova"/>
                <a:ea typeface="Proxima Nova"/>
                <a:cs typeface="Proxima Nova"/>
              </a:rPr>
              <a:t>Publicación y contacto voluntarios.</a:t>
            </a:r>
          </a:p>
        </p:txBody>
      </p:sp>
      <p:sp>
        <p:nvSpPr>
          <p:cNvPr id="10" name="">
            <a:extLst xmlns:a="http://schemas.openxmlformats.org/drawingml/2006/main">
              <a:ext uri="{FF2B5EF4-FFF2-40B4-BE49-F238E27FC236}">
                <a16:creationId xmlns:a16="http://schemas.microsoft.com/office/drawing/2014/main" id="{EDDAC090-26E7-4D23-A679-4A69959CCBBF}"/>
              </a:ext>
            </a:extLst>
          </p:cNvPr>
          <p:cNvSpPr>
            <a:spLocks xmlns:a="http://schemas.openxmlformats.org/drawingml/2006/main" noGrp="1"/>
          </p:cNvSpPr>
          <p:nvPr/>
        </p:nvSpPr>
        <p:spPr>
          <a:xfrm xmlns:a="http://schemas.openxmlformats.org/drawingml/2006/main">
            <a:off x="323850" y="4619625"/>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16161"/>
                </a:solidFill>
              </a:defRPr>
            </a:defPPr>
          </a:lstStyle>
          <a:p xmlns:a="http://schemas.openxmlformats.org/drawingml/2006/main">
            <a:pPr marL="0" indent="0">
              <a:spcBef>
                <a:spcPts val="0"/>
              </a:spcBef>
              <a:spcAft>
                <a:spcPts val="0"/>
              </a:spcAft>
              <a:defRPr sz="1350" b="0">
                <a:solidFill>
                  <a:srgbClr val="616161"/>
                </a:solidFill>
              </a:defRPr>
            </a:pPr>
            <a:r>
              <a:rPr sz="1350" b="0">
                <a:solidFill>
                  <a:srgbClr val="616161"/>
                </a:solidFill>
                <a:latin typeface="Proxima Nova"/>
                <a:ea typeface="Proxima Nova"/>
                <a:cs typeface="Proxima Nova"/>
              </a:rPr>
              <a:t>Captura del MVP · Datos ficticios de demostración</a:t>
            </a:r>
          </a:p>
        </p:txBody>
      </p:sp>
    </p:spTree>
    <p:extLst>
      <p:ext uri="{BB962C8B-B14F-4D97-AF65-F5344CB8AC3E}">
        <p14:creationId xmlns:p14="http://schemas.microsoft.com/office/powerpoint/2010/main" val="78543048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4EC17B0-FCE4-4271-9EB6-87E87E02FBDD}"/>
              </a:ext>
            </a:extLst>
          </p:cNvPr>
          <p:cNvPicPr>
            <a:picLocks xmlns:a="http://schemas.openxmlformats.org/drawingml/2006/main" noChangeAspect="1"/>
          </p:cNvPicPr>
          <p:nvPr/>
        </p:nvPicPr>
        <p:blipFill>
          <a:blip xmlns:r="http://schemas.openxmlformats.org/officeDocument/2006/relationships" xmlns:a="http://schemas.openxmlformats.org/drawingml/2006/main" r:embed="R262c042eeb9447b9"/>
          <a:stretch xmlns:a="http://schemas.openxmlformats.org/drawingml/2006/main"/>
        </p:blipFill>
        <p:spPr>
          <a:xfrm xmlns:a="http://schemas.openxmlformats.org/drawingml/2006/main">
            <a:off x="52" y="0"/>
            <a:ext cx="1788977" cy="4450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5B1C8B-9782-46E1-A876-7108634CC730}"/>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Avances · selección y preparación</a:t>
            </a:r>
          </a:p>
        </p:txBody>
      </p:sp>
      <p:pic>
        <p:nvPicPr>
          <p:cNvPr id="3" name="">
            <a:extLst xmlns:a="http://schemas.openxmlformats.org/drawingml/2006/main">
              <a:ext uri="{FF2B5EF4-FFF2-40B4-BE49-F238E27FC236}">
                <a16:creationId xmlns:a16="http://schemas.microsoft.com/office/drawing/2014/main" id="{DFDED2C2-C95F-40B2-94AB-2C3ECEB70D99}"/>
              </a:ext>
            </a:extLst>
          </p:cNvPr>
          <p:cNvPicPr>
            <a:picLocks xmlns:a="http://schemas.openxmlformats.org/drawingml/2006/main" noChangeAspect="1"/>
          </p:cNvPicPr>
          <p:nvPr/>
        </p:nvPicPr>
        <p:blipFill>
          <a:blip xmlns:r="http://schemas.openxmlformats.org/officeDocument/2006/relationships" xmlns:a="http://schemas.openxmlformats.org/drawingml/2006/main" r:embed="R0aaf58de37f94188"/>
          <a:stretch xmlns:a="http://schemas.openxmlformats.org/drawingml/2006/main"/>
        </p:blipFill>
        <p:spPr>
          <a:xfrm xmlns:a="http://schemas.openxmlformats.org/drawingml/2006/main">
            <a:off x="324887" y="1438275"/>
            <a:ext cx="5093801" cy="28670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25DA0DC-AFE5-4E54-A388-F1F79306857E}"/>
              </a:ext>
            </a:extLst>
          </p:cNvPr>
          <p:cNvPicPr>
            <a:picLocks xmlns:a="http://schemas.openxmlformats.org/drawingml/2006/main" noChangeAspect="1"/>
          </p:cNvPicPr>
          <p:nvPr/>
        </p:nvPicPr>
        <p:blipFill>
          <a:blip xmlns:r="http://schemas.openxmlformats.org/officeDocument/2006/relationships" xmlns:a="http://schemas.openxmlformats.org/drawingml/2006/main" r:embed="Rf8aa326c5613429d"/>
          <a:srcRect xmlns:a="http://schemas.openxmlformats.org/drawingml/2006/main" l="48000" t="3000" r="3000" b="3000"/>
          <a:stretch xmlns:a="http://schemas.openxmlformats.org/drawingml/2006/main"/>
        </p:blipFill>
        <p:spPr>
          <a:xfrm xmlns:a="http://schemas.openxmlformats.org/drawingml/2006/main">
            <a:off x="5600700" y="1438275"/>
            <a:ext cx="3238500" cy="28670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73FBFB3-C268-4AB8-B34F-25C0F383F75B}"/>
              </a:ext>
            </a:extLst>
          </p:cNvPr>
          <p:cNvSpPr>
            <a:spLocks xmlns:a="http://schemas.openxmlformats.org/drawingml/2006/main" noGrp="1"/>
          </p:cNvSpPr>
          <p:nvPr/>
        </p:nvSpPr>
        <p:spPr>
          <a:xfrm xmlns:a="http://schemas.openxmlformats.org/drawingml/2006/main">
            <a:off x="323850" y="1133475"/>
            <a:ext cx="490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327251"/>
                </a:solidFill>
              </a:defRPr>
            </a:defPPr>
          </a:lstStyle>
          <a:p xmlns:a="http://schemas.openxmlformats.org/drawingml/2006/main">
            <a:pPr marL="0" indent="0">
              <a:spcBef>
                <a:spcPts val="0"/>
              </a:spcBef>
              <a:spcAft>
                <a:spcPts val="0"/>
              </a:spcAft>
              <a:defRPr sz="1875" b="1">
                <a:solidFill>
                  <a:srgbClr val="327251"/>
                </a:solidFill>
              </a:defRPr>
            </a:pPr>
            <a:r>
              <a:rPr sz="1875" b="1">
                <a:solidFill>
                  <a:srgbClr val="327251"/>
                </a:solidFill>
                <a:latin typeface="Proxima Nova"/>
                <a:ea typeface="Proxima Nova"/>
                <a:cs typeface="Proxima Nova"/>
              </a:rPr>
              <a:t>Empresas</a:t>
            </a:r>
          </a:p>
        </p:txBody>
      </p:sp>
      <p:sp>
        <p:nvSpPr>
          <p:cNvPr id="6" name="">
            <a:extLst xmlns:a="http://schemas.openxmlformats.org/drawingml/2006/main">
              <a:ext uri="{FF2B5EF4-FFF2-40B4-BE49-F238E27FC236}">
                <a16:creationId xmlns:a16="http://schemas.microsoft.com/office/drawing/2014/main" id="{48EBEA4B-DE61-4605-98FC-F6D7FF5A3B19}"/>
              </a:ext>
            </a:extLst>
          </p:cNvPr>
          <p:cNvSpPr>
            <a:spLocks xmlns:a="http://schemas.openxmlformats.org/drawingml/2006/main" noGrp="1"/>
          </p:cNvSpPr>
          <p:nvPr/>
        </p:nvSpPr>
        <p:spPr>
          <a:xfrm xmlns:a="http://schemas.openxmlformats.org/drawingml/2006/main">
            <a:off x="5600700" y="113347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327251"/>
                </a:solidFill>
              </a:defRPr>
            </a:defPPr>
          </a:lstStyle>
          <a:p xmlns:a="http://schemas.openxmlformats.org/drawingml/2006/main">
            <a:pPr marL="0" indent="0">
              <a:spcBef>
                <a:spcPts val="0"/>
              </a:spcBef>
              <a:spcAft>
                <a:spcPts val="0"/>
              </a:spcAft>
              <a:defRPr sz="1875" b="1">
                <a:solidFill>
                  <a:srgbClr val="327251"/>
                </a:solidFill>
              </a:defRPr>
            </a:pPr>
            <a:r>
              <a:rPr sz="1875" b="1">
                <a:solidFill>
                  <a:srgbClr val="327251"/>
                </a:solidFill>
                <a:latin typeface="Proxima Nova"/>
                <a:ea typeface="Proxima Nova"/>
                <a:cs typeface="Proxima Nova"/>
              </a:rPr>
              <a:t>Modo IA</a:t>
            </a:r>
          </a:p>
        </p:txBody>
      </p:sp>
      <p:sp>
        <p:nvSpPr>
          <p:cNvPr id="7" name="">
            <a:extLst xmlns:a="http://schemas.openxmlformats.org/drawingml/2006/main">
              <a:ext uri="{FF2B5EF4-FFF2-40B4-BE49-F238E27FC236}">
                <a16:creationId xmlns:a16="http://schemas.microsoft.com/office/drawing/2014/main" id="{07150606-3632-4A16-BD45-487293A5FD15}"/>
              </a:ext>
            </a:extLst>
          </p:cNvPr>
          <p:cNvSpPr>
            <a:spLocks xmlns:a="http://schemas.openxmlformats.org/drawingml/2006/main" noGrp="1"/>
          </p:cNvSpPr>
          <p:nvPr/>
        </p:nvSpPr>
        <p:spPr>
          <a:xfrm xmlns:a="http://schemas.openxmlformats.org/drawingml/2006/main">
            <a:off x="323850" y="4400550"/>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02729"/>
                </a:solidFill>
              </a:defRPr>
            </a:defPPr>
          </a:lstStyle>
          <a:p xmlns:a="http://schemas.openxmlformats.org/drawingml/2006/main">
            <a:pPr marL="0" indent="0">
              <a:spcBef>
                <a:spcPts val="0"/>
              </a:spcBef>
              <a:spcAft>
                <a:spcPts val="0"/>
              </a:spcAft>
              <a:defRPr sz="1575" b="0">
                <a:solidFill>
                  <a:srgbClr val="202729"/>
                </a:solidFill>
              </a:defRPr>
            </a:pPr>
            <a:r>
              <a:rPr sz="1575" b="0">
                <a:solidFill>
                  <a:srgbClr val="202729"/>
                </a:solidFill>
                <a:latin typeface="Proxima Nova"/>
                <a:ea typeface="Proxima Nova"/>
                <a:cs typeface="Proxima Nova"/>
              </a:rPr>
              <a:t>Ofertas, candidatos y cierre privado.</a:t>
            </a:r>
          </a:p>
        </p:txBody>
      </p:sp>
      <p:sp>
        <p:nvSpPr>
          <p:cNvPr id="8" name="">
            <a:extLst xmlns:a="http://schemas.openxmlformats.org/drawingml/2006/main">
              <a:ext uri="{FF2B5EF4-FFF2-40B4-BE49-F238E27FC236}">
                <a16:creationId xmlns:a16="http://schemas.microsoft.com/office/drawing/2014/main" id="{ADFECCC8-05A0-47E0-B2FD-6A22BFDF8B8C}"/>
              </a:ext>
            </a:extLst>
          </p:cNvPr>
          <p:cNvSpPr>
            <a:spLocks xmlns:a="http://schemas.openxmlformats.org/drawingml/2006/main" noGrp="1"/>
          </p:cNvSpPr>
          <p:nvPr/>
        </p:nvSpPr>
        <p:spPr>
          <a:xfrm xmlns:a="http://schemas.openxmlformats.org/drawingml/2006/main">
            <a:off x="5600700" y="4400550"/>
            <a:ext cx="323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02729"/>
                </a:solidFill>
              </a:defRPr>
            </a:defPPr>
          </a:lstStyle>
          <a:p xmlns:a="http://schemas.openxmlformats.org/drawingml/2006/main">
            <a:pPr marL="0" indent="0">
              <a:spcBef>
                <a:spcPts val="0"/>
              </a:spcBef>
              <a:spcAft>
                <a:spcPts val="0"/>
              </a:spcAft>
              <a:defRPr sz="1575" b="0">
                <a:solidFill>
                  <a:srgbClr val="202729"/>
                </a:solidFill>
              </a:defRPr>
            </a:pPr>
            <a:r>
              <a:rPr sz="1575" b="0">
                <a:solidFill>
                  <a:srgbClr val="202729"/>
                </a:solidFill>
                <a:latin typeface="Proxima Nova"/>
                <a:ea typeface="Proxima Nova"/>
                <a:cs typeface="Proxima Nova"/>
              </a:rPr>
              <a:t>Preparar una entrevista diaria.</a:t>
            </a:r>
          </a:p>
        </p:txBody>
      </p:sp>
      <p:sp>
        <p:nvSpPr>
          <p:cNvPr id="9" name="">
            <a:extLst xmlns:a="http://schemas.openxmlformats.org/drawingml/2006/main">
              <a:ext uri="{FF2B5EF4-FFF2-40B4-BE49-F238E27FC236}">
                <a16:creationId xmlns:a16="http://schemas.microsoft.com/office/drawing/2014/main" id="{3AECB373-E874-4253-8718-1B4C0C3415A6}"/>
              </a:ext>
            </a:extLst>
          </p:cNvPr>
          <p:cNvSpPr>
            <a:spLocks xmlns:a="http://schemas.openxmlformats.org/drawingml/2006/main" noGrp="1"/>
          </p:cNvSpPr>
          <p:nvPr/>
        </p:nvSpPr>
        <p:spPr>
          <a:xfrm xmlns:a="http://schemas.openxmlformats.org/drawingml/2006/main">
            <a:off x="323850" y="4772025"/>
            <a:ext cx="838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16161"/>
                </a:solidFill>
              </a:defRPr>
            </a:defPPr>
          </a:lstStyle>
          <a:p xmlns:a="http://schemas.openxmlformats.org/drawingml/2006/main">
            <a:pPr marL="0" indent="0">
              <a:spcBef>
                <a:spcPts val="0"/>
              </a:spcBef>
              <a:spcAft>
                <a:spcPts val="0"/>
              </a:spcAft>
              <a:defRPr sz="1275" b="0">
                <a:solidFill>
                  <a:srgbClr val="616161"/>
                </a:solidFill>
              </a:defRPr>
            </a:pPr>
            <a:r>
              <a:rPr sz="1275" b="0">
                <a:solidFill>
                  <a:srgbClr val="616161"/>
                </a:solidFill>
                <a:latin typeface="Proxima Nova"/>
                <a:ea typeface="Proxima Nova"/>
                <a:cs typeface="Proxima Nova"/>
              </a:rPr>
              <a:t>Capturas de prueba · Datos ficticios · IA sin conexión en esta captura</a:t>
            </a:r>
          </a:p>
        </p:txBody>
      </p:sp>
    </p:spTree>
    <p:extLst>
      <p:ext uri="{BB962C8B-B14F-4D97-AF65-F5344CB8AC3E}">
        <p14:creationId xmlns:p14="http://schemas.microsoft.com/office/powerpoint/2010/main" val="62535931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66" name="Google Shape;166;p26">
            <a:extLst xmlns:a="http://schemas.openxmlformats.org/drawingml/2006/main">
              <a:ext uri="{FF2B5EF4-FFF2-40B4-BE49-F238E27FC236}">
                <a16:creationId xmlns:a16="http://schemas.microsoft.com/office/drawing/2014/main" id="{9A6778ED-5610-4EC0-8866-7DF4A078E723}"/>
              </a:ext>
            </a:extLst>
          </p:cNvPr>
          <p:cNvPicPr>
            <a:picLocks xmlns:a="http://schemas.openxmlformats.org/drawingml/2006/main" noChangeAspect="1"/>
          </p:cNvPicPr>
          <p:nvPr/>
        </p:nvPicPr>
        <p:blipFill>
          <a:blip xmlns:r="http://schemas.openxmlformats.org/officeDocument/2006/relationships" xmlns:a="http://schemas.openxmlformats.org/drawingml/2006/main" r:embed="R93ab2a5af2414aef">
            <a:alphaModFix/>
          </a:blip>
          <a:stretch xmlns:a="http://schemas.openxmlformats.org/drawingml/2006/main">
            <a:fillRect l="0" t="0" r="0" b="0"/>
          </a:stretch>
        </p:blipFill>
        <p:spPr>
          <a:xfrm xmlns:a="http://schemas.openxmlformats.org/drawingml/2006/main">
            <a:off x="6105525" y="1371600"/>
            <a:ext cx="2571750" cy="2619375"/>
          </a:xfrm>
          <a:prstGeom xmlns:a="http://schemas.openxmlformats.org/drawingml/2006/main" prst="rect">
            <a:avLst/>
          </a:prstGeom>
          <a:ln xmlns:a="http://schemas.openxmlformats.org/drawingml/2006/main">
            <a:noFill/>
          </a:ln>
        </p:spPr>
      </p:pic>
      <p:sp>
        <p:nvSpPr>
          <p:cNvPr id="167" name="">
            <a:extLst xmlns:a="http://schemas.openxmlformats.org/drawingml/2006/main">
              <a:ext uri="{FF2B5EF4-FFF2-40B4-BE49-F238E27FC236}">
                <a16:creationId xmlns:a16="http://schemas.microsoft.com/office/drawing/2014/main" id="{5BF5CEA3-A8B3-4F47-B837-02CE98B8AD1C}"/>
              </a:ext>
            </a:extLst>
          </p:cNvPr>
          <p:cNvSpPr>
            <a:spLocks xmlns:a="http://schemas.openxmlformats.org/drawingml/2006/main" noGrp="1"/>
          </p:cNvSpPr>
          <p:nvPr/>
        </p:nvSpPr>
        <p:spPr>
          <a:xfrm xmlns:a="http://schemas.openxmlformats.org/drawingml/2006/main">
            <a:off x="311658" y="504825"/>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20" b="0">
                <a:solidFill>
                  <a:srgbClr val="202729"/>
                </a:solidFill>
              </a:defRPr>
            </a:defPPr>
          </a:lstStyle>
          <a:p xmlns:a="http://schemas.openxmlformats.org/drawingml/2006/main">
            <a:pPr marL="0" indent="0">
              <a:spcBef>
                <a:spcPts val="0"/>
              </a:spcBef>
              <a:spcAft>
                <a:spcPts val="0"/>
              </a:spcAft>
              <a:defRPr sz="2520" b="0">
                <a:solidFill>
                  <a:srgbClr val="202729"/>
                </a:solidFill>
              </a:defRPr>
            </a:pPr>
            <a:r>
              <a:rPr sz="2520" b="0">
                <a:solidFill>
                  <a:srgbClr val="202729"/>
                </a:solidFill>
                <a:latin typeface="Proxima Nova"/>
                <a:ea typeface="Proxima Nova"/>
                <a:cs typeface="Proxima Nova"/>
              </a:rPr>
              <a:t>Conclusión</a:t>
            </a:r>
          </a:p>
        </p:txBody>
      </p:sp>
      <p:sp>
        <p:nvSpPr>
          <p:cNvPr id="168" name="">
            <a:extLst xmlns:a="http://schemas.openxmlformats.org/drawingml/2006/main">
              <a:ext uri="{FF2B5EF4-FFF2-40B4-BE49-F238E27FC236}">
                <a16:creationId xmlns:a16="http://schemas.microsoft.com/office/drawing/2014/main" id="{B4710872-FCD0-47CC-9FDB-DCC5C3FC158D}"/>
              </a:ext>
            </a:extLst>
          </p:cNvPr>
          <p:cNvSpPr>
            <a:spLocks xmlns:a="http://schemas.openxmlformats.org/drawingml/2006/main" noGrp="1"/>
          </p:cNvSpPr>
          <p:nvPr/>
        </p:nvSpPr>
        <p:spPr>
          <a:xfrm xmlns:a="http://schemas.openxmlformats.org/drawingml/2006/main">
            <a:off x="323850" y="13335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327251"/>
                </a:solidFill>
              </a:defRPr>
            </a:defPPr>
          </a:lstStyle>
          <a:p xmlns:a="http://schemas.openxmlformats.org/drawingml/2006/main">
            <a:pPr marL="0" indent="0">
              <a:spcBef>
                <a:spcPts val="0"/>
              </a:spcBef>
              <a:spcAft>
                <a:spcPts val="0"/>
              </a:spcAft>
              <a:defRPr sz="2925" b="1">
                <a:solidFill>
                  <a:srgbClr val="327251"/>
                </a:solidFill>
              </a:defRPr>
            </a:pPr>
            <a:r>
              <a:rPr sz="2925" b="1">
                <a:solidFill>
                  <a:srgbClr val="327251"/>
                </a:solidFill>
                <a:latin typeface="Proxima Nova"/>
                <a:ea typeface="Proxima Nova"/>
                <a:cs typeface="Proxima Nova"/>
              </a:rPr>
              <a:t>La primera oportunidad</a:t>
            </a:r>
            <a:br>
              <a:rPr sz="2925" b="1">
                <a:solidFill>
                  <a:srgbClr val="327251"/>
                </a:solidFill>
                <a:latin typeface="Proxima Nova"/>
                <a:ea typeface="Proxima Nova"/>
                <a:cs typeface="Proxima Nova"/>
              </a:rPr>
            </a:br>
            <a:r>
              <a:rPr sz="2925" b="1">
                <a:solidFill>
                  <a:srgbClr val="327251"/>
                </a:solidFill>
                <a:latin typeface="Proxima Nova"/>
                <a:ea typeface="Proxima Nova"/>
                <a:cs typeface="Proxima Nova"/>
              </a:rPr>
              <a:t>empieza con evidencia.</a:t>
            </a:r>
          </a:p>
        </p:txBody>
      </p:sp>
      <p:sp>
        <p:nvSpPr>
          <p:cNvPr id="169" name="">
            <a:extLst xmlns:a="http://schemas.openxmlformats.org/drawingml/2006/main">
              <a:ext uri="{FF2B5EF4-FFF2-40B4-BE49-F238E27FC236}">
                <a16:creationId xmlns:a16="http://schemas.microsoft.com/office/drawing/2014/main" id="{1EE2E020-5B92-40E3-8CCF-8F73CC54BD53}"/>
              </a:ext>
            </a:extLst>
          </p:cNvPr>
          <p:cNvSpPr>
            <a:spLocks xmlns:a="http://schemas.openxmlformats.org/drawingml/2006/main" noGrp="1"/>
          </p:cNvSpPr>
          <p:nvPr/>
        </p:nvSpPr>
        <p:spPr>
          <a:xfrm xmlns:a="http://schemas.openxmlformats.org/drawingml/2006/main">
            <a:off x="323850" y="2809875"/>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2729"/>
                </a:solidFill>
              </a:defRPr>
            </a:defPPr>
          </a:lstStyle>
          <a:p xmlns:a="http://schemas.openxmlformats.org/drawingml/2006/main">
            <a:pPr marL="0" indent="0">
              <a:spcBef>
                <a:spcPts val="0"/>
              </a:spcBef>
              <a:spcAft>
                <a:spcPts val="0"/>
              </a:spcAft>
              <a:defRPr sz="2100" b="0">
                <a:solidFill>
                  <a:srgbClr val="202729"/>
                </a:solidFill>
              </a:defRPr>
            </a:pPr>
            <a:r>
              <a:rPr sz="2100" b="0">
                <a:solidFill>
                  <a:srgbClr val="202729"/>
                </a:solidFill>
                <a:latin typeface="Proxima Nova"/>
                <a:ea typeface="Proxima Nova"/>
                <a:cs typeface="Proxima Nova"/>
              </a:rPr>
              <a:t>Un MVP para mostrar talento,</a:t>
            </a:r>
            <a:br>
              <a:rPr sz="2100" b="0">
                <a:solidFill>
                  <a:srgbClr val="202729"/>
                </a:solidFill>
                <a:latin typeface="Proxima Nova"/>
                <a:ea typeface="Proxima Nova"/>
                <a:cs typeface="Proxima Nova"/>
              </a:rPr>
            </a:br>
            <a:r>
              <a:rPr sz="2100" b="0">
                <a:solidFill>
                  <a:srgbClr val="202729"/>
                </a:solidFill>
                <a:latin typeface="Proxima Nova"/>
                <a:ea typeface="Proxima Nova"/>
                <a:cs typeface="Proxima Nova"/>
              </a:rPr>
              <a:t>conectar y prepararse mejor.</a:t>
            </a:r>
          </a:p>
        </p:txBody>
      </p:sp>
      <p:sp>
        <p:nvSpPr>
          <p:cNvPr id="170" name="">
            <a:extLst xmlns:a="http://schemas.openxmlformats.org/drawingml/2006/main">
              <a:ext uri="{FF2B5EF4-FFF2-40B4-BE49-F238E27FC236}">
                <a16:creationId xmlns:a16="http://schemas.microsoft.com/office/drawing/2014/main" id="{52A2B09F-FF0B-47BD-912A-045D049C831C}"/>
              </a:ext>
            </a:extLst>
          </p:cNvPr>
          <p:cNvSpPr>
            <a:spLocks xmlns:a="http://schemas.openxmlformats.org/drawingml/2006/main" noGrp="1"/>
          </p:cNvSpPr>
          <p:nvPr/>
        </p:nvSpPr>
        <p:spPr>
          <a:xfrm xmlns:a="http://schemas.openxmlformats.org/drawingml/2006/main">
            <a:off x="323850" y="39433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2729"/>
                </a:solidFill>
              </a:defRPr>
            </a:defPPr>
          </a:lstStyle>
          <a:p xmlns:a="http://schemas.openxmlformats.org/drawingml/2006/main">
            <a:pPr marL="0" indent="0">
              <a:spcBef>
                <a:spcPts val="0"/>
              </a:spcBef>
              <a:spcAft>
                <a:spcPts val="0"/>
              </a:spcAft>
              <a:defRPr sz="1725" b="0">
                <a:solidFill>
                  <a:srgbClr val="202729"/>
                </a:solidFill>
              </a:defRPr>
            </a:pPr>
            <a:r>
              <a:rPr sz="1725" b="0">
                <a:solidFill>
                  <a:srgbClr val="202729"/>
                </a:solidFill>
                <a:latin typeface="Proxima Nova"/>
                <a:ea typeface="Proxima Nova"/>
                <a:cs typeface="Proxima Nova"/>
              </a:rPr>
              <a:t>Próximo paso: validar con usuarios reales.</a:t>
            </a:r>
          </a:p>
        </p:txBody>
      </p:sp>
      <p:sp>
        <p:nvSpPr>
          <p:cNvPr id="171" name="">
            <a:extLst xmlns:a="http://schemas.openxmlformats.org/drawingml/2006/main">
              <a:ext uri="{FF2B5EF4-FFF2-40B4-BE49-F238E27FC236}">
                <a16:creationId xmlns:a16="http://schemas.microsoft.com/office/drawing/2014/main" id="{C1FE126C-D5D0-48FC-85AE-B78F65C37D55}"/>
              </a:ext>
            </a:extLst>
          </p:cNvPr>
          <p:cNvSpPr>
            <a:spLocks xmlns:a="http://schemas.openxmlformats.org/drawingml/2006/main" noGrp="1"/>
          </p:cNvSpPr>
          <p:nvPr/>
        </p:nvSpPr>
        <p:spPr>
          <a:xfrm xmlns:a="http://schemas.openxmlformats.org/drawingml/2006/main">
            <a:off x="5772150" y="4257675"/>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327251"/>
                </a:solidFill>
              </a:defRPr>
            </a:defPPr>
          </a:lstStyle>
          <a:p xmlns:a="http://schemas.openxmlformats.org/drawingml/2006/main">
            <a:pPr marL="0" indent="0">
              <a:spcBef>
                <a:spcPts val="0"/>
              </a:spcBef>
              <a:spcAft>
                <a:spcPts val="0"/>
              </a:spcAft>
              <a:defRPr sz="1725" b="1">
                <a:solidFill>
                  <a:srgbClr val="327251"/>
                </a:solidFill>
              </a:defRPr>
            </a:pPr>
            <a:r>
              <a:rPr sz="1725" b="1">
                <a:solidFill>
                  <a:srgbClr val="327251"/>
                </a:solidFill>
                <a:latin typeface="Proxima Nova"/>
                <a:ea typeface="Proxima Nova"/>
                <a:cs typeface="Proxima Nova"/>
              </a:rPr>
              <a:t>branchit-blue.vercel.app</a:t>
            </a:r>
          </a:p>
        </p:txBody>
      </p:sp>
    </p:spTree>
    <p:extLst>
      <p:ext uri="{BB962C8B-B14F-4D97-AF65-F5344CB8AC3E}">
        <p14:creationId xmlns:p14="http://schemas.microsoft.com/office/powerpoint/2010/main" val="65040742"/>
      </p:ext>
    </p:extLst>
  </p:cSld>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earm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2026-10-19T15:08:02.3070000Z</dcterms:created>
  <dcterms:modified xsi:type="dcterms:W3CDTF">2026-10-19T15:08:02.3070000Z</dcterms:modified>
</coreProperties>
</file>